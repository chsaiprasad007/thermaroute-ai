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50" d="100"/>
          <a:sy n="50" d="100"/>
        </p:scale>
        <p:origin x="1906" y="6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C361E00-ED1A-48B1-AACE-081D026D4B5D}"/>
              </a:ext>
            </a:extLst>
          </p:cNvPr>
          <p:cNvSpPr>
            <a:spLocks noGrp="1"/>
          </p:cNvSpPr>
          <p:nvPr/>
        </p:nvSpPr>
        <p:spPr>
          <a:xfrm>
            <a:off x="0" y="0"/>
            <a:ext cx="12192000" cy="6858000"/>
          </a:xfrm>
          <a:prstGeom prst="rect">
            <a:avLst/>
          </a:prstGeom>
          <a:solidFill>
            <a:srgbClr val="17201B"/>
          </a:solidFill>
          <a:ln w="0">
            <a:solidFill>
              <a:srgbClr val="000000">
                <a:alpha val="0"/>
              </a:srgbClr>
            </a:solidFill>
            <a:prstDash val="solid"/>
          </a:ln>
        </p:spPr>
      </p:sp>
      <p:sp>
        <p:nvSpPr>
          <p:cNvPr id="2" name="Rectangle 1">
            <a:extLst>
              <a:ext uri="{FF2B5EF4-FFF2-40B4-BE49-F238E27FC236}">
                <a16:creationId xmlns:a16="http://schemas.microsoft.com/office/drawing/2014/main" id="{BE5AB4F9-7837-45E0-9C4B-C2100BEC940A}"/>
              </a:ext>
            </a:extLst>
          </p:cNvPr>
          <p:cNvSpPr>
            <a:spLocks noGrp="1"/>
          </p:cNvSpPr>
          <p:nvPr/>
        </p:nvSpPr>
        <p:spPr>
          <a:xfrm>
            <a:off x="0" y="0"/>
            <a:ext cx="12192000" cy="6858000"/>
          </a:xfrm>
          <a:prstGeom prst="rect">
            <a:avLst/>
          </a:prstGeom>
          <a:gradFill>
            <a:gsLst>
              <a:gs pos="0">
                <a:srgbClr val="17201B"/>
              </a:gs>
              <a:gs pos="58000">
                <a:srgbClr val="31482E"/>
              </a:gs>
              <a:gs pos="100000">
                <a:srgbClr val="C45C3C"/>
              </a:gs>
            </a:gsLst>
            <a:lin ang="8100000"/>
          </a:gradFill>
          <a:ln w="0">
            <a:solidFill>
              <a:srgbClr val="000000">
                <a:alpha val="0"/>
              </a:srgbClr>
            </a:solidFill>
            <a:prstDash val="solid"/>
          </a:ln>
        </p:spPr>
      </p:sp>
      <p:pic>
        <p:nvPicPr>
          <p:cNvPr id="3" name="Graphic 2"/>
          <p:cNvPicPr>
            <a:picLocks noChangeAspect="1"/>
          </p:cNvPicPr>
          <p:nvPr/>
        </p:nvPicPr>
        <p:blipFill>
          <a:blip>
            <a:extLst>
              <a:ext uri="{96DAC541-7B7A-43D3-8B79-37D633B846F1}">
                <asvg:svgBlip xmlns:asvg="http://schemas.microsoft.com/office/drawing/2016/SVG/main" r:embed="rId3"/>
              </a:ext>
            </a:extLst>
          </a:blip>
          <a:stretch/>
        </p:blipFill>
        <p:spPr>
          <a:xfrm>
            <a:off x="619125" y="552450"/>
            <a:ext cx="533400" cy="533400"/>
          </a:xfrm>
          <a:prstGeom prst="rect">
            <a:avLst/>
          </a:prstGeom>
        </p:spPr>
      </p:pic>
      <p:sp>
        <p:nvSpPr>
          <p:cNvPr id="4" name="Rectangle 3">
            <a:extLst>
              <a:ext uri="{FF2B5EF4-FFF2-40B4-BE49-F238E27FC236}">
                <a16:creationId xmlns:a16="http://schemas.microsoft.com/office/drawing/2014/main" id="{AEEACDA5-B2F6-4749-B2A4-DD4C7EF6E1D8}"/>
              </a:ext>
            </a:extLst>
          </p:cNvPr>
          <p:cNvSpPr>
            <a:spLocks noGrp="1"/>
          </p:cNvSpPr>
          <p:nvPr/>
        </p:nvSpPr>
        <p:spPr>
          <a:xfrm>
            <a:off x="609600" y="1257300"/>
            <a:ext cx="7239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650" b="1">
                <a:solidFill>
                  <a:srgbClr val="FFFFFF"/>
                </a:solidFill>
                <a:latin typeface="Aptos Display"/>
                <a:ea typeface="Aptos Display"/>
                <a:cs typeface="Aptos Display"/>
              </a:defRPr>
            </a:pPr>
            <a:r>
              <a:rPr sz="4650" b="1">
                <a:solidFill>
                  <a:srgbClr val="FFFFFF"/>
                </a:solidFill>
                <a:latin typeface="Aptos Display"/>
                <a:ea typeface="Aptos Display"/>
                <a:cs typeface="Aptos Display"/>
              </a:rPr>
              <a:t>ThermaRoute AI</a:t>
            </a:r>
          </a:p>
        </p:txBody>
      </p:sp>
      <p:sp>
        <p:nvSpPr>
          <p:cNvPr id="5" name="Rectangle 4">
            <a:extLst>
              <a:ext uri="{FF2B5EF4-FFF2-40B4-BE49-F238E27FC236}">
                <a16:creationId xmlns:a16="http://schemas.microsoft.com/office/drawing/2014/main" id="{6E878822-64DA-43D8-9DC6-4B073BD38889}"/>
              </a:ext>
            </a:extLst>
          </p:cNvPr>
          <p:cNvSpPr>
            <a:spLocks noGrp="1"/>
          </p:cNvSpPr>
          <p:nvPr/>
        </p:nvSpPr>
        <p:spPr>
          <a:xfrm>
            <a:off x="647700" y="2133600"/>
            <a:ext cx="723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0">
                <a:solidFill>
                  <a:srgbClr val="F7EBD1"/>
                </a:solidFill>
                <a:latin typeface="Aptos"/>
                <a:ea typeface="Aptos"/>
                <a:cs typeface="Aptos"/>
              </a:defRPr>
            </a:pPr>
            <a:r>
              <a:rPr sz="1875" b="0">
                <a:solidFill>
                  <a:srgbClr val="F7EBD1"/>
                </a:solidFill>
                <a:latin typeface="Aptos"/>
                <a:ea typeface="Aptos"/>
                <a:cs typeface="Aptos"/>
              </a:rPr>
              <a:t>Thermal-Equity Copilot for Climate-Resilient Campuses</a:t>
            </a:r>
          </a:p>
        </p:txBody>
      </p:sp>
      <p:sp>
        <p:nvSpPr>
          <p:cNvPr id="6" name="Rectangle 5">
            <a:extLst>
              <a:ext uri="{FF2B5EF4-FFF2-40B4-BE49-F238E27FC236}">
                <a16:creationId xmlns:a16="http://schemas.microsoft.com/office/drawing/2014/main" id="{1EE34285-47B4-4D39-AB09-813D1F2D7824}"/>
              </a:ext>
            </a:extLst>
          </p:cNvPr>
          <p:cNvSpPr>
            <a:spLocks noGrp="1"/>
          </p:cNvSpPr>
          <p:nvPr/>
        </p:nvSpPr>
        <p:spPr>
          <a:xfrm>
            <a:off x="647700" y="2781300"/>
            <a:ext cx="4953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F7EBD1"/>
                </a:solidFill>
                <a:latin typeface="Aptos"/>
                <a:ea typeface="Aptos"/>
                <a:cs typeface="Aptos"/>
              </a:defRPr>
            </a:pPr>
            <a:r>
              <a:rPr sz="1275" b="1">
                <a:solidFill>
                  <a:srgbClr val="F7EBD1"/>
                </a:solidFill>
                <a:latin typeface="Aptos"/>
                <a:ea typeface="Aptos"/>
                <a:cs typeface="Aptos"/>
              </a:rPr>
              <a:t>Primary SDG 11 | Secondary SDG 3 and SDG 13</a:t>
            </a:r>
          </a:p>
        </p:txBody>
      </p:sp>
      <p:sp>
        <p:nvSpPr>
          <p:cNvPr id="7" name="Rectangle 6">
            <a:extLst>
              <a:ext uri="{FF2B5EF4-FFF2-40B4-BE49-F238E27FC236}">
                <a16:creationId xmlns:a16="http://schemas.microsoft.com/office/drawing/2014/main" id="{E9D2335D-7F89-41B3-A345-02EBB053A4DC}"/>
              </a:ext>
            </a:extLst>
          </p:cNvPr>
          <p:cNvSpPr>
            <a:spLocks noGrp="1"/>
          </p:cNvSpPr>
          <p:nvPr/>
        </p:nvSpPr>
        <p:spPr>
          <a:xfrm>
            <a:off x="647700" y="3790950"/>
            <a:ext cx="3238500" cy="1123950"/>
          </a:xfrm>
          <a:prstGeom prst="rect">
            <a:avLst/>
          </a:prstGeom>
          <a:solidFill>
            <a:srgbClr val="FFFFFF"/>
          </a:solidFill>
          <a:ln w="9525">
            <a:solidFill>
              <a:srgbClr val="D9D1C2"/>
            </a:solidFill>
            <a:prstDash val="solid"/>
          </a:ln>
        </p:spPr>
      </p:sp>
      <p:sp>
        <p:nvSpPr>
          <p:cNvPr id="8" name="Rectangle 7">
            <a:extLst>
              <a:ext uri="{FF2B5EF4-FFF2-40B4-BE49-F238E27FC236}">
                <a16:creationId xmlns:a16="http://schemas.microsoft.com/office/drawing/2014/main" id="{C1D07698-D116-4149-9481-2223B7A67593}"/>
              </a:ext>
            </a:extLst>
          </p:cNvPr>
          <p:cNvSpPr>
            <a:spLocks noGrp="1"/>
          </p:cNvSpPr>
          <p:nvPr/>
        </p:nvSpPr>
        <p:spPr>
          <a:xfrm>
            <a:off x="647700" y="3790950"/>
            <a:ext cx="85725" cy="1123950"/>
          </a:xfrm>
          <a:prstGeom prst="rect">
            <a:avLst/>
          </a:prstGeom>
          <a:solidFill>
            <a:srgbClr val="F3B23C"/>
          </a:solidFill>
          <a:ln w="0">
            <a:solidFill>
              <a:srgbClr val="000000">
                <a:alpha val="0"/>
              </a:srgbClr>
            </a:solidFill>
            <a:prstDash val="solid"/>
          </a:ln>
        </p:spPr>
      </p:sp>
      <p:sp>
        <p:nvSpPr>
          <p:cNvPr id="9" name="Rectangle 8">
            <a:extLst>
              <a:ext uri="{FF2B5EF4-FFF2-40B4-BE49-F238E27FC236}">
                <a16:creationId xmlns:a16="http://schemas.microsoft.com/office/drawing/2014/main" id="{B434DB92-EF96-40AD-A31F-920AD1BD4946}"/>
              </a:ext>
            </a:extLst>
          </p:cNvPr>
          <p:cNvSpPr>
            <a:spLocks noGrp="1"/>
          </p:cNvSpPr>
          <p:nvPr/>
        </p:nvSpPr>
        <p:spPr>
          <a:xfrm>
            <a:off x="895350" y="3981450"/>
            <a:ext cx="28384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3B23C"/>
                </a:solidFill>
                <a:latin typeface="Aptos"/>
                <a:ea typeface="Aptos"/>
                <a:cs typeface="Aptos"/>
              </a:defRPr>
            </a:pPr>
            <a:r>
              <a:rPr sz="2250" b="1">
                <a:solidFill>
                  <a:srgbClr val="F3B23C"/>
                </a:solidFill>
                <a:latin typeface="Aptos"/>
                <a:ea typeface="Aptos"/>
                <a:cs typeface="Aptos"/>
              </a:rPr>
              <a:t>AI + RAG</a:t>
            </a:r>
          </a:p>
        </p:txBody>
      </p:sp>
      <p:sp>
        <p:nvSpPr>
          <p:cNvPr id="10" name="Rectangle 9">
            <a:extLst>
              <a:ext uri="{FF2B5EF4-FFF2-40B4-BE49-F238E27FC236}">
                <a16:creationId xmlns:a16="http://schemas.microsoft.com/office/drawing/2014/main" id="{25B46152-A4E2-4F6A-8FA5-20341495C3A8}"/>
              </a:ext>
            </a:extLst>
          </p:cNvPr>
          <p:cNvSpPr>
            <a:spLocks noGrp="1"/>
          </p:cNvSpPr>
          <p:nvPr/>
        </p:nvSpPr>
        <p:spPr>
          <a:xfrm>
            <a:off x="895350" y="4419600"/>
            <a:ext cx="28384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risk scoring, guidance retrieval, action planning</a:t>
            </a:r>
          </a:p>
        </p:txBody>
      </p:sp>
      <p:sp>
        <p:nvSpPr>
          <p:cNvPr id="11" name="Rectangle 10">
            <a:extLst>
              <a:ext uri="{FF2B5EF4-FFF2-40B4-BE49-F238E27FC236}">
                <a16:creationId xmlns:a16="http://schemas.microsoft.com/office/drawing/2014/main" id="{26D0DE05-0FE4-46FF-B7B3-E728C322B1F7}"/>
              </a:ext>
            </a:extLst>
          </p:cNvPr>
          <p:cNvSpPr>
            <a:spLocks noGrp="1"/>
          </p:cNvSpPr>
          <p:nvPr/>
        </p:nvSpPr>
        <p:spPr>
          <a:xfrm>
            <a:off x="4114800" y="3790950"/>
            <a:ext cx="3238500" cy="1123950"/>
          </a:xfrm>
          <a:prstGeom prst="rect">
            <a:avLst/>
          </a:prstGeom>
          <a:solidFill>
            <a:srgbClr val="FFFFFF"/>
          </a:solidFill>
          <a:ln w="9525">
            <a:solidFill>
              <a:srgbClr val="D9D1C2"/>
            </a:solidFill>
            <a:prstDash val="solid"/>
          </a:ln>
        </p:spPr>
      </p:sp>
      <p:sp>
        <p:nvSpPr>
          <p:cNvPr id="12" name="Rectangle 11">
            <a:extLst>
              <a:ext uri="{FF2B5EF4-FFF2-40B4-BE49-F238E27FC236}">
                <a16:creationId xmlns:a16="http://schemas.microsoft.com/office/drawing/2014/main" id="{47551410-1A0D-4E27-B06D-57E73CA0D492}"/>
              </a:ext>
            </a:extLst>
          </p:cNvPr>
          <p:cNvSpPr>
            <a:spLocks noGrp="1"/>
          </p:cNvSpPr>
          <p:nvPr/>
        </p:nvSpPr>
        <p:spPr>
          <a:xfrm>
            <a:off x="4114800" y="3790950"/>
            <a:ext cx="85725" cy="1123950"/>
          </a:xfrm>
          <a:prstGeom prst="rect">
            <a:avLst/>
          </a:prstGeom>
          <a:solidFill>
            <a:srgbClr val="78A65A"/>
          </a:solidFill>
          <a:ln w="0">
            <a:solidFill>
              <a:srgbClr val="000000">
                <a:alpha val="0"/>
              </a:srgbClr>
            </a:solidFill>
            <a:prstDash val="solid"/>
          </a:ln>
        </p:spPr>
      </p:sp>
      <p:sp>
        <p:nvSpPr>
          <p:cNvPr id="13" name="Rectangle 12">
            <a:extLst>
              <a:ext uri="{FF2B5EF4-FFF2-40B4-BE49-F238E27FC236}">
                <a16:creationId xmlns:a16="http://schemas.microsoft.com/office/drawing/2014/main" id="{4227F066-D64C-40C0-9797-0673D4240791}"/>
              </a:ext>
            </a:extLst>
          </p:cNvPr>
          <p:cNvSpPr>
            <a:spLocks noGrp="1"/>
          </p:cNvSpPr>
          <p:nvPr/>
        </p:nvSpPr>
        <p:spPr>
          <a:xfrm>
            <a:off x="4362450" y="3981450"/>
            <a:ext cx="283845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78A65A"/>
                </a:solidFill>
                <a:latin typeface="Aptos"/>
                <a:ea typeface="Aptos"/>
                <a:cs typeface="Aptos"/>
              </a:defRPr>
            </a:pPr>
            <a:r>
              <a:rPr sz="2250" b="1">
                <a:solidFill>
                  <a:srgbClr val="78A65A"/>
                </a:solidFill>
                <a:latin typeface="Aptos"/>
                <a:ea typeface="Aptos"/>
                <a:cs typeface="Aptos"/>
              </a:rPr>
              <a:t>Rare idea</a:t>
            </a:r>
          </a:p>
        </p:txBody>
      </p:sp>
      <p:sp>
        <p:nvSpPr>
          <p:cNvPr id="14" name="Rectangle 13">
            <a:extLst>
              <a:ext uri="{FF2B5EF4-FFF2-40B4-BE49-F238E27FC236}">
                <a16:creationId xmlns:a16="http://schemas.microsoft.com/office/drawing/2014/main" id="{2B7B83F0-DB73-4368-A374-30A80C0E9F8C}"/>
              </a:ext>
            </a:extLst>
          </p:cNvPr>
          <p:cNvSpPr>
            <a:spLocks noGrp="1"/>
          </p:cNvSpPr>
          <p:nvPr/>
        </p:nvSpPr>
        <p:spPr>
          <a:xfrm>
            <a:off x="4362450" y="4419600"/>
            <a:ext cx="28384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hyperlocal heat exposure, not generic weather alerts</a:t>
            </a:r>
          </a:p>
        </p:txBody>
      </p:sp>
      <p:sp>
        <p:nvSpPr>
          <p:cNvPr id="15" name="Rectangle 14">
            <a:extLst>
              <a:ext uri="{FF2B5EF4-FFF2-40B4-BE49-F238E27FC236}">
                <a16:creationId xmlns:a16="http://schemas.microsoft.com/office/drawing/2014/main" id="{1D1BC140-CA46-4CB7-8350-5F636A6C6591}"/>
              </a:ext>
            </a:extLst>
          </p:cNvPr>
          <p:cNvSpPr>
            <a:spLocks noGrp="1"/>
          </p:cNvSpPr>
          <p:nvPr/>
        </p:nvSpPr>
        <p:spPr>
          <a:xfrm>
            <a:off x="8153400" y="4667250"/>
            <a:ext cx="314325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FFFFFF"/>
                </a:solidFill>
                <a:latin typeface="Aptos"/>
                <a:ea typeface="Aptos"/>
                <a:cs typeface="Aptos"/>
              </a:defRPr>
            </a:pPr>
            <a:r>
              <a:rPr sz="1275" b="0" dirty="0">
                <a:solidFill>
                  <a:srgbClr val="FFFFFF"/>
                </a:solidFill>
                <a:latin typeface="Aptos"/>
                <a:ea typeface="Aptos"/>
                <a:cs typeface="Aptos"/>
              </a:rPr>
              <a:t>Name: </a:t>
            </a:r>
            <a:r>
              <a:rPr lang="en-US" sz="1275" dirty="0">
                <a:solidFill>
                  <a:srgbClr val="FFFFFF"/>
                </a:solidFill>
                <a:latin typeface="Aptos"/>
                <a:ea typeface="Aptos"/>
                <a:cs typeface="Aptos"/>
              </a:rPr>
              <a:t>Sai Prasad Cheriyala</a:t>
            </a:r>
            <a:endParaRPr sz="1275" b="0" dirty="0">
              <a:solidFill>
                <a:srgbClr val="FFFFFF"/>
              </a:solidFill>
              <a:latin typeface="Aptos"/>
              <a:ea typeface="Aptos"/>
              <a:cs typeface="Aptos"/>
            </a:endParaRPr>
          </a:p>
          <a:p>
            <a:r>
              <a:rPr sz="1275" b="0" dirty="0">
                <a:solidFill>
                  <a:srgbClr val="FFFFFF"/>
                </a:solidFill>
                <a:latin typeface="Aptos"/>
                <a:ea typeface="Aptos"/>
                <a:cs typeface="Aptos"/>
              </a:rPr>
              <a:t>College: </a:t>
            </a:r>
            <a:r>
              <a:rPr lang="en-US" sz="1275" b="0" dirty="0">
                <a:solidFill>
                  <a:srgbClr val="FFFFFF"/>
                </a:solidFill>
                <a:latin typeface="Aptos"/>
                <a:ea typeface="Aptos"/>
                <a:cs typeface="Aptos"/>
              </a:rPr>
              <a:t> </a:t>
            </a:r>
            <a:r>
              <a:rPr lang="en-IN" sz="1275" b="0" dirty="0" err="1">
                <a:solidFill>
                  <a:srgbClr val="FFFFFF"/>
                </a:solidFill>
                <a:latin typeface="Aptos"/>
                <a:ea typeface="Aptos"/>
                <a:cs typeface="Aptos"/>
              </a:rPr>
              <a:t>In</a:t>
            </a:r>
            <a:r>
              <a:rPr lang="en-IN" sz="1275" dirty="0" err="1">
                <a:solidFill>
                  <a:srgbClr val="FFFFFF"/>
                </a:solidFill>
                <a:latin typeface="Aptos"/>
                <a:ea typeface="Aptos"/>
                <a:cs typeface="Aptos"/>
              </a:rPr>
              <a:t>dur</a:t>
            </a:r>
            <a:r>
              <a:rPr lang="en-IN" sz="1275" dirty="0">
                <a:solidFill>
                  <a:srgbClr val="FFFFFF"/>
                </a:solidFill>
                <a:latin typeface="Aptos"/>
                <a:ea typeface="Aptos"/>
                <a:cs typeface="Aptos"/>
              </a:rPr>
              <a:t> Institute of Engineering &amp; Technology</a:t>
            </a:r>
            <a:endParaRPr sz="1275" b="0" dirty="0">
              <a:solidFill>
                <a:srgbClr val="FFFFFF"/>
              </a:solidFill>
              <a:latin typeface="Aptos"/>
              <a:ea typeface="Aptos"/>
              <a:cs typeface="Aptos"/>
            </a:endParaRPr>
          </a:p>
          <a:p>
            <a:pPr algn="l">
              <a:defRPr sz="1275" b="0">
                <a:solidFill>
                  <a:srgbClr val="FFFFFF"/>
                </a:solidFill>
                <a:latin typeface="Aptos"/>
                <a:ea typeface="Aptos"/>
                <a:cs typeface="Aptos"/>
              </a:defRPr>
            </a:pPr>
            <a:r>
              <a:rPr sz="1275" b="0" dirty="0">
                <a:solidFill>
                  <a:srgbClr val="FFFFFF"/>
                </a:solidFill>
                <a:latin typeface="Aptos"/>
                <a:ea typeface="Aptos"/>
                <a:cs typeface="Aptos"/>
              </a:rPr>
              <a:t>1M1B AI for Sustainability Virtual Internship</a:t>
            </a:r>
          </a:p>
        </p:txBody>
      </p:sp>
      <p:sp>
        <p:nvSpPr>
          <p:cNvPr id="16" name="Rectangle 15">
            <a:extLst>
              <a:ext uri="{FF2B5EF4-FFF2-40B4-BE49-F238E27FC236}">
                <a16:creationId xmlns:a16="http://schemas.microsoft.com/office/drawing/2014/main" id="{FD1F7127-0A84-4834-95B4-511185EF505D}"/>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7" name="Rectangle 16">
            <a:extLst>
              <a:ext uri="{FF2B5EF4-FFF2-40B4-BE49-F238E27FC236}">
                <a16:creationId xmlns:a16="http://schemas.microsoft.com/office/drawing/2014/main" id="{8326725C-274E-41FB-B07A-15066829B5C9}"/>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8" name="Rectangle 17">
            <a:extLst>
              <a:ext uri="{FF2B5EF4-FFF2-40B4-BE49-F238E27FC236}">
                <a16:creationId xmlns:a16="http://schemas.microsoft.com/office/drawing/2014/main" id="{C263A7CA-235A-4B22-BA21-198EFB6AC0D9}"/>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01</a:t>
            </a:r>
          </a:p>
        </p:txBody>
      </p:sp>
    </p:spTree>
    <p:extLst>
      <p:ext uri="{BB962C8B-B14F-4D97-AF65-F5344CB8AC3E}">
        <p14:creationId xmlns:p14="http://schemas.microsoft.com/office/powerpoint/2010/main" val="1731765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BDB1744-F9B7-4ED3-8A92-31291AA6AA66}"/>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2-marker">
            <a:extLst>
              <a:ext uri="{FF2B5EF4-FFF2-40B4-BE49-F238E27FC236}">
                <a16:creationId xmlns:a16="http://schemas.microsoft.com/office/drawing/2014/main" id="{5D20475B-0658-4C54-A3BC-AD4C29A0E3B0}"/>
              </a:ext>
            </a:extLst>
          </p:cNvPr>
          <p:cNvSpPr>
            <a:spLocks noGrp="1"/>
          </p:cNvSpPr>
          <p:nvPr/>
        </p:nvSpPr>
        <p:spPr>
          <a:xfrm>
            <a:off x="552450" y="400050"/>
            <a:ext cx="266700" cy="57150"/>
          </a:xfrm>
          <a:prstGeom prst="rect">
            <a:avLst/>
          </a:prstGeom>
          <a:solidFill>
            <a:srgbClr val="C45C3C"/>
          </a:solidFill>
          <a:ln w="0">
            <a:solidFill>
              <a:srgbClr val="000000">
                <a:alpha val="0"/>
              </a:srgbClr>
            </a:solidFill>
            <a:prstDash val="solid"/>
          </a:ln>
        </p:spPr>
      </p:sp>
      <p:sp>
        <p:nvSpPr>
          <p:cNvPr id="3" name="kicker-2-label">
            <a:extLst>
              <a:ext uri="{FF2B5EF4-FFF2-40B4-BE49-F238E27FC236}">
                <a16:creationId xmlns:a16="http://schemas.microsoft.com/office/drawing/2014/main" id="{BC2685FF-139E-4D75-8C18-B05182A5630F}"/>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OVERLOOKED GAP</a:t>
            </a:r>
          </a:p>
        </p:txBody>
      </p:sp>
      <p:sp>
        <p:nvSpPr>
          <p:cNvPr id="4" name="Rectangle 3">
            <a:extLst>
              <a:ext uri="{FF2B5EF4-FFF2-40B4-BE49-F238E27FC236}">
                <a16:creationId xmlns:a16="http://schemas.microsoft.com/office/drawing/2014/main" id="{B1EB0D6C-2C5A-4B77-93AE-6302F9381E44}"/>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Heat risk is hyperlocal, but most tools are city-level.</a:t>
            </a:r>
          </a:p>
        </p:txBody>
      </p:sp>
      <p:sp>
        <p:nvSpPr>
          <p:cNvPr id="5" name="Rectangle 4">
            <a:extLst>
              <a:ext uri="{FF2B5EF4-FFF2-40B4-BE49-F238E27FC236}">
                <a16:creationId xmlns:a16="http://schemas.microsoft.com/office/drawing/2014/main" id="{7E80238D-5C30-461A-8DE4-0079A05A4DAF}"/>
              </a:ext>
            </a:extLst>
          </p:cNvPr>
          <p:cNvSpPr>
            <a:spLocks noGrp="1"/>
          </p:cNvSpPr>
          <p:nvPr/>
        </p:nvSpPr>
        <p:spPr>
          <a:xfrm>
            <a:off x="666750" y="2076450"/>
            <a:ext cx="85725" cy="85725"/>
          </a:xfrm>
          <a:prstGeom prst="rect">
            <a:avLst/>
          </a:prstGeom>
          <a:solidFill>
            <a:srgbClr val="466A45"/>
          </a:solidFill>
          <a:ln w="0">
            <a:solidFill>
              <a:srgbClr val="000000">
                <a:alpha val="0"/>
              </a:srgbClr>
            </a:solidFill>
            <a:prstDash val="solid"/>
          </a:ln>
        </p:spPr>
      </p:sp>
      <p:sp>
        <p:nvSpPr>
          <p:cNvPr id="6" name="Rectangle 5">
            <a:extLst>
              <a:ext uri="{FF2B5EF4-FFF2-40B4-BE49-F238E27FC236}">
                <a16:creationId xmlns:a16="http://schemas.microsoft.com/office/drawing/2014/main" id="{F6C32945-22EA-466B-BB3A-476A56352F82}"/>
              </a:ext>
            </a:extLst>
          </p:cNvPr>
          <p:cNvSpPr>
            <a:spLocks noGrp="1"/>
          </p:cNvSpPr>
          <p:nvPr/>
        </p:nvSpPr>
        <p:spPr>
          <a:xfrm>
            <a:off x="895350" y="1981200"/>
            <a:ext cx="51054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7201B"/>
                </a:solidFill>
                <a:latin typeface="Aptos"/>
                <a:ea typeface="Aptos"/>
                <a:cs typeface="Aptos"/>
              </a:defRPr>
            </a:pPr>
            <a:r>
              <a:rPr sz="1575" b="0">
                <a:solidFill>
                  <a:srgbClr val="17201B"/>
                </a:solidFill>
                <a:latin typeface="Aptos"/>
                <a:ea typeface="Aptos"/>
                <a:cs typeface="Aptos"/>
              </a:rPr>
              <a:t>The same campus can contain cool shaded paths and dangerous heat pockets.</a:t>
            </a:r>
          </a:p>
        </p:txBody>
      </p:sp>
      <p:sp>
        <p:nvSpPr>
          <p:cNvPr id="7" name="Rectangle 6">
            <a:extLst>
              <a:ext uri="{FF2B5EF4-FFF2-40B4-BE49-F238E27FC236}">
                <a16:creationId xmlns:a16="http://schemas.microsoft.com/office/drawing/2014/main" id="{9803B5E1-7B26-4E74-9BA0-3BF55DB914BF}"/>
              </a:ext>
            </a:extLst>
          </p:cNvPr>
          <p:cNvSpPr>
            <a:spLocks noGrp="1"/>
          </p:cNvSpPr>
          <p:nvPr/>
        </p:nvSpPr>
        <p:spPr>
          <a:xfrm>
            <a:off x="666750" y="2781300"/>
            <a:ext cx="85725" cy="85725"/>
          </a:xfrm>
          <a:prstGeom prst="rect">
            <a:avLst/>
          </a:prstGeom>
          <a:solidFill>
            <a:srgbClr val="466A45"/>
          </a:solidFill>
          <a:ln w="0">
            <a:solidFill>
              <a:srgbClr val="000000">
                <a:alpha val="0"/>
              </a:srgbClr>
            </a:solidFill>
            <a:prstDash val="solid"/>
          </a:ln>
        </p:spPr>
      </p:sp>
      <p:sp>
        <p:nvSpPr>
          <p:cNvPr id="8" name="Rectangle 7">
            <a:extLst>
              <a:ext uri="{FF2B5EF4-FFF2-40B4-BE49-F238E27FC236}">
                <a16:creationId xmlns:a16="http://schemas.microsoft.com/office/drawing/2014/main" id="{1FD5989E-1CE9-4D9B-A857-5C0386682601}"/>
              </a:ext>
            </a:extLst>
          </p:cNvPr>
          <p:cNvSpPr>
            <a:spLocks noGrp="1"/>
          </p:cNvSpPr>
          <p:nvPr/>
        </p:nvSpPr>
        <p:spPr>
          <a:xfrm>
            <a:off x="895350" y="2686050"/>
            <a:ext cx="51054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7201B"/>
                </a:solidFill>
                <a:latin typeface="Aptos"/>
                <a:ea typeface="Aptos"/>
                <a:cs typeface="Aptos"/>
              </a:defRPr>
            </a:pPr>
            <a:r>
              <a:rPr sz="1575" b="0">
                <a:solidFill>
                  <a:srgbClr val="17201B"/>
                </a:solidFill>
                <a:latin typeface="Aptos"/>
                <a:ea typeface="Aptos"/>
                <a:cs typeface="Aptos"/>
              </a:rPr>
              <a:t>People who walk, wait, clean, guard, deliver, or maintain facilities cannot always avoid peak heat.</a:t>
            </a:r>
          </a:p>
        </p:txBody>
      </p:sp>
      <p:sp>
        <p:nvSpPr>
          <p:cNvPr id="9" name="Rectangle 8">
            <a:extLst>
              <a:ext uri="{FF2B5EF4-FFF2-40B4-BE49-F238E27FC236}">
                <a16:creationId xmlns:a16="http://schemas.microsoft.com/office/drawing/2014/main" id="{BB2DA3D8-A195-4AB9-8D28-A4134A1F8DAC}"/>
              </a:ext>
            </a:extLst>
          </p:cNvPr>
          <p:cNvSpPr>
            <a:spLocks noGrp="1"/>
          </p:cNvSpPr>
          <p:nvPr/>
        </p:nvSpPr>
        <p:spPr>
          <a:xfrm>
            <a:off x="666750" y="3486150"/>
            <a:ext cx="85725" cy="85725"/>
          </a:xfrm>
          <a:prstGeom prst="rect">
            <a:avLst/>
          </a:prstGeom>
          <a:solidFill>
            <a:srgbClr val="466A45"/>
          </a:solidFill>
          <a:ln w="0">
            <a:solidFill>
              <a:srgbClr val="000000">
                <a:alpha val="0"/>
              </a:srgbClr>
            </a:solidFill>
            <a:prstDash val="solid"/>
          </a:ln>
        </p:spPr>
      </p:sp>
      <p:sp>
        <p:nvSpPr>
          <p:cNvPr id="10" name="Rectangle 9">
            <a:extLst>
              <a:ext uri="{FF2B5EF4-FFF2-40B4-BE49-F238E27FC236}">
                <a16:creationId xmlns:a16="http://schemas.microsoft.com/office/drawing/2014/main" id="{6D2D6F48-D27C-4D33-9A2B-CFAFF1A58610}"/>
              </a:ext>
            </a:extLst>
          </p:cNvPr>
          <p:cNvSpPr>
            <a:spLocks noGrp="1"/>
          </p:cNvSpPr>
          <p:nvPr/>
        </p:nvSpPr>
        <p:spPr>
          <a:xfrm>
            <a:off x="895350" y="3390900"/>
            <a:ext cx="51054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17201B"/>
                </a:solidFill>
                <a:latin typeface="Aptos"/>
                <a:ea typeface="Aptos"/>
                <a:cs typeface="Aptos"/>
              </a:defRPr>
            </a:pPr>
            <a:r>
              <a:rPr sz="1575" b="0">
                <a:solidFill>
                  <a:srgbClr val="17201B"/>
                </a:solidFill>
                <a:latin typeface="Aptos"/>
                <a:ea typeface="Aptos"/>
                <a:cs typeface="Aptos"/>
              </a:rPr>
              <a:t>Weather alerts rarely explain where to add shade, water, rest breaks, or safer routing.</a:t>
            </a:r>
          </a:p>
        </p:txBody>
      </p:sp>
      <p:sp>
        <p:nvSpPr>
          <p:cNvPr id="11" name="Rectangle 10">
            <a:extLst>
              <a:ext uri="{FF2B5EF4-FFF2-40B4-BE49-F238E27FC236}">
                <a16:creationId xmlns:a16="http://schemas.microsoft.com/office/drawing/2014/main" id="{E9AAC045-1522-4B62-9C47-2DFBECECA553}"/>
              </a:ext>
            </a:extLst>
          </p:cNvPr>
          <p:cNvSpPr>
            <a:spLocks noGrp="1"/>
          </p:cNvSpPr>
          <p:nvPr/>
        </p:nvSpPr>
        <p:spPr>
          <a:xfrm>
            <a:off x="7239000" y="1905000"/>
            <a:ext cx="3429000" cy="2095500"/>
          </a:xfrm>
          <a:prstGeom prst="rect">
            <a:avLst/>
          </a:prstGeom>
          <a:solidFill>
            <a:srgbClr val="FFF7E7"/>
          </a:solidFill>
          <a:ln w="9525">
            <a:solidFill>
              <a:srgbClr val="D9D1C2"/>
            </a:solidFill>
            <a:prstDash val="solid"/>
          </a:ln>
        </p:spPr>
      </p:sp>
      <p:sp>
        <p:nvSpPr>
          <p:cNvPr id="12" name="Rectangle 11">
            <a:extLst>
              <a:ext uri="{FF2B5EF4-FFF2-40B4-BE49-F238E27FC236}">
                <a16:creationId xmlns:a16="http://schemas.microsoft.com/office/drawing/2014/main" id="{2DF9D369-EA5C-4CE2-A06B-E9BC9AE059C3}"/>
              </a:ext>
            </a:extLst>
          </p:cNvPr>
          <p:cNvSpPr>
            <a:spLocks noGrp="1"/>
          </p:cNvSpPr>
          <p:nvPr/>
        </p:nvSpPr>
        <p:spPr>
          <a:xfrm>
            <a:off x="7429500" y="2076450"/>
            <a:ext cx="3048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Common project blind spot</a:t>
            </a:r>
          </a:p>
        </p:txBody>
      </p:sp>
      <p:sp>
        <p:nvSpPr>
          <p:cNvPr id="13" name="Rectangle 12">
            <a:extLst>
              <a:ext uri="{FF2B5EF4-FFF2-40B4-BE49-F238E27FC236}">
                <a16:creationId xmlns:a16="http://schemas.microsoft.com/office/drawing/2014/main" id="{19683064-2493-4DA9-B4C9-56F5DF0E5CEF}"/>
              </a:ext>
            </a:extLst>
          </p:cNvPr>
          <p:cNvSpPr>
            <a:spLocks noGrp="1"/>
          </p:cNvSpPr>
          <p:nvPr/>
        </p:nvSpPr>
        <p:spPr>
          <a:xfrm>
            <a:off x="7429500" y="2457450"/>
            <a:ext cx="3048000" cy="1409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Many sustainability projects stop at broad prediction. ThermaRoute AI turns climate risk into micro-location decisions.</a:t>
            </a:r>
          </a:p>
        </p:txBody>
      </p:sp>
      <p:pic>
        <p:nvPicPr>
          <p:cNvPr id="14" name="Graphic 13"/>
          <p:cNvPicPr>
            <a:picLocks noChangeAspect="1"/>
          </p:cNvPicPr>
          <p:nvPr/>
        </p:nvPicPr>
        <p:blipFill>
          <a:blip>
            <a:extLst>
              <a:ext uri="{96DAC541-7B7A-43D3-8B79-37D633B846F1}">
                <asvg:svgBlip xmlns:asvg="http://schemas.microsoft.com/office/drawing/2016/SVG/main" r:embed="rId3"/>
              </a:ext>
            </a:extLst>
          </a:blip>
          <a:stretch/>
        </p:blipFill>
        <p:spPr>
          <a:xfrm>
            <a:off x="7543800" y="4343400"/>
            <a:ext cx="533400" cy="533400"/>
          </a:xfrm>
          <a:prstGeom prst="rect">
            <a:avLst/>
          </a:prstGeom>
        </p:spPr>
      </p:pic>
      <p:pic>
        <p:nvPicPr>
          <p:cNvPr id="15" name="Graphic 14"/>
          <p:cNvPicPr>
            <a:picLocks noChangeAspect="1"/>
          </p:cNvPicPr>
          <p:nvPr/>
        </p:nvPicPr>
        <p:blipFill>
          <a:blip>
            <a:extLst>
              <a:ext uri="{96DAC541-7B7A-43D3-8B79-37D633B846F1}">
                <asvg:svgBlip xmlns:asvg="http://schemas.microsoft.com/office/drawing/2016/SVG/main" r:embed="rId4"/>
              </a:ext>
            </a:extLst>
          </a:blip>
          <a:stretch/>
        </p:blipFill>
        <p:spPr>
          <a:xfrm>
            <a:off x="8477250" y="4343400"/>
            <a:ext cx="533400" cy="533400"/>
          </a:xfrm>
          <a:prstGeom prst="rect">
            <a:avLst/>
          </a:prstGeom>
        </p:spPr>
      </p:pic>
      <p:pic>
        <p:nvPicPr>
          <p:cNvPr id="16" name="Graphic 15"/>
          <p:cNvPicPr>
            <a:picLocks noChangeAspect="1"/>
          </p:cNvPicPr>
          <p:nvPr/>
        </p:nvPicPr>
        <p:blipFill>
          <a:blip>
            <a:extLst>
              <a:ext uri="{96DAC541-7B7A-43D3-8B79-37D633B846F1}">
                <asvg:svgBlip xmlns:asvg="http://schemas.microsoft.com/office/drawing/2016/SVG/main" r:embed="rId5"/>
              </a:ext>
            </a:extLst>
          </a:blip>
          <a:stretch/>
        </p:blipFill>
        <p:spPr>
          <a:xfrm>
            <a:off x="9410700" y="4343400"/>
            <a:ext cx="533400" cy="533400"/>
          </a:xfrm>
          <a:prstGeom prst="rect">
            <a:avLst/>
          </a:prstGeom>
        </p:spPr>
      </p:pic>
      <p:sp>
        <p:nvSpPr>
          <p:cNvPr id="17" name="Rectangle 16">
            <a:extLst>
              <a:ext uri="{FF2B5EF4-FFF2-40B4-BE49-F238E27FC236}">
                <a16:creationId xmlns:a16="http://schemas.microsoft.com/office/drawing/2014/main" id="{8E2C6ECF-A6E5-47BC-B6F6-CAE0B4E64042}"/>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8" name="Rectangle 17">
            <a:extLst>
              <a:ext uri="{FF2B5EF4-FFF2-40B4-BE49-F238E27FC236}">
                <a16:creationId xmlns:a16="http://schemas.microsoft.com/office/drawing/2014/main" id="{8633E9C2-B4C7-4C62-8E03-92B000DA7CB0}"/>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9" name="Rectangle 18">
            <a:extLst>
              <a:ext uri="{FF2B5EF4-FFF2-40B4-BE49-F238E27FC236}">
                <a16:creationId xmlns:a16="http://schemas.microsoft.com/office/drawing/2014/main" id="{87C1188E-E075-45B6-A8D6-0AC47D82D1D1}"/>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02</a:t>
            </a:r>
          </a:p>
        </p:txBody>
      </p:sp>
    </p:spTree>
    <p:extLst>
      <p:ext uri="{BB962C8B-B14F-4D97-AF65-F5344CB8AC3E}">
        <p14:creationId xmlns:p14="http://schemas.microsoft.com/office/powerpoint/2010/main" val="625008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9B2F733-5319-4329-9BAD-265FCE5FC8F1}"/>
              </a:ext>
            </a:extLst>
          </p:cNvPr>
          <p:cNvSpPr>
            <a:spLocks noGrp="1"/>
          </p:cNvSpPr>
          <p:nvPr/>
        </p:nvSpPr>
        <p:spPr>
          <a:xfrm>
            <a:off x="0" y="0"/>
            <a:ext cx="12192000" cy="6858000"/>
          </a:xfrm>
          <a:prstGeom prst="rect">
            <a:avLst/>
          </a:prstGeom>
          <a:solidFill>
            <a:srgbClr val="FCFAF4"/>
          </a:solidFill>
          <a:ln w="0">
            <a:solidFill>
              <a:srgbClr val="000000">
                <a:alpha val="0"/>
              </a:srgbClr>
            </a:solidFill>
            <a:prstDash val="solid"/>
          </a:ln>
        </p:spPr>
      </p:sp>
      <p:sp>
        <p:nvSpPr>
          <p:cNvPr id="2" name="kicker-3-marker">
            <a:extLst>
              <a:ext uri="{FF2B5EF4-FFF2-40B4-BE49-F238E27FC236}">
                <a16:creationId xmlns:a16="http://schemas.microsoft.com/office/drawing/2014/main" id="{629E6A93-2EAE-4D28-83C8-726291710CBC}"/>
              </a:ext>
            </a:extLst>
          </p:cNvPr>
          <p:cNvSpPr>
            <a:spLocks noGrp="1"/>
          </p:cNvSpPr>
          <p:nvPr/>
        </p:nvSpPr>
        <p:spPr>
          <a:xfrm>
            <a:off x="552450" y="400050"/>
            <a:ext cx="266700" cy="57150"/>
          </a:xfrm>
          <a:prstGeom prst="rect">
            <a:avLst/>
          </a:prstGeom>
          <a:solidFill>
            <a:srgbClr val="3F7F95"/>
          </a:solidFill>
          <a:ln w="0">
            <a:solidFill>
              <a:srgbClr val="000000">
                <a:alpha val="0"/>
              </a:srgbClr>
            </a:solidFill>
            <a:prstDash val="solid"/>
          </a:ln>
        </p:spPr>
      </p:sp>
      <p:sp>
        <p:nvSpPr>
          <p:cNvPr id="3" name="kicker-3-label">
            <a:extLst>
              <a:ext uri="{FF2B5EF4-FFF2-40B4-BE49-F238E27FC236}">
                <a16:creationId xmlns:a16="http://schemas.microsoft.com/office/drawing/2014/main" id="{285E345B-AF7D-476F-8A2C-ABAC3104CFE5}"/>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EVIDENCE</a:t>
            </a:r>
          </a:p>
        </p:txBody>
      </p:sp>
      <p:sp>
        <p:nvSpPr>
          <p:cNvPr id="4" name="Rectangle 3">
            <a:extLst>
              <a:ext uri="{FF2B5EF4-FFF2-40B4-BE49-F238E27FC236}">
                <a16:creationId xmlns:a16="http://schemas.microsoft.com/office/drawing/2014/main" id="{A4B4902A-D268-4C38-823C-F8FA9531D61F}"/>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Extreme heat is a health, work, and city-resilience problem.</a:t>
            </a:r>
          </a:p>
        </p:txBody>
      </p:sp>
      <p:sp>
        <p:nvSpPr>
          <p:cNvPr id="5" name="Rectangle 4">
            <a:extLst>
              <a:ext uri="{FF2B5EF4-FFF2-40B4-BE49-F238E27FC236}">
                <a16:creationId xmlns:a16="http://schemas.microsoft.com/office/drawing/2014/main" id="{AFC73229-A347-4363-8C41-7F6B56162FD8}"/>
              </a:ext>
            </a:extLst>
          </p:cNvPr>
          <p:cNvSpPr>
            <a:spLocks noGrp="1"/>
          </p:cNvSpPr>
          <p:nvPr/>
        </p:nvSpPr>
        <p:spPr>
          <a:xfrm>
            <a:off x="666750" y="2095500"/>
            <a:ext cx="3143250" cy="112395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A3A2382A-31C7-441A-80F2-FBDF59E913CE}"/>
              </a:ext>
            </a:extLst>
          </p:cNvPr>
          <p:cNvSpPr>
            <a:spLocks noGrp="1"/>
          </p:cNvSpPr>
          <p:nvPr/>
        </p:nvSpPr>
        <p:spPr>
          <a:xfrm>
            <a:off x="666750" y="2095500"/>
            <a:ext cx="85725" cy="1123950"/>
          </a:xfrm>
          <a:prstGeom prst="rect">
            <a:avLst/>
          </a:prstGeom>
          <a:solidFill>
            <a:srgbClr val="C45C3C"/>
          </a:solidFill>
          <a:ln w="0">
            <a:solidFill>
              <a:srgbClr val="000000">
                <a:alpha val="0"/>
              </a:srgbClr>
            </a:solidFill>
            <a:prstDash val="solid"/>
          </a:ln>
        </p:spPr>
      </p:sp>
      <p:sp>
        <p:nvSpPr>
          <p:cNvPr id="7" name="Rectangle 6">
            <a:extLst>
              <a:ext uri="{FF2B5EF4-FFF2-40B4-BE49-F238E27FC236}">
                <a16:creationId xmlns:a16="http://schemas.microsoft.com/office/drawing/2014/main" id="{276EEEF0-0AFC-42D9-86D1-29293DA291D6}"/>
              </a:ext>
            </a:extLst>
          </p:cNvPr>
          <p:cNvSpPr>
            <a:spLocks noGrp="1"/>
          </p:cNvSpPr>
          <p:nvPr/>
        </p:nvSpPr>
        <p:spPr>
          <a:xfrm>
            <a:off x="914400" y="2286000"/>
            <a:ext cx="27432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C45C3C"/>
                </a:solidFill>
                <a:latin typeface="Aptos"/>
                <a:ea typeface="Aptos"/>
                <a:cs typeface="Aptos"/>
              </a:defRPr>
            </a:pPr>
            <a:r>
              <a:rPr sz="2250" b="1">
                <a:solidFill>
                  <a:srgbClr val="C45C3C"/>
                </a:solidFill>
                <a:latin typeface="Aptos"/>
                <a:ea typeface="Aptos"/>
                <a:cs typeface="Aptos"/>
              </a:rPr>
              <a:t>489k</a:t>
            </a:r>
          </a:p>
        </p:txBody>
      </p:sp>
      <p:sp>
        <p:nvSpPr>
          <p:cNvPr id="8" name="Rectangle 7">
            <a:extLst>
              <a:ext uri="{FF2B5EF4-FFF2-40B4-BE49-F238E27FC236}">
                <a16:creationId xmlns:a16="http://schemas.microsoft.com/office/drawing/2014/main" id="{5C97B842-5EE4-448F-9527-534B16B92FFD}"/>
              </a:ext>
            </a:extLst>
          </p:cNvPr>
          <p:cNvSpPr>
            <a:spLocks noGrp="1"/>
          </p:cNvSpPr>
          <p:nvPr/>
        </p:nvSpPr>
        <p:spPr>
          <a:xfrm>
            <a:off x="914400" y="2724150"/>
            <a:ext cx="27432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approx. annual heat-related deaths globally in 2000-2019 studies</a:t>
            </a:r>
          </a:p>
        </p:txBody>
      </p:sp>
      <p:sp>
        <p:nvSpPr>
          <p:cNvPr id="9" name="Rectangle 8">
            <a:extLst>
              <a:ext uri="{FF2B5EF4-FFF2-40B4-BE49-F238E27FC236}">
                <a16:creationId xmlns:a16="http://schemas.microsoft.com/office/drawing/2014/main" id="{FB5BABB9-0864-484A-8599-A43D5E1E07CB}"/>
              </a:ext>
            </a:extLst>
          </p:cNvPr>
          <p:cNvSpPr>
            <a:spLocks noGrp="1"/>
          </p:cNvSpPr>
          <p:nvPr/>
        </p:nvSpPr>
        <p:spPr>
          <a:xfrm>
            <a:off x="4476750" y="2095500"/>
            <a:ext cx="3143250" cy="1123950"/>
          </a:xfrm>
          <a:prstGeom prst="rect">
            <a:avLst/>
          </a:prstGeom>
          <a:solidFill>
            <a:srgbClr val="FFFFFF"/>
          </a:solidFill>
          <a:ln w="9525">
            <a:solidFill>
              <a:srgbClr val="D9D1C2"/>
            </a:solidFill>
            <a:prstDash val="solid"/>
          </a:ln>
        </p:spPr>
      </p:sp>
      <p:sp>
        <p:nvSpPr>
          <p:cNvPr id="10" name="Rectangle 9">
            <a:extLst>
              <a:ext uri="{FF2B5EF4-FFF2-40B4-BE49-F238E27FC236}">
                <a16:creationId xmlns:a16="http://schemas.microsoft.com/office/drawing/2014/main" id="{B829EECA-EA76-4291-AB9D-947592D611F1}"/>
              </a:ext>
            </a:extLst>
          </p:cNvPr>
          <p:cNvSpPr>
            <a:spLocks noGrp="1"/>
          </p:cNvSpPr>
          <p:nvPr/>
        </p:nvSpPr>
        <p:spPr>
          <a:xfrm>
            <a:off x="4476750" y="2095500"/>
            <a:ext cx="85725" cy="1123950"/>
          </a:xfrm>
          <a:prstGeom prst="rect">
            <a:avLst/>
          </a:prstGeom>
          <a:solidFill>
            <a:srgbClr val="F3B23C"/>
          </a:solidFill>
          <a:ln w="0">
            <a:solidFill>
              <a:srgbClr val="000000">
                <a:alpha val="0"/>
              </a:srgbClr>
            </a:solidFill>
            <a:prstDash val="solid"/>
          </a:ln>
        </p:spPr>
      </p:sp>
      <p:sp>
        <p:nvSpPr>
          <p:cNvPr id="11" name="Rectangle 10">
            <a:extLst>
              <a:ext uri="{FF2B5EF4-FFF2-40B4-BE49-F238E27FC236}">
                <a16:creationId xmlns:a16="http://schemas.microsoft.com/office/drawing/2014/main" id="{C90356FC-D170-4201-946A-F9958124D66F}"/>
              </a:ext>
            </a:extLst>
          </p:cNvPr>
          <p:cNvSpPr>
            <a:spLocks noGrp="1"/>
          </p:cNvSpPr>
          <p:nvPr/>
        </p:nvSpPr>
        <p:spPr>
          <a:xfrm>
            <a:off x="4724400" y="2286000"/>
            <a:ext cx="27432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3B23C"/>
                </a:solidFill>
                <a:latin typeface="Aptos"/>
                <a:ea typeface="Aptos"/>
                <a:cs typeface="Aptos"/>
              </a:defRPr>
            </a:pPr>
            <a:r>
              <a:rPr sz="2250" b="1">
                <a:solidFill>
                  <a:srgbClr val="F3B23C"/>
                </a:solidFill>
                <a:latin typeface="Aptos"/>
                <a:ea typeface="Aptos"/>
                <a:cs typeface="Aptos"/>
              </a:rPr>
              <a:t>2.4B</a:t>
            </a:r>
          </a:p>
        </p:txBody>
      </p:sp>
      <p:sp>
        <p:nvSpPr>
          <p:cNvPr id="12" name="Rectangle 11">
            <a:extLst>
              <a:ext uri="{FF2B5EF4-FFF2-40B4-BE49-F238E27FC236}">
                <a16:creationId xmlns:a16="http://schemas.microsoft.com/office/drawing/2014/main" id="{E64EED3D-0464-4168-B810-F88E6E9C63EE}"/>
              </a:ext>
            </a:extLst>
          </p:cNvPr>
          <p:cNvSpPr>
            <a:spLocks noGrp="1"/>
          </p:cNvSpPr>
          <p:nvPr/>
        </p:nvSpPr>
        <p:spPr>
          <a:xfrm>
            <a:off x="4724400" y="2724150"/>
            <a:ext cx="27432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workers estimated by ILO as exposed to excessive heat</a:t>
            </a:r>
          </a:p>
        </p:txBody>
      </p:sp>
      <p:sp>
        <p:nvSpPr>
          <p:cNvPr id="13" name="Rectangle 12">
            <a:extLst>
              <a:ext uri="{FF2B5EF4-FFF2-40B4-BE49-F238E27FC236}">
                <a16:creationId xmlns:a16="http://schemas.microsoft.com/office/drawing/2014/main" id="{9A346680-3D21-4011-9379-0BE44D562EED}"/>
              </a:ext>
            </a:extLst>
          </p:cNvPr>
          <p:cNvSpPr>
            <a:spLocks noGrp="1"/>
          </p:cNvSpPr>
          <p:nvPr/>
        </p:nvSpPr>
        <p:spPr>
          <a:xfrm>
            <a:off x="8286750" y="2095500"/>
            <a:ext cx="3143250" cy="1123950"/>
          </a:xfrm>
          <a:prstGeom prst="rect">
            <a:avLst/>
          </a:prstGeom>
          <a:solidFill>
            <a:srgbClr val="FFFFFF"/>
          </a:solidFill>
          <a:ln w="9525">
            <a:solidFill>
              <a:srgbClr val="D9D1C2"/>
            </a:solidFill>
            <a:prstDash val="solid"/>
          </a:ln>
        </p:spPr>
      </p:sp>
      <p:sp>
        <p:nvSpPr>
          <p:cNvPr id="14" name="Rectangle 13">
            <a:extLst>
              <a:ext uri="{FF2B5EF4-FFF2-40B4-BE49-F238E27FC236}">
                <a16:creationId xmlns:a16="http://schemas.microsoft.com/office/drawing/2014/main" id="{91EEC42B-261C-4693-A554-438DE7B813C8}"/>
              </a:ext>
            </a:extLst>
          </p:cNvPr>
          <p:cNvSpPr>
            <a:spLocks noGrp="1"/>
          </p:cNvSpPr>
          <p:nvPr/>
        </p:nvSpPr>
        <p:spPr>
          <a:xfrm>
            <a:off x="8286750" y="2095500"/>
            <a:ext cx="85725" cy="1123950"/>
          </a:xfrm>
          <a:prstGeom prst="rect">
            <a:avLst/>
          </a:prstGeom>
          <a:solidFill>
            <a:srgbClr val="3F7F95"/>
          </a:solidFill>
          <a:ln w="0">
            <a:solidFill>
              <a:srgbClr val="000000">
                <a:alpha val="0"/>
              </a:srgbClr>
            </a:solidFill>
            <a:prstDash val="solid"/>
          </a:ln>
        </p:spPr>
      </p:sp>
      <p:sp>
        <p:nvSpPr>
          <p:cNvPr id="15" name="Rectangle 14">
            <a:extLst>
              <a:ext uri="{FF2B5EF4-FFF2-40B4-BE49-F238E27FC236}">
                <a16:creationId xmlns:a16="http://schemas.microsoft.com/office/drawing/2014/main" id="{52B10441-1207-4DA2-AB6C-E641C290E008}"/>
              </a:ext>
            </a:extLst>
          </p:cNvPr>
          <p:cNvSpPr>
            <a:spLocks noGrp="1"/>
          </p:cNvSpPr>
          <p:nvPr/>
        </p:nvSpPr>
        <p:spPr>
          <a:xfrm>
            <a:off x="8534400" y="2286000"/>
            <a:ext cx="27432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3F7F95"/>
                </a:solidFill>
                <a:latin typeface="Aptos"/>
                <a:ea typeface="Aptos"/>
                <a:cs typeface="Aptos"/>
              </a:defRPr>
            </a:pPr>
            <a:r>
              <a:rPr sz="2250" b="1">
                <a:solidFill>
                  <a:srgbClr val="3F7F95"/>
                </a:solidFill>
                <a:latin typeface="Aptos"/>
                <a:ea typeface="Aptos"/>
                <a:cs typeface="Aptos"/>
              </a:rPr>
              <a:t>UHI</a:t>
            </a:r>
          </a:p>
        </p:txBody>
      </p:sp>
      <p:sp>
        <p:nvSpPr>
          <p:cNvPr id="16" name="Rectangle 15">
            <a:extLst>
              <a:ext uri="{FF2B5EF4-FFF2-40B4-BE49-F238E27FC236}">
                <a16:creationId xmlns:a16="http://schemas.microsoft.com/office/drawing/2014/main" id="{EFB64DF3-2C18-4BBE-8C28-7F345DCF9D30}"/>
              </a:ext>
            </a:extLst>
          </p:cNvPr>
          <p:cNvSpPr>
            <a:spLocks noGrp="1"/>
          </p:cNvSpPr>
          <p:nvPr/>
        </p:nvSpPr>
        <p:spPr>
          <a:xfrm>
            <a:off x="8534400" y="2724150"/>
            <a:ext cx="27432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urban heat islands make cities warmer than surroundings</a:t>
            </a:r>
          </a:p>
        </p:txBody>
      </p:sp>
      <p:sp>
        <p:nvSpPr>
          <p:cNvPr id="17" name="Rectangle 16">
            <a:extLst>
              <a:ext uri="{FF2B5EF4-FFF2-40B4-BE49-F238E27FC236}">
                <a16:creationId xmlns:a16="http://schemas.microsoft.com/office/drawing/2014/main" id="{B0B96362-7A44-4C4E-825B-6B2B34C50180}"/>
              </a:ext>
            </a:extLst>
          </p:cNvPr>
          <p:cNvSpPr>
            <a:spLocks noGrp="1"/>
          </p:cNvSpPr>
          <p:nvPr/>
        </p:nvSpPr>
        <p:spPr>
          <a:xfrm>
            <a:off x="1381125" y="3905250"/>
            <a:ext cx="904875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17201B"/>
                </a:solidFill>
                <a:latin typeface="Aptos"/>
                <a:ea typeface="Aptos"/>
                <a:cs typeface="Aptos"/>
              </a:defRPr>
            </a:pPr>
            <a:r>
              <a:rPr sz="2025" b="1">
                <a:solidFill>
                  <a:srgbClr val="17201B"/>
                </a:solidFill>
                <a:latin typeface="Aptos"/>
                <a:ea typeface="Aptos"/>
                <a:cs typeface="Aptos"/>
              </a:rPr>
              <a:t>The sustainability challenge is not only rising temperature. It is unequal exposure: who has shade, water, schedule control, and safer routes.</a:t>
            </a:r>
          </a:p>
        </p:txBody>
      </p:sp>
      <p:sp>
        <p:nvSpPr>
          <p:cNvPr id="18" name="Rectangle 17">
            <a:extLst>
              <a:ext uri="{FF2B5EF4-FFF2-40B4-BE49-F238E27FC236}">
                <a16:creationId xmlns:a16="http://schemas.microsoft.com/office/drawing/2014/main" id="{035C432C-C306-4BA3-973B-78581DC7EFBC}"/>
              </a:ext>
            </a:extLst>
          </p:cNvPr>
          <p:cNvSpPr>
            <a:spLocks noGrp="1"/>
          </p:cNvSpPr>
          <p:nvPr/>
        </p:nvSpPr>
        <p:spPr>
          <a:xfrm>
            <a:off x="552450" y="6143625"/>
            <a:ext cx="933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736D64"/>
                </a:solidFill>
                <a:latin typeface="Aptos"/>
                <a:ea typeface="Aptos"/>
                <a:cs typeface="Aptos"/>
              </a:defRPr>
            </a:pPr>
            <a:r>
              <a:rPr sz="713" b="0">
                <a:solidFill>
                  <a:srgbClr val="736D64"/>
                </a:solidFill>
                <a:latin typeface="Aptos"/>
                <a:ea typeface="Aptos"/>
                <a:cs typeface="Aptos"/>
              </a:rPr>
              <a:t>Sources: WHO Heat and health fact sheet; ILO Heat at work; IPCC AR6 Urban Areas Fact Sheet.</a:t>
            </a:r>
          </a:p>
        </p:txBody>
      </p:sp>
      <p:sp>
        <p:nvSpPr>
          <p:cNvPr id="19" name="Rectangle 18">
            <a:extLst>
              <a:ext uri="{FF2B5EF4-FFF2-40B4-BE49-F238E27FC236}">
                <a16:creationId xmlns:a16="http://schemas.microsoft.com/office/drawing/2014/main" id="{EEF06865-1CD7-4525-8FD9-069239D81D15}"/>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0" name="Rectangle 19">
            <a:extLst>
              <a:ext uri="{FF2B5EF4-FFF2-40B4-BE49-F238E27FC236}">
                <a16:creationId xmlns:a16="http://schemas.microsoft.com/office/drawing/2014/main" id="{7A47A026-B33B-4512-B1CF-48375299B6E3}"/>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21" name="Rectangle 20">
            <a:extLst>
              <a:ext uri="{FF2B5EF4-FFF2-40B4-BE49-F238E27FC236}">
                <a16:creationId xmlns:a16="http://schemas.microsoft.com/office/drawing/2014/main" id="{A043880A-AE5D-452C-B4F3-F06A22006FED}"/>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03</a:t>
            </a:r>
          </a:p>
        </p:txBody>
      </p:sp>
    </p:spTree>
    <p:extLst>
      <p:ext uri="{BB962C8B-B14F-4D97-AF65-F5344CB8AC3E}">
        <p14:creationId xmlns:p14="http://schemas.microsoft.com/office/powerpoint/2010/main" val="1414551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85BC095-0ED8-4988-9F80-454058675CAB}"/>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4-marker">
            <a:extLst>
              <a:ext uri="{FF2B5EF4-FFF2-40B4-BE49-F238E27FC236}">
                <a16:creationId xmlns:a16="http://schemas.microsoft.com/office/drawing/2014/main" id="{6FCCF5B1-A10D-4FE8-81EA-1159CB0D9FF9}"/>
              </a:ext>
            </a:extLst>
          </p:cNvPr>
          <p:cNvSpPr>
            <a:spLocks noGrp="1"/>
          </p:cNvSpPr>
          <p:nvPr/>
        </p:nvSpPr>
        <p:spPr>
          <a:xfrm>
            <a:off x="552450" y="400050"/>
            <a:ext cx="266700" cy="57150"/>
          </a:xfrm>
          <a:prstGeom prst="rect">
            <a:avLst/>
          </a:prstGeom>
          <a:solidFill>
            <a:srgbClr val="466A45"/>
          </a:solidFill>
          <a:ln w="0">
            <a:solidFill>
              <a:srgbClr val="000000">
                <a:alpha val="0"/>
              </a:srgbClr>
            </a:solidFill>
            <a:prstDash val="solid"/>
          </a:ln>
        </p:spPr>
      </p:sp>
      <p:sp>
        <p:nvSpPr>
          <p:cNvPr id="3" name="kicker-4-label">
            <a:extLst>
              <a:ext uri="{FF2B5EF4-FFF2-40B4-BE49-F238E27FC236}">
                <a16:creationId xmlns:a16="http://schemas.microsoft.com/office/drawing/2014/main" id="{AF12F2AB-9D2C-4C04-B028-48753D53A547}"/>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SELECTION LOGIC</a:t>
            </a:r>
          </a:p>
        </p:txBody>
      </p:sp>
      <p:sp>
        <p:nvSpPr>
          <p:cNvPr id="4" name="Rectangle 3">
            <a:extLst>
              <a:ext uri="{FF2B5EF4-FFF2-40B4-BE49-F238E27FC236}">
                <a16:creationId xmlns:a16="http://schemas.microsoft.com/office/drawing/2014/main" id="{0EF789E5-5183-4724-A50B-0E21A8060438}"/>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The chosen project beats common ideas on originality and demo value.</a:t>
            </a:r>
          </a:p>
        </p:txBody>
      </p:sp>
      <p:sp>
        <p:nvSpPr>
          <p:cNvPr id="5" name="Rectangle 4">
            <a:extLst>
              <a:ext uri="{FF2B5EF4-FFF2-40B4-BE49-F238E27FC236}">
                <a16:creationId xmlns:a16="http://schemas.microsoft.com/office/drawing/2014/main" id="{03A18CD7-E225-486A-AD69-A765E83AE8A7}"/>
              </a:ext>
            </a:extLst>
          </p:cNvPr>
          <p:cNvSpPr>
            <a:spLocks noGrp="1"/>
          </p:cNvSpPr>
          <p:nvPr/>
        </p:nvSpPr>
        <p:spPr>
          <a:xfrm>
            <a:off x="1047750" y="2057400"/>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01B"/>
                </a:solidFill>
                <a:latin typeface="Aptos"/>
                <a:ea typeface="Aptos"/>
                <a:cs typeface="Aptos"/>
              </a:defRPr>
            </a:pPr>
            <a:r>
              <a:rPr sz="1050" b="1">
                <a:solidFill>
                  <a:srgbClr val="17201B"/>
                </a:solidFill>
                <a:latin typeface="Aptos"/>
                <a:ea typeface="Aptos"/>
                <a:cs typeface="Aptos"/>
              </a:rPr>
              <a:t>ThermaRoute AI</a:t>
            </a:r>
          </a:p>
        </p:txBody>
      </p:sp>
      <p:sp>
        <p:nvSpPr>
          <p:cNvPr id="6" name="Rectangle 5">
            <a:extLst>
              <a:ext uri="{FF2B5EF4-FFF2-40B4-BE49-F238E27FC236}">
                <a16:creationId xmlns:a16="http://schemas.microsoft.com/office/drawing/2014/main" id="{35DE8E11-A059-4B12-B680-828CEF155818}"/>
              </a:ext>
            </a:extLst>
          </p:cNvPr>
          <p:cNvSpPr>
            <a:spLocks noGrp="1"/>
          </p:cNvSpPr>
          <p:nvPr/>
        </p:nvSpPr>
        <p:spPr>
          <a:xfrm>
            <a:off x="3714750" y="2076450"/>
            <a:ext cx="5048250" cy="152400"/>
          </a:xfrm>
          <a:prstGeom prst="rect">
            <a:avLst/>
          </a:prstGeom>
          <a:solidFill>
            <a:srgbClr val="E8E0D2"/>
          </a:solidFill>
          <a:ln w="0">
            <a:solidFill>
              <a:srgbClr val="000000">
                <a:alpha val="0"/>
              </a:srgbClr>
            </a:solidFill>
            <a:prstDash val="solid"/>
          </a:ln>
        </p:spPr>
      </p:sp>
      <p:sp>
        <p:nvSpPr>
          <p:cNvPr id="7" name="Rectangle 6">
            <a:extLst>
              <a:ext uri="{FF2B5EF4-FFF2-40B4-BE49-F238E27FC236}">
                <a16:creationId xmlns:a16="http://schemas.microsoft.com/office/drawing/2014/main" id="{8FC963F4-55CC-4611-BA13-48F59FF75844}"/>
              </a:ext>
            </a:extLst>
          </p:cNvPr>
          <p:cNvSpPr>
            <a:spLocks noGrp="1"/>
          </p:cNvSpPr>
          <p:nvPr/>
        </p:nvSpPr>
        <p:spPr>
          <a:xfrm>
            <a:off x="3714750" y="2076450"/>
            <a:ext cx="4795838" cy="152400"/>
          </a:xfrm>
          <a:prstGeom prst="rect">
            <a:avLst/>
          </a:prstGeom>
          <a:solidFill>
            <a:srgbClr val="466A45"/>
          </a:solidFill>
          <a:ln w="0">
            <a:solidFill>
              <a:srgbClr val="000000">
                <a:alpha val="0"/>
              </a:srgbClr>
            </a:solidFill>
            <a:prstDash val="solid"/>
          </a:ln>
        </p:spPr>
      </p:sp>
      <p:sp>
        <p:nvSpPr>
          <p:cNvPr id="8" name="Rectangle 7">
            <a:extLst>
              <a:ext uri="{FF2B5EF4-FFF2-40B4-BE49-F238E27FC236}">
                <a16:creationId xmlns:a16="http://schemas.microsoft.com/office/drawing/2014/main" id="{BBD48ECA-4808-4506-9411-C13170446D4D}"/>
              </a:ext>
            </a:extLst>
          </p:cNvPr>
          <p:cNvSpPr>
            <a:spLocks noGrp="1"/>
          </p:cNvSpPr>
          <p:nvPr/>
        </p:nvSpPr>
        <p:spPr>
          <a:xfrm>
            <a:off x="8858250" y="205740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D574F"/>
                </a:solidFill>
                <a:latin typeface="Aptos"/>
                <a:ea typeface="Aptos"/>
                <a:cs typeface="Aptos"/>
              </a:defRPr>
            </a:pPr>
            <a:r>
              <a:rPr sz="975" b="0">
                <a:solidFill>
                  <a:srgbClr val="5D574F"/>
                </a:solidFill>
                <a:latin typeface="Aptos"/>
                <a:ea typeface="Aptos"/>
                <a:cs typeface="Aptos"/>
              </a:rPr>
              <a:t>95</a:t>
            </a:r>
          </a:p>
        </p:txBody>
      </p:sp>
      <p:sp>
        <p:nvSpPr>
          <p:cNvPr id="9" name="Rectangle 8">
            <a:extLst>
              <a:ext uri="{FF2B5EF4-FFF2-40B4-BE49-F238E27FC236}">
                <a16:creationId xmlns:a16="http://schemas.microsoft.com/office/drawing/2014/main" id="{4592B18B-1E9F-446A-89D4-572FDC542931}"/>
              </a:ext>
            </a:extLst>
          </p:cNvPr>
          <p:cNvSpPr>
            <a:spLocks noGrp="1"/>
          </p:cNvSpPr>
          <p:nvPr/>
        </p:nvSpPr>
        <p:spPr>
          <a:xfrm>
            <a:off x="1047750" y="2571750"/>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01B"/>
                </a:solidFill>
                <a:latin typeface="Aptos"/>
                <a:ea typeface="Aptos"/>
                <a:cs typeface="Aptos"/>
              </a:defRPr>
            </a:pPr>
            <a:r>
              <a:rPr sz="1050" b="1">
                <a:solidFill>
                  <a:srgbClr val="17201B"/>
                </a:solidFill>
                <a:latin typeface="Aptos"/>
                <a:ea typeface="Aptos"/>
                <a:cs typeface="Aptos"/>
              </a:rPr>
              <a:t>RepairLoop AI</a:t>
            </a:r>
          </a:p>
        </p:txBody>
      </p:sp>
      <p:sp>
        <p:nvSpPr>
          <p:cNvPr id="10" name="Rectangle 9">
            <a:extLst>
              <a:ext uri="{FF2B5EF4-FFF2-40B4-BE49-F238E27FC236}">
                <a16:creationId xmlns:a16="http://schemas.microsoft.com/office/drawing/2014/main" id="{02568BFE-05ED-4781-AF9D-31603086C1EE}"/>
              </a:ext>
            </a:extLst>
          </p:cNvPr>
          <p:cNvSpPr>
            <a:spLocks noGrp="1"/>
          </p:cNvSpPr>
          <p:nvPr/>
        </p:nvSpPr>
        <p:spPr>
          <a:xfrm>
            <a:off x="3714750" y="2590800"/>
            <a:ext cx="5048250" cy="152400"/>
          </a:xfrm>
          <a:prstGeom prst="rect">
            <a:avLst/>
          </a:prstGeom>
          <a:solidFill>
            <a:srgbClr val="E8E0D2"/>
          </a:solidFill>
          <a:ln w="0">
            <a:solidFill>
              <a:srgbClr val="000000">
                <a:alpha val="0"/>
              </a:srgbClr>
            </a:solidFill>
            <a:prstDash val="solid"/>
          </a:ln>
        </p:spPr>
      </p:sp>
      <p:sp>
        <p:nvSpPr>
          <p:cNvPr id="11" name="Rectangle 10">
            <a:extLst>
              <a:ext uri="{FF2B5EF4-FFF2-40B4-BE49-F238E27FC236}">
                <a16:creationId xmlns:a16="http://schemas.microsoft.com/office/drawing/2014/main" id="{B0864440-74A9-440B-8514-BB3D92BDDF2F}"/>
              </a:ext>
            </a:extLst>
          </p:cNvPr>
          <p:cNvSpPr>
            <a:spLocks noGrp="1"/>
          </p:cNvSpPr>
          <p:nvPr/>
        </p:nvSpPr>
        <p:spPr>
          <a:xfrm>
            <a:off x="3714750" y="2590800"/>
            <a:ext cx="4139565" cy="152400"/>
          </a:xfrm>
          <a:prstGeom prst="rect">
            <a:avLst/>
          </a:prstGeom>
          <a:solidFill>
            <a:srgbClr val="3F7F95"/>
          </a:solidFill>
          <a:ln w="0">
            <a:solidFill>
              <a:srgbClr val="000000">
                <a:alpha val="0"/>
              </a:srgbClr>
            </a:solidFill>
            <a:prstDash val="solid"/>
          </a:ln>
        </p:spPr>
      </p:sp>
      <p:sp>
        <p:nvSpPr>
          <p:cNvPr id="12" name="Rectangle 11">
            <a:extLst>
              <a:ext uri="{FF2B5EF4-FFF2-40B4-BE49-F238E27FC236}">
                <a16:creationId xmlns:a16="http://schemas.microsoft.com/office/drawing/2014/main" id="{96DC65DC-853A-4273-AD2F-AC79C1498A03}"/>
              </a:ext>
            </a:extLst>
          </p:cNvPr>
          <p:cNvSpPr>
            <a:spLocks noGrp="1"/>
          </p:cNvSpPr>
          <p:nvPr/>
        </p:nvSpPr>
        <p:spPr>
          <a:xfrm>
            <a:off x="8858250" y="25717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D574F"/>
                </a:solidFill>
                <a:latin typeface="Aptos"/>
                <a:ea typeface="Aptos"/>
                <a:cs typeface="Aptos"/>
              </a:defRPr>
            </a:pPr>
            <a:r>
              <a:rPr sz="975" b="0">
                <a:solidFill>
                  <a:srgbClr val="5D574F"/>
                </a:solidFill>
                <a:latin typeface="Aptos"/>
                <a:ea typeface="Aptos"/>
                <a:cs typeface="Aptos"/>
              </a:rPr>
              <a:t>82</a:t>
            </a:r>
          </a:p>
        </p:txBody>
      </p:sp>
      <p:sp>
        <p:nvSpPr>
          <p:cNvPr id="13" name="Rectangle 12">
            <a:extLst>
              <a:ext uri="{FF2B5EF4-FFF2-40B4-BE49-F238E27FC236}">
                <a16:creationId xmlns:a16="http://schemas.microsoft.com/office/drawing/2014/main" id="{63BD0D4A-FDF4-4DE6-9941-823AD288086B}"/>
              </a:ext>
            </a:extLst>
          </p:cNvPr>
          <p:cNvSpPr>
            <a:spLocks noGrp="1"/>
          </p:cNvSpPr>
          <p:nvPr/>
        </p:nvSpPr>
        <p:spPr>
          <a:xfrm>
            <a:off x="1047750" y="3086100"/>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01B"/>
                </a:solidFill>
                <a:latin typeface="Aptos"/>
                <a:ea typeface="Aptos"/>
                <a:cs typeface="Aptos"/>
              </a:defRPr>
            </a:pPr>
            <a:r>
              <a:rPr sz="1050" b="1">
                <a:solidFill>
                  <a:srgbClr val="17201B"/>
                </a:solidFill>
                <a:latin typeface="Aptos"/>
                <a:ea typeface="Aptos"/>
                <a:cs typeface="Aptos"/>
              </a:rPr>
              <a:t>CoolRoof Scout</a:t>
            </a:r>
          </a:p>
        </p:txBody>
      </p:sp>
      <p:sp>
        <p:nvSpPr>
          <p:cNvPr id="14" name="Rectangle 13">
            <a:extLst>
              <a:ext uri="{FF2B5EF4-FFF2-40B4-BE49-F238E27FC236}">
                <a16:creationId xmlns:a16="http://schemas.microsoft.com/office/drawing/2014/main" id="{E53F5EE2-A67F-4FFE-807D-F5E5C4DE2CB1}"/>
              </a:ext>
            </a:extLst>
          </p:cNvPr>
          <p:cNvSpPr>
            <a:spLocks noGrp="1"/>
          </p:cNvSpPr>
          <p:nvPr/>
        </p:nvSpPr>
        <p:spPr>
          <a:xfrm>
            <a:off x="3714750" y="3105150"/>
            <a:ext cx="5048250" cy="152400"/>
          </a:xfrm>
          <a:prstGeom prst="rect">
            <a:avLst/>
          </a:prstGeom>
          <a:solidFill>
            <a:srgbClr val="E8E0D2"/>
          </a:solidFill>
          <a:ln w="0">
            <a:solidFill>
              <a:srgbClr val="000000">
                <a:alpha val="0"/>
              </a:srgbClr>
            </a:solidFill>
            <a:prstDash val="solid"/>
          </a:ln>
        </p:spPr>
      </p:sp>
      <p:sp>
        <p:nvSpPr>
          <p:cNvPr id="15" name="Rectangle 14">
            <a:extLst>
              <a:ext uri="{FF2B5EF4-FFF2-40B4-BE49-F238E27FC236}">
                <a16:creationId xmlns:a16="http://schemas.microsoft.com/office/drawing/2014/main" id="{6BFBE183-C977-4338-A632-19A7AD3EC233}"/>
              </a:ext>
            </a:extLst>
          </p:cNvPr>
          <p:cNvSpPr>
            <a:spLocks noGrp="1"/>
          </p:cNvSpPr>
          <p:nvPr/>
        </p:nvSpPr>
        <p:spPr>
          <a:xfrm>
            <a:off x="3714750" y="3105150"/>
            <a:ext cx="4038600" cy="152400"/>
          </a:xfrm>
          <a:prstGeom prst="rect">
            <a:avLst/>
          </a:prstGeom>
          <a:solidFill>
            <a:srgbClr val="78A65A"/>
          </a:solidFill>
          <a:ln w="0">
            <a:solidFill>
              <a:srgbClr val="000000">
                <a:alpha val="0"/>
              </a:srgbClr>
            </a:solidFill>
            <a:prstDash val="solid"/>
          </a:ln>
        </p:spPr>
      </p:sp>
      <p:sp>
        <p:nvSpPr>
          <p:cNvPr id="16" name="Rectangle 15">
            <a:extLst>
              <a:ext uri="{FF2B5EF4-FFF2-40B4-BE49-F238E27FC236}">
                <a16:creationId xmlns:a16="http://schemas.microsoft.com/office/drawing/2014/main" id="{A5781F72-D566-45BF-B482-AEECC928C5EA}"/>
              </a:ext>
            </a:extLst>
          </p:cNvPr>
          <p:cNvSpPr>
            <a:spLocks noGrp="1"/>
          </p:cNvSpPr>
          <p:nvPr/>
        </p:nvSpPr>
        <p:spPr>
          <a:xfrm>
            <a:off x="8858250" y="308610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D574F"/>
                </a:solidFill>
                <a:latin typeface="Aptos"/>
                <a:ea typeface="Aptos"/>
                <a:cs typeface="Aptos"/>
              </a:defRPr>
            </a:pPr>
            <a:r>
              <a:rPr sz="975" b="0">
                <a:solidFill>
                  <a:srgbClr val="5D574F"/>
                </a:solidFill>
                <a:latin typeface="Aptos"/>
                <a:ea typeface="Aptos"/>
                <a:cs typeface="Aptos"/>
              </a:rPr>
              <a:t>80</a:t>
            </a:r>
          </a:p>
        </p:txBody>
      </p:sp>
      <p:sp>
        <p:nvSpPr>
          <p:cNvPr id="17" name="Rectangle 16">
            <a:extLst>
              <a:ext uri="{FF2B5EF4-FFF2-40B4-BE49-F238E27FC236}">
                <a16:creationId xmlns:a16="http://schemas.microsoft.com/office/drawing/2014/main" id="{E546A4A3-43EF-485F-BF3B-CC800214559E}"/>
              </a:ext>
            </a:extLst>
          </p:cNvPr>
          <p:cNvSpPr>
            <a:spLocks noGrp="1"/>
          </p:cNvSpPr>
          <p:nvPr/>
        </p:nvSpPr>
        <p:spPr>
          <a:xfrm>
            <a:off x="1047750" y="3600450"/>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01B"/>
                </a:solidFill>
                <a:latin typeface="Aptos"/>
                <a:ea typeface="Aptos"/>
                <a:cs typeface="Aptos"/>
              </a:defRPr>
            </a:pPr>
            <a:r>
              <a:rPr sz="1050" b="1">
                <a:solidFill>
                  <a:srgbClr val="17201B"/>
                </a:solidFill>
                <a:latin typeface="Aptos"/>
                <a:ea typeface="Aptos"/>
                <a:cs typeface="Aptos"/>
              </a:rPr>
              <a:t>PharmaReturn</a:t>
            </a:r>
          </a:p>
        </p:txBody>
      </p:sp>
      <p:sp>
        <p:nvSpPr>
          <p:cNvPr id="18" name="Rectangle 17">
            <a:extLst>
              <a:ext uri="{FF2B5EF4-FFF2-40B4-BE49-F238E27FC236}">
                <a16:creationId xmlns:a16="http://schemas.microsoft.com/office/drawing/2014/main" id="{A4E4DC2E-E622-4D97-B3C8-837BF1828923}"/>
              </a:ext>
            </a:extLst>
          </p:cNvPr>
          <p:cNvSpPr>
            <a:spLocks noGrp="1"/>
          </p:cNvSpPr>
          <p:nvPr/>
        </p:nvSpPr>
        <p:spPr>
          <a:xfrm>
            <a:off x="3714750" y="3619500"/>
            <a:ext cx="5048250" cy="152400"/>
          </a:xfrm>
          <a:prstGeom prst="rect">
            <a:avLst/>
          </a:prstGeom>
          <a:solidFill>
            <a:srgbClr val="E8E0D2"/>
          </a:solidFill>
          <a:ln w="0">
            <a:solidFill>
              <a:srgbClr val="000000">
                <a:alpha val="0"/>
              </a:srgbClr>
            </a:solidFill>
            <a:prstDash val="solid"/>
          </a:ln>
        </p:spPr>
      </p:sp>
      <p:sp>
        <p:nvSpPr>
          <p:cNvPr id="19" name="Rectangle 18">
            <a:extLst>
              <a:ext uri="{FF2B5EF4-FFF2-40B4-BE49-F238E27FC236}">
                <a16:creationId xmlns:a16="http://schemas.microsoft.com/office/drawing/2014/main" id="{A076AA06-7057-4DD0-B30B-F8D7A287A655}"/>
              </a:ext>
            </a:extLst>
          </p:cNvPr>
          <p:cNvSpPr>
            <a:spLocks noGrp="1"/>
          </p:cNvSpPr>
          <p:nvPr/>
        </p:nvSpPr>
        <p:spPr>
          <a:xfrm>
            <a:off x="3714750" y="3619500"/>
            <a:ext cx="3836670" cy="152400"/>
          </a:xfrm>
          <a:prstGeom prst="rect">
            <a:avLst/>
          </a:prstGeom>
          <a:solidFill>
            <a:srgbClr val="F3B23C"/>
          </a:solidFill>
          <a:ln w="0">
            <a:solidFill>
              <a:srgbClr val="000000">
                <a:alpha val="0"/>
              </a:srgbClr>
            </a:solidFill>
            <a:prstDash val="solid"/>
          </a:ln>
        </p:spPr>
      </p:sp>
      <p:sp>
        <p:nvSpPr>
          <p:cNvPr id="20" name="Rectangle 19">
            <a:extLst>
              <a:ext uri="{FF2B5EF4-FFF2-40B4-BE49-F238E27FC236}">
                <a16:creationId xmlns:a16="http://schemas.microsoft.com/office/drawing/2014/main" id="{5325ED84-3EF6-419E-96C1-2268C486F040}"/>
              </a:ext>
            </a:extLst>
          </p:cNvPr>
          <p:cNvSpPr>
            <a:spLocks noGrp="1"/>
          </p:cNvSpPr>
          <p:nvPr/>
        </p:nvSpPr>
        <p:spPr>
          <a:xfrm>
            <a:off x="8858250" y="360045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D574F"/>
                </a:solidFill>
                <a:latin typeface="Aptos"/>
                <a:ea typeface="Aptos"/>
                <a:cs typeface="Aptos"/>
              </a:defRPr>
            </a:pPr>
            <a:r>
              <a:rPr sz="975" b="0">
                <a:solidFill>
                  <a:srgbClr val="5D574F"/>
                </a:solidFill>
                <a:latin typeface="Aptos"/>
                <a:ea typeface="Aptos"/>
                <a:cs typeface="Aptos"/>
              </a:rPr>
              <a:t>76</a:t>
            </a:r>
          </a:p>
        </p:txBody>
      </p:sp>
      <p:sp>
        <p:nvSpPr>
          <p:cNvPr id="21" name="Rectangle 20">
            <a:extLst>
              <a:ext uri="{FF2B5EF4-FFF2-40B4-BE49-F238E27FC236}">
                <a16:creationId xmlns:a16="http://schemas.microsoft.com/office/drawing/2014/main" id="{7F4EA721-5242-428E-9059-22B1C8ED0D8E}"/>
              </a:ext>
            </a:extLst>
          </p:cNvPr>
          <p:cNvSpPr>
            <a:spLocks noGrp="1"/>
          </p:cNvSpPr>
          <p:nvPr/>
        </p:nvSpPr>
        <p:spPr>
          <a:xfrm>
            <a:off x="1047750" y="4114800"/>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17201B"/>
                </a:solidFill>
                <a:latin typeface="Aptos"/>
                <a:ea typeface="Aptos"/>
                <a:cs typeface="Aptos"/>
              </a:defRPr>
            </a:pPr>
            <a:r>
              <a:rPr sz="1050" b="1">
                <a:solidFill>
                  <a:srgbClr val="17201B"/>
                </a:solidFill>
                <a:latin typeface="Aptos"/>
                <a:ea typeface="Aptos"/>
                <a:cs typeface="Aptos"/>
              </a:rPr>
              <a:t>Generic carbon app</a:t>
            </a:r>
          </a:p>
        </p:txBody>
      </p:sp>
      <p:sp>
        <p:nvSpPr>
          <p:cNvPr id="22" name="Rectangle 21">
            <a:extLst>
              <a:ext uri="{FF2B5EF4-FFF2-40B4-BE49-F238E27FC236}">
                <a16:creationId xmlns:a16="http://schemas.microsoft.com/office/drawing/2014/main" id="{FBC5975A-92E4-4642-B785-D04BF36AB8E1}"/>
              </a:ext>
            </a:extLst>
          </p:cNvPr>
          <p:cNvSpPr>
            <a:spLocks noGrp="1"/>
          </p:cNvSpPr>
          <p:nvPr/>
        </p:nvSpPr>
        <p:spPr>
          <a:xfrm>
            <a:off x="3714750" y="4133850"/>
            <a:ext cx="5048250" cy="152400"/>
          </a:xfrm>
          <a:prstGeom prst="rect">
            <a:avLst/>
          </a:prstGeom>
          <a:solidFill>
            <a:srgbClr val="E8E0D2"/>
          </a:solidFill>
          <a:ln w="0">
            <a:solidFill>
              <a:srgbClr val="000000">
                <a:alpha val="0"/>
              </a:srgbClr>
            </a:solidFill>
            <a:prstDash val="solid"/>
          </a:ln>
        </p:spPr>
      </p:sp>
      <p:sp>
        <p:nvSpPr>
          <p:cNvPr id="23" name="Rectangle 22">
            <a:extLst>
              <a:ext uri="{FF2B5EF4-FFF2-40B4-BE49-F238E27FC236}">
                <a16:creationId xmlns:a16="http://schemas.microsoft.com/office/drawing/2014/main" id="{73173135-326A-40EF-8F79-496AA2E13D4B}"/>
              </a:ext>
            </a:extLst>
          </p:cNvPr>
          <p:cNvSpPr>
            <a:spLocks noGrp="1"/>
          </p:cNvSpPr>
          <p:nvPr/>
        </p:nvSpPr>
        <p:spPr>
          <a:xfrm>
            <a:off x="3714750" y="4133850"/>
            <a:ext cx="2271713" cy="152400"/>
          </a:xfrm>
          <a:prstGeom prst="rect">
            <a:avLst/>
          </a:prstGeom>
          <a:solidFill>
            <a:srgbClr val="C45C3C"/>
          </a:solidFill>
          <a:ln w="0">
            <a:solidFill>
              <a:srgbClr val="000000">
                <a:alpha val="0"/>
              </a:srgbClr>
            </a:solidFill>
            <a:prstDash val="solid"/>
          </a:ln>
        </p:spPr>
      </p:sp>
      <p:sp>
        <p:nvSpPr>
          <p:cNvPr id="24" name="Rectangle 23">
            <a:extLst>
              <a:ext uri="{FF2B5EF4-FFF2-40B4-BE49-F238E27FC236}">
                <a16:creationId xmlns:a16="http://schemas.microsoft.com/office/drawing/2014/main" id="{06EACC3C-DA89-4DF6-A808-DA6AB31DA756}"/>
              </a:ext>
            </a:extLst>
          </p:cNvPr>
          <p:cNvSpPr>
            <a:spLocks noGrp="1"/>
          </p:cNvSpPr>
          <p:nvPr/>
        </p:nvSpPr>
        <p:spPr>
          <a:xfrm>
            <a:off x="8858250" y="4114800"/>
            <a:ext cx="4572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5D574F"/>
                </a:solidFill>
                <a:latin typeface="Aptos"/>
                <a:ea typeface="Aptos"/>
                <a:cs typeface="Aptos"/>
              </a:defRPr>
            </a:pPr>
            <a:r>
              <a:rPr sz="975" b="0">
                <a:solidFill>
                  <a:srgbClr val="5D574F"/>
                </a:solidFill>
                <a:latin typeface="Aptos"/>
                <a:ea typeface="Aptos"/>
                <a:cs typeface="Aptos"/>
              </a:rPr>
              <a:t>45</a:t>
            </a:r>
          </a:p>
        </p:txBody>
      </p:sp>
      <p:sp>
        <p:nvSpPr>
          <p:cNvPr id="25" name="Rectangle 24">
            <a:extLst>
              <a:ext uri="{FF2B5EF4-FFF2-40B4-BE49-F238E27FC236}">
                <a16:creationId xmlns:a16="http://schemas.microsoft.com/office/drawing/2014/main" id="{7E98CB35-6CE5-4CB8-8D4E-B29138853805}"/>
              </a:ext>
            </a:extLst>
          </p:cNvPr>
          <p:cNvSpPr>
            <a:spLocks noGrp="1"/>
          </p:cNvSpPr>
          <p:nvPr/>
        </p:nvSpPr>
        <p:spPr>
          <a:xfrm>
            <a:off x="7810500" y="2171700"/>
            <a:ext cx="2952750" cy="2095500"/>
          </a:xfrm>
          <a:prstGeom prst="rect">
            <a:avLst/>
          </a:prstGeom>
          <a:solidFill>
            <a:srgbClr val="FFFFFF"/>
          </a:solidFill>
          <a:ln w="9525">
            <a:solidFill>
              <a:srgbClr val="D9D1C2"/>
            </a:solidFill>
            <a:prstDash val="solid"/>
          </a:ln>
        </p:spPr>
      </p:sp>
      <p:sp>
        <p:nvSpPr>
          <p:cNvPr id="26" name="Rectangle 25">
            <a:extLst>
              <a:ext uri="{FF2B5EF4-FFF2-40B4-BE49-F238E27FC236}">
                <a16:creationId xmlns:a16="http://schemas.microsoft.com/office/drawing/2014/main" id="{5D043F17-F098-44CF-889B-9C7AD307CF7D}"/>
              </a:ext>
            </a:extLst>
          </p:cNvPr>
          <p:cNvSpPr>
            <a:spLocks noGrp="1"/>
          </p:cNvSpPr>
          <p:nvPr/>
        </p:nvSpPr>
        <p:spPr>
          <a:xfrm>
            <a:off x="8001000" y="2343150"/>
            <a:ext cx="2571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Why selected</a:t>
            </a:r>
          </a:p>
        </p:txBody>
      </p:sp>
      <p:sp>
        <p:nvSpPr>
          <p:cNvPr id="27" name="Rectangle 26">
            <a:extLst>
              <a:ext uri="{FF2B5EF4-FFF2-40B4-BE49-F238E27FC236}">
                <a16:creationId xmlns:a16="http://schemas.microsoft.com/office/drawing/2014/main" id="{8A5B2AEB-E687-445A-A31D-E250C7C28AAF}"/>
              </a:ext>
            </a:extLst>
          </p:cNvPr>
          <p:cNvSpPr>
            <a:spLocks noGrp="1"/>
          </p:cNvSpPr>
          <p:nvPr/>
        </p:nvSpPr>
        <p:spPr>
          <a:xfrm>
            <a:off x="8001000" y="2724150"/>
            <a:ext cx="2571750" cy="1409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Rare problem, visible demo, strong SDG fit, multiple AI components, and clear responsible-AI boundaries.</a:t>
            </a:r>
          </a:p>
        </p:txBody>
      </p:sp>
      <p:sp>
        <p:nvSpPr>
          <p:cNvPr id="28" name="Rectangle 27">
            <a:extLst>
              <a:ext uri="{FF2B5EF4-FFF2-40B4-BE49-F238E27FC236}">
                <a16:creationId xmlns:a16="http://schemas.microsoft.com/office/drawing/2014/main" id="{83BA0751-A8C0-4FD8-BBE2-F870A117BA12}"/>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9" name="Rectangle 28">
            <a:extLst>
              <a:ext uri="{FF2B5EF4-FFF2-40B4-BE49-F238E27FC236}">
                <a16:creationId xmlns:a16="http://schemas.microsoft.com/office/drawing/2014/main" id="{DF0F6D1A-B1B2-442D-929C-E28F5C633B47}"/>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30" name="Rectangle 29">
            <a:extLst>
              <a:ext uri="{FF2B5EF4-FFF2-40B4-BE49-F238E27FC236}">
                <a16:creationId xmlns:a16="http://schemas.microsoft.com/office/drawing/2014/main" id="{24F73DC3-BEEB-4A50-A70E-B4136ACA9829}"/>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04</a:t>
            </a:r>
          </a:p>
        </p:txBody>
      </p:sp>
    </p:spTree>
    <p:extLst>
      <p:ext uri="{BB962C8B-B14F-4D97-AF65-F5344CB8AC3E}">
        <p14:creationId xmlns:p14="http://schemas.microsoft.com/office/powerpoint/2010/main" val="359043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0182DC0-34BD-4C59-9AC5-2AD03D75F735}"/>
              </a:ext>
            </a:extLst>
          </p:cNvPr>
          <p:cNvSpPr>
            <a:spLocks noGrp="1"/>
          </p:cNvSpPr>
          <p:nvPr/>
        </p:nvSpPr>
        <p:spPr>
          <a:xfrm>
            <a:off x="0" y="0"/>
            <a:ext cx="12192000" cy="6858000"/>
          </a:xfrm>
          <a:prstGeom prst="rect">
            <a:avLst/>
          </a:prstGeom>
          <a:solidFill>
            <a:srgbClr val="17201B"/>
          </a:solidFill>
          <a:ln w="0">
            <a:solidFill>
              <a:srgbClr val="000000">
                <a:alpha val="0"/>
              </a:srgbClr>
            </a:solidFill>
            <a:prstDash val="solid"/>
          </a:ln>
        </p:spPr>
      </p:sp>
      <p:sp>
        <p:nvSpPr>
          <p:cNvPr id="2" name="kicker-5-marker">
            <a:extLst>
              <a:ext uri="{FF2B5EF4-FFF2-40B4-BE49-F238E27FC236}">
                <a16:creationId xmlns:a16="http://schemas.microsoft.com/office/drawing/2014/main" id="{D64B3831-8C9E-4222-A52B-C3CD2E322ED5}"/>
              </a:ext>
            </a:extLst>
          </p:cNvPr>
          <p:cNvSpPr>
            <a:spLocks noGrp="1"/>
          </p:cNvSpPr>
          <p:nvPr/>
        </p:nvSpPr>
        <p:spPr>
          <a:xfrm>
            <a:off x="552450" y="400050"/>
            <a:ext cx="266700" cy="57150"/>
          </a:xfrm>
          <a:prstGeom prst="rect">
            <a:avLst/>
          </a:prstGeom>
          <a:solidFill>
            <a:srgbClr val="F3B23C"/>
          </a:solidFill>
          <a:ln w="0">
            <a:solidFill>
              <a:srgbClr val="000000">
                <a:alpha val="0"/>
              </a:srgbClr>
            </a:solidFill>
            <a:prstDash val="solid"/>
          </a:ln>
        </p:spPr>
      </p:sp>
      <p:sp>
        <p:nvSpPr>
          <p:cNvPr id="3" name="kicker-5-label">
            <a:extLst>
              <a:ext uri="{FF2B5EF4-FFF2-40B4-BE49-F238E27FC236}">
                <a16:creationId xmlns:a16="http://schemas.microsoft.com/office/drawing/2014/main" id="{3117290C-2119-46FE-95DF-9EC55BB06E41}"/>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PROBLEM STATEMENT</a:t>
            </a:r>
          </a:p>
        </p:txBody>
      </p:sp>
      <p:sp>
        <p:nvSpPr>
          <p:cNvPr id="4" name="Rectangle 3">
            <a:extLst>
              <a:ext uri="{FF2B5EF4-FFF2-40B4-BE49-F238E27FC236}">
                <a16:creationId xmlns:a16="http://schemas.microsoft.com/office/drawing/2014/main" id="{5AD4AE2F-69B6-40E2-8A9E-9960F74BBAFF}"/>
              </a:ext>
            </a:extLst>
          </p:cNvPr>
          <p:cNvSpPr>
            <a:spLocks noGrp="1"/>
          </p:cNvSpPr>
          <p:nvPr/>
        </p:nvSpPr>
        <p:spPr>
          <a:xfrm>
            <a:off x="990600" y="1428750"/>
            <a:ext cx="9334500" cy="2857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How might we use AI to predict hyperlocal heat exposure and recommend safer routes, schedules, rest breaks, water access, and shade interventions so that campuses and outdoor work zones become more climate-resilient, inclusive, and sustainable?</a:t>
            </a:r>
          </a:p>
        </p:txBody>
      </p:sp>
      <p:pic>
        <p:nvPicPr>
          <p:cNvPr id="5" name="Graphic 4"/>
          <p:cNvPicPr>
            <a:picLocks noChangeAspect="1"/>
          </p:cNvPicPr>
          <p:nvPr/>
        </p:nvPicPr>
        <p:blipFill>
          <a:blip>
            <a:extLst>
              <a:ext uri="{96DAC541-7B7A-43D3-8B79-37D633B846F1}">
                <asvg:svgBlip xmlns:asvg="http://schemas.microsoft.com/office/drawing/2016/SVG/main" r:embed="rId3"/>
              </a:ext>
            </a:extLst>
          </a:blip>
          <a:stretch/>
        </p:blipFill>
        <p:spPr>
          <a:xfrm>
            <a:off x="1543050" y="4762500"/>
            <a:ext cx="419100" cy="419100"/>
          </a:xfrm>
          <a:prstGeom prst="rect">
            <a:avLst/>
          </a:prstGeom>
        </p:spPr>
      </p:pic>
      <p:pic>
        <p:nvPicPr>
          <p:cNvPr id="6" name="Graphic 5"/>
          <p:cNvPicPr>
            <a:picLocks noChangeAspect="1"/>
          </p:cNvPicPr>
          <p:nvPr/>
        </p:nvPicPr>
        <p:blipFill>
          <a:blip>
            <a:extLst>
              <a:ext uri="{96DAC541-7B7A-43D3-8B79-37D633B846F1}">
                <asvg:svgBlip xmlns:asvg="http://schemas.microsoft.com/office/drawing/2016/SVG/main" r:embed="rId4"/>
              </a:ext>
            </a:extLst>
          </a:blip>
          <a:stretch/>
        </p:blipFill>
        <p:spPr>
          <a:xfrm>
            <a:off x="2686050" y="4762500"/>
            <a:ext cx="419100" cy="419100"/>
          </a:xfrm>
          <a:prstGeom prst="rect">
            <a:avLst/>
          </a:prstGeom>
        </p:spPr>
      </p:pic>
      <p:pic>
        <p:nvPicPr>
          <p:cNvPr id="7" name="Graphic 6"/>
          <p:cNvPicPr>
            <a:picLocks noChangeAspect="1"/>
          </p:cNvPicPr>
          <p:nvPr/>
        </p:nvPicPr>
        <p:blipFill>
          <a:blip>
            <a:extLst>
              <a:ext uri="{96DAC541-7B7A-43D3-8B79-37D633B846F1}">
                <asvg:svgBlip xmlns:asvg="http://schemas.microsoft.com/office/drawing/2016/SVG/main" r:embed="rId5"/>
              </a:ext>
            </a:extLst>
          </a:blip>
          <a:stretch/>
        </p:blipFill>
        <p:spPr>
          <a:xfrm>
            <a:off x="3829050" y="4762500"/>
            <a:ext cx="419100" cy="419100"/>
          </a:xfrm>
          <a:prstGeom prst="rect">
            <a:avLst/>
          </a:prstGeom>
        </p:spPr>
      </p:pic>
      <p:pic>
        <p:nvPicPr>
          <p:cNvPr id="8" name="Graphic 7"/>
          <p:cNvPicPr>
            <a:picLocks noChangeAspect="1"/>
          </p:cNvPicPr>
          <p:nvPr/>
        </p:nvPicPr>
        <p:blipFill>
          <a:blip>
            <a:extLst>
              <a:ext uri="{96DAC541-7B7A-43D3-8B79-37D633B846F1}">
                <asvg:svgBlip xmlns:asvg="http://schemas.microsoft.com/office/drawing/2016/SVG/main" r:embed="rId6"/>
              </a:ext>
            </a:extLst>
          </a:blip>
          <a:stretch/>
        </p:blipFill>
        <p:spPr>
          <a:xfrm>
            <a:off x="4972050" y="4762500"/>
            <a:ext cx="419100" cy="419100"/>
          </a:xfrm>
          <a:prstGeom prst="rect">
            <a:avLst/>
          </a:prstGeom>
        </p:spPr>
      </p:pic>
      <p:pic>
        <p:nvPicPr>
          <p:cNvPr id="9" name="Graphic 8"/>
          <p:cNvPicPr>
            <a:picLocks noChangeAspect="1"/>
          </p:cNvPicPr>
          <p:nvPr/>
        </p:nvPicPr>
        <p:blipFill>
          <a:blip>
            <a:extLst>
              <a:ext uri="{96DAC541-7B7A-43D3-8B79-37D633B846F1}">
                <asvg:svgBlip xmlns:asvg="http://schemas.microsoft.com/office/drawing/2016/SVG/main" r:embed="rId7"/>
              </a:ext>
            </a:extLst>
          </a:blip>
          <a:stretch/>
        </p:blipFill>
        <p:spPr>
          <a:xfrm>
            <a:off x="6115050" y="4762500"/>
            <a:ext cx="419100" cy="419100"/>
          </a:xfrm>
          <a:prstGeom prst="rect">
            <a:avLst/>
          </a:prstGeom>
        </p:spPr>
      </p:pic>
      <p:sp>
        <p:nvSpPr>
          <p:cNvPr id="10" name="Rectangle 9">
            <a:extLst>
              <a:ext uri="{FF2B5EF4-FFF2-40B4-BE49-F238E27FC236}">
                <a16:creationId xmlns:a16="http://schemas.microsoft.com/office/drawing/2014/main" id="{C07ABEE4-A0D0-4972-B2CA-45F3AC948302}"/>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1" name="Rectangle 10">
            <a:extLst>
              <a:ext uri="{FF2B5EF4-FFF2-40B4-BE49-F238E27FC236}">
                <a16:creationId xmlns:a16="http://schemas.microsoft.com/office/drawing/2014/main" id="{336B5C58-5C23-453F-9E8D-0B15221F0373}"/>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2" name="Rectangle 11">
            <a:extLst>
              <a:ext uri="{FF2B5EF4-FFF2-40B4-BE49-F238E27FC236}">
                <a16:creationId xmlns:a16="http://schemas.microsoft.com/office/drawing/2014/main" id="{963C323D-92DA-4BBC-8C6F-A2BD4D1B6EFB}"/>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05</a:t>
            </a:r>
          </a:p>
        </p:txBody>
      </p:sp>
    </p:spTree>
    <p:extLst>
      <p:ext uri="{BB962C8B-B14F-4D97-AF65-F5344CB8AC3E}">
        <p14:creationId xmlns:p14="http://schemas.microsoft.com/office/powerpoint/2010/main" val="1017850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35C9C9C-0BB9-468C-9833-A679D22D0EF1}"/>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6-marker">
            <a:extLst>
              <a:ext uri="{FF2B5EF4-FFF2-40B4-BE49-F238E27FC236}">
                <a16:creationId xmlns:a16="http://schemas.microsoft.com/office/drawing/2014/main" id="{ED49A476-24DF-4DBE-A701-61921FBED987}"/>
              </a:ext>
            </a:extLst>
          </p:cNvPr>
          <p:cNvSpPr>
            <a:spLocks noGrp="1"/>
          </p:cNvSpPr>
          <p:nvPr/>
        </p:nvSpPr>
        <p:spPr>
          <a:xfrm>
            <a:off x="552450" y="400050"/>
            <a:ext cx="266700" cy="57150"/>
          </a:xfrm>
          <a:prstGeom prst="rect">
            <a:avLst/>
          </a:prstGeom>
          <a:solidFill>
            <a:srgbClr val="3F7F95"/>
          </a:solidFill>
          <a:ln w="0">
            <a:solidFill>
              <a:srgbClr val="000000">
                <a:alpha val="0"/>
              </a:srgbClr>
            </a:solidFill>
            <a:prstDash val="solid"/>
          </a:ln>
        </p:spPr>
      </p:sp>
      <p:sp>
        <p:nvSpPr>
          <p:cNvPr id="3" name="kicker-6-label">
            <a:extLst>
              <a:ext uri="{FF2B5EF4-FFF2-40B4-BE49-F238E27FC236}">
                <a16:creationId xmlns:a16="http://schemas.microsoft.com/office/drawing/2014/main" id="{E9B83723-7233-4E69-8C8E-C646B92AD6E2}"/>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SDG ALIGNMENT</a:t>
            </a:r>
          </a:p>
        </p:txBody>
      </p:sp>
      <p:sp>
        <p:nvSpPr>
          <p:cNvPr id="4" name="Rectangle 3">
            <a:extLst>
              <a:ext uri="{FF2B5EF4-FFF2-40B4-BE49-F238E27FC236}">
                <a16:creationId xmlns:a16="http://schemas.microsoft.com/office/drawing/2014/main" id="{9344B6DF-9B52-4B2E-9528-ED26A27A4675}"/>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SDG 11 is the anchor: safer and more resilient local environments.</a:t>
            </a:r>
          </a:p>
        </p:txBody>
      </p:sp>
      <p:sp>
        <p:nvSpPr>
          <p:cNvPr id="5" name="Rectangle 4">
            <a:extLst>
              <a:ext uri="{FF2B5EF4-FFF2-40B4-BE49-F238E27FC236}">
                <a16:creationId xmlns:a16="http://schemas.microsoft.com/office/drawing/2014/main" id="{5BCF3217-5986-4393-B187-0D0BEE0935FA}"/>
              </a:ext>
            </a:extLst>
          </p:cNvPr>
          <p:cNvSpPr>
            <a:spLocks noGrp="1"/>
          </p:cNvSpPr>
          <p:nvPr/>
        </p:nvSpPr>
        <p:spPr>
          <a:xfrm>
            <a:off x="742950" y="2095500"/>
            <a:ext cx="3143250" cy="219075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84933DDB-FA37-4F51-95D4-620E5D1BE913}"/>
              </a:ext>
            </a:extLst>
          </p:cNvPr>
          <p:cNvSpPr>
            <a:spLocks noGrp="1"/>
          </p:cNvSpPr>
          <p:nvPr/>
        </p:nvSpPr>
        <p:spPr>
          <a:xfrm>
            <a:off x="933450" y="2266950"/>
            <a:ext cx="2762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Primary SDG 11</a:t>
            </a:r>
          </a:p>
        </p:txBody>
      </p:sp>
      <p:sp>
        <p:nvSpPr>
          <p:cNvPr id="7" name="Rectangle 6">
            <a:extLst>
              <a:ext uri="{FF2B5EF4-FFF2-40B4-BE49-F238E27FC236}">
                <a16:creationId xmlns:a16="http://schemas.microsoft.com/office/drawing/2014/main" id="{2B79C260-9E3B-4936-8891-9249AA3892C2}"/>
              </a:ext>
            </a:extLst>
          </p:cNvPr>
          <p:cNvSpPr>
            <a:spLocks noGrp="1"/>
          </p:cNvSpPr>
          <p:nvPr/>
        </p:nvSpPr>
        <p:spPr>
          <a:xfrm>
            <a:off x="933450" y="2647950"/>
            <a:ext cx="276225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Sustainable Cities and Communities: identify heat hotspots and prioritize shade, water, cool routes, and local adaptation.</a:t>
            </a:r>
          </a:p>
        </p:txBody>
      </p:sp>
      <p:sp>
        <p:nvSpPr>
          <p:cNvPr id="8" name="Rectangle 7">
            <a:extLst>
              <a:ext uri="{FF2B5EF4-FFF2-40B4-BE49-F238E27FC236}">
                <a16:creationId xmlns:a16="http://schemas.microsoft.com/office/drawing/2014/main" id="{CEA8CE02-460E-489E-A4B5-5FFCB35ACDAD}"/>
              </a:ext>
            </a:extLst>
          </p:cNvPr>
          <p:cNvSpPr>
            <a:spLocks noGrp="1"/>
          </p:cNvSpPr>
          <p:nvPr/>
        </p:nvSpPr>
        <p:spPr>
          <a:xfrm>
            <a:off x="4514850" y="2095500"/>
            <a:ext cx="3143250" cy="2190750"/>
          </a:xfrm>
          <a:prstGeom prst="rect">
            <a:avLst/>
          </a:prstGeom>
          <a:solidFill>
            <a:srgbClr val="FFFFFF"/>
          </a:solidFill>
          <a:ln w="9525">
            <a:solidFill>
              <a:srgbClr val="D9D1C2"/>
            </a:solidFill>
            <a:prstDash val="solid"/>
          </a:ln>
        </p:spPr>
      </p:sp>
      <p:sp>
        <p:nvSpPr>
          <p:cNvPr id="9" name="Rectangle 8">
            <a:extLst>
              <a:ext uri="{FF2B5EF4-FFF2-40B4-BE49-F238E27FC236}">
                <a16:creationId xmlns:a16="http://schemas.microsoft.com/office/drawing/2014/main" id="{1BFB57DE-322F-44D9-AD15-CFD11FC22AE2}"/>
              </a:ext>
            </a:extLst>
          </p:cNvPr>
          <p:cNvSpPr>
            <a:spLocks noGrp="1"/>
          </p:cNvSpPr>
          <p:nvPr/>
        </p:nvSpPr>
        <p:spPr>
          <a:xfrm>
            <a:off x="4705350" y="2266950"/>
            <a:ext cx="2762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Secondary SDG 3</a:t>
            </a:r>
          </a:p>
        </p:txBody>
      </p:sp>
      <p:sp>
        <p:nvSpPr>
          <p:cNvPr id="10" name="Rectangle 9">
            <a:extLst>
              <a:ext uri="{FF2B5EF4-FFF2-40B4-BE49-F238E27FC236}">
                <a16:creationId xmlns:a16="http://schemas.microsoft.com/office/drawing/2014/main" id="{E12E988E-D862-4514-986C-70510EB10A58}"/>
              </a:ext>
            </a:extLst>
          </p:cNvPr>
          <p:cNvSpPr>
            <a:spLocks noGrp="1"/>
          </p:cNvSpPr>
          <p:nvPr/>
        </p:nvSpPr>
        <p:spPr>
          <a:xfrm>
            <a:off x="4705350" y="2647950"/>
            <a:ext cx="276225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Good Health and Well-being: prevent heat stress through practical risk guidance and human escalation.</a:t>
            </a:r>
          </a:p>
        </p:txBody>
      </p:sp>
      <p:sp>
        <p:nvSpPr>
          <p:cNvPr id="11" name="Rectangle 10">
            <a:extLst>
              <a:ext uri="{FF2B5EF4-FFF2-40B4-BE49-F238E27FC236}">
                <a16:creationId xmlns:a16="http://schemas.microsoft.com/office/drawing/2014/main" id="{FEAEF3E2-7BF1-4287-9843-5F587E0B6D75}"/>
              </a:ext>
            </a:extLst>
          </p:cNvPr>
          <p:cNvSpPr>
            <a:spLocks noGrp="1"/>
          </p:cNvSpPr>
          <p:nvPr/>
        </p:nvSpPr>
        <p:spPr>
          <a:xfrm>
            <a:off x="8286750" y="2095500"/>
            <a:ext cx="3143250" cy="2190750"/>
          </a:xfrm>
          <a:prstGeom prst="rect">
            <a:avLst/>
          </a:prstGeom>
          <a:solidFill>
            <a:srgbClr val="FFFFFF"/>
          </a:solidFill>
          <a:ln w="9525">
            <a:solidFill>
              <a:srgbClr val="D9D1C2"/>
            </a:solidFill>
            <a:prstDash val="solid"/>
          </a:ln>
        </p:spPr>
      </p:sp>
      <p:sp>
        <p:nvSpPr>
          <p:cNvPr id="12" name="Rectangle 11">
            <a:extLst>
              <a:ext uri="{FF2B5EF4-FFF2-40B4-BE49-F238E27FC236}">
                <a16:creationId xmlns:a16="http://schemas.microsoft.com/office/drawing/2014/main" id="{A441E910-3298-4FF5-96D2-E1D0289375E8}"/>
              </a:ext>
            </a:extLst>
          </p:cNvPr>
          <p:cNvSpPr>
            <a:spLocks noGrp="1"/>
          </p:cNvSpPr>
          <p:nvPr/>
        </p:nvSpPr>
        <p:spPr>
          <a:xfrm>
            <a:off x="8477250" y="2266950"/>
            <a:ext cx="2762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Secondary SDG 13</a:t>
            </a:r>
          </a:p>
        </p:txBody>
      </p:sp>
      <p:sp>
        <p:nvSpPr>
          <p:cNvPr id="13" name="Rectangle 12">
            <a:extLst>
              <a:ext uri="{FF2B5EF4-FFF2-40B4-BE49-F238E27FC236}">
                <a16:creationId xmlns:a16="http://schemas.microsoft.com/office/drawing/2014/main" id="{F9F545CA-6A6A-4E82-B719-08216E7484ED}"/>
              </a:ext>
            </a:extLst>
          </p:cNvPr>
          <p:cNvSpPr>
            <a:spLocks noGrp="1"/>
          </p:cNvSpPr>
          <p:nvPr/>
        </p:nvSpPr>
        <p:spPr>
          <a:xfrm>
            <a:off x="8477250" y="2647950"/>
            <a:ext cx="276225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Climate Action: prepare institutions for more frequent and intense extreme heat conditions.</a:t>
            </a:r>
          </a:p>
        </p:txBody>
      </p:sp>
      <p:sp>
        <p:nvSpPr>
          <p:cNvPr id="14" name="Rectangle 13">
            <a:extLst>
              <a:ext uri="{FF2B5EF4-FFF2-40B4-BE49-F238E27FC236}">
                <a16:creationId xmlns:a16="http://schemas.microsoft.com/office/drawing/2014/main" id="{28FC0FDE-1093-43E9-B0D3-3565340A3D9F}"/>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5" name="Rectangle 14">
            <a:extLst>
              <a:ext uri="{FF2B5EF4-FFF2-40B4-BE49-F238E27FC236}">
                <a16:creationId xmlns:a16="http://schemas.microsoft.com/office/drawing/2014/main" id="{B92FFA72-0D3E-4A56-A320-8BCF1D69578B}"/>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6" name="Rectangle 15">
            <a:extLst>
              <a:ext uri="{FF2B5EF4-FFF2-40B4-BE49-F238E27FC236}">
                <a16:creationId xmlns:a16="http://schemas.microsoft.com/office/drawing/2014/main" id="{A524EBF7-3299-4C51-9E1B-6057B68724BA}"/>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06</a:t>
            </a:r>
          </a:p>
        </p:txBody>
      </p:sp>
    </p:spTree>
    <p:extLst>
      <p:ext uri="{BB962C8B-B14F-4D97-AF65-F5344CB8AC3E}">
        <p14:creationId xmlns:p14="http://schemas.microsoft.com/office/powerpoint/2010/main" val="36164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CADA717-78D2-47E3-AE72-1EC9A6CD7D9F}"/>
              </a:ext>
            </a:extLst>
          </p:cNvPr>
          <p:cNvSpPr>
            <a:spLocks noGrp="1"/>
          </p:cNvSpPr>
          <p:nvPr/>
        </p:nvSpPr>
        <p:spPr>
          <a:xfrm>
            <a:off x="0" y="0"/>
            <a:ext cx="12192000" cy="6858000"/>
          </a:xfrm>
          <a:prstGeom prst="rect">
            <a:avLst/>
          </a:prstGeom>
          <a:solidFill>
            <a:srgbClr val="F7F1E5"/>
          </a:solidFill>
          <a:ln w="0">
            <a:solidFill>
              <a:srgbClr val="000000">
                <a:alpha val="0"/>
              </a:srgbClr>
            </a:solidFill>
            <a:prstDash val="solid"/>
          </a:ln>
        </p:spPr>
      </p:sp>
      <p:sp>
        <p:nvSpPr>
          <p:cNvPr id="2" name="kicker-7-marker">
            <a:extLst>
              <a:ext uri="{FF2B5EF4-FFF2-40B4-BE49-F238E27FC236}">
                <a16:creationId xmlns:a16="http://schemas.microsoft.com/office/drawing/2014/main" id="{8C167C42-097B-4E5B-884B-8A026CC98268}"/>
              </a:ext>
            </a:extLst>
          </p:cNvPr>
          <p:cNvSpPr>
            <a:spLocks noGrp="1"/>
          </p:cNvSpPr>
          <p:nvPr/>
        </p:nvSpPr>
        <p:spPr>
          <a:xfrm>
            <a:off x="552450" y="400050"/>
            <a:ext cx="266700" cy="57150"/>
          </a:xfrm>
          <a:prstGeom prst="rect">
            <a:avLst/>
          </a:prstGeom>
          <a:solidFill>
            <a:srgbClr val="466A45"/>
          </a:solidFill>
          <a:ln w="0">
            <a:solidFill>
              <a:srgbClr val="000000">
                <a:alpha val="0"/>
              </a:srgbClr>
            </a:solidFill>
            <a:prstDash val="solid"/>
          </a:ln>
        </p:spPr>
      </p:sp>
      <p:sp>
        <p:nvSpPr>
          <p:cNvPr id="3" name="kicker-7-label">
            <a:extLst>
              <a:ext uri="{FF2B5EF4-FFF2-40B4-BE49-F238E27FC236}">
                <a16:creationId xmlns:a16="http://schemas.microsoft.com/office/drawing/2014/main" id="{440B921A-CE45-465C-A8DA-A3CE706606F4}"/>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TARGET USERS</a:t>
            </a:r>
          </a:p>
        </p:txBody>
      </p:sp>
      <p:sp>
        <p:nvSpPr>
          <p:cNvPr id="4" name="Rectangle 3">
            <a:extLst>
              <a:ext uri="{FF2B5EF4-FFF2-40B4-BE49-F238E27FC236}">
                <a16:creationId xmlns:a16="http://schemas.microsoft.com/office/drawing/2014/main" id="{19F59257-8251-4A45-97CA-BA248F7A2254}"/>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ThermaRoute AI protects people with unequal exposure and low schedule control.</a:t>
            </a:r>
          </a:p>
        </p:txBody>
      </p:sp>
      <p:sp>
        <p:nvSpPr>
          <p:cNvPr id="5" name="Rectangle 4">
            <a:extLst>
              <a:ext uri="{FF2B5EF4-FFF2-40B4-BE49-F238E27FC236}">
                <a16:creationId xmlns:a16="http://schemas.microsoft.com/office/drawing/2014/main" id="{C97CC529-7774-42D4-B9B2-3D659E1928E1}"/>
              </a:ext>
            </a:extLst>
          </p:cNvPr>
          <p:cNvSpPr>
            <a:spLocks noGrp="1"/>
          </p:cNvSpPr>
          <p:nvPr/>
        </p:nvSpPr>
        <p:spPr>
          <a:xfrm>
            <a:off x="781050" y="2095500"/>
            <a:ext cx="3048000" cy="104775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CBDF626B-A3B5-4AAF-A16B-1CFFC2C800A4}"/>
              </a:ext>
            </a:extLst>
          </p:cNvPr>
          <p:cNvSpPr>
            <a:spLocks noGrp="1"/>
          </p:cNvSpPr>
          <p:nvPr/>
        </p:nvSpPr>
        <p:spPr>
          <a:xfrm>
            <a:off x="971550" y="226695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Students</a:t>
            </a:r>
          </a:p>
        </p:txBody>
      </p:sp>
      <p:sp>
        <p:nvSpPr>
          <p:cNvPr id="7" name="Rectangle 6">
            <a:extLst>
              <a:ext uri="{FF2B5EF4-FFF2-40B4-BE49-F238E27FC236}">
                <a16:creationId xmlns:a16="http://schemas.microsoft.com/office/drawing/2014/main" id="{A0F325D5-2696-4AA6-802D-DD53E3636C34}"/>
              </a:ext>
            </a:extLst>
          </p:cNvPr>
          <p:cNvSpPr>
            <a:spLocks noGrp="1"/>
          </p:cNvSpPr>
          <p:nvPr/>
        </p:nvSpPr>
        <p:spPr>
          <a:xfrm>
            <a:off x="971550" y="2647950"/>
            <a:ext cx="2667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long walks across exposed routes</a:t>
            </a:r>
          </a:p>
        </p:txBody>
      </p:sp>
      <p:sp>
        <p:nvSpPr>
          <p:cNvPr id="8" name="Rectangle 7">
            <a:extLst>
              <a:ext uri="{FF2B5EF4-FFF2-40B4-BE49-F238E27FC236}">
                <a16:creationId xmlns:a16="http://schemas.microsoft.com/office/drawing/2014/main" id="{49CEC169-6F38-4372-AF6F-C17857DFB3EA}"/>
              </a:ext>
            </a:extLst>
          </p:cNvPr>
          <p:cNvSpPr>
            <a:spLocks noGrp="1"/>
          </p:cNvSpPr>
          <p:nvPr/>
        </p:nvSpPr>
        <p:spPr>
          <a:xfrm>
            <a:off x="4324350" y="2095500"/>
            <a:ext cx="3048000" cy="1047750"/>
          </a:xfrm>
          <a:prstGeom prst="rect">
            <a:avLst/>
          </a:prstGeom>
          <a:solidFill>
            <a:srgbClr val="FFFFFF"/>
          </a:solidFill>
          <a:ln w="9525">
            <a:solidFill>
              <a:srgbClr val="D9D1C2"/>
            </a:solidFill>
            <a:prstDash val="solid"/>
          </a:ln>
        </p:spPr>
      </p:sp>
      <p:sp>
        <p:nvSpPr>
          <p:cNvPr id="9" name="Rectangle 8">
            <a:extLst>
              <a:ext uri="{FF2B5EF4-FFF2-40B4-BE49-F238E27FC236}">
                <a16:creationId xmlns:a16="http://schemas.microsoft.com/office/drawing/2014/main" id="{5CDEF906-F38C-46F0-B761-C549DA033718}"/>
              </a:ext>
            </a:extLst>
          </p:cNvPr>
          <p:cNvSpPr>
            <a:spLocks noGrp="1"/>
          </p:cNvSpPr>
          <p:nvPr/>
        </p:nvSpPr>
        <p:spPr>
          <a:xfrm>
            <a:off x="4514850" y="226695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Security staff</a:t>
            </a:r>
          </a:p>
        </p:txBody>
      </p:sp>
      <p:sp>
        <p:nvSpPr>
          <p:cNvPr id="10" name="Rectangle 9">
            <a:extLst>
              <a:ext uri="{FF2B5EF4-FFF2-40B4-BE49-F238E27FC236}">
                <a16:creationId xmlns:a16="http://schemas.microsoft.com/office/drawing/2014/main" id="{4B05D85A-F677-4544-9BFA-1E4D58456F17}"/>
              </a:ext>
            </a:extLst>
          </p:cNvPr>
          <p:cNvSpPr>
            <a:spLocks noGrp="1"/>
          </p:cNvSpPr>
          <p:nvPr/>
        </p:nvSpPr>
        <p:spPr>
          <a:xfrm>
            <a:off x="4514850" y="2647950"/>
            <a:ext cx="2667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fixed outdoor posts</a:t>
            </a:r>
          </a:p>
        </p:txBody>
      </p:sp>
      <p:sp>
        <p:nvSpPr>
          <p:cNvPr id="11" name="Rectangle 10">
            <a:extLst>
              <a:ext uri="{FF2B5EF4-FFF2-40B4-BE49-F238E27FC236}">
                <a16:creationId xmlns:a16="http://schemas.microsoft.com/office/drawing/2014/main" id="{648E3579-C48C-418F-905C-52F4B6BFEBDE}"/>
              </a:ext>
            </a:extLst>
          </p:cNvPr>
          <p:cNvSpPr>
            <a:spLocks noGrp="1"/>
          </p:cNvSpPr>
          <p:nvPr/>
        </p:nvSpPr>
        <p:spPr>
          <a:xfrm>
            <a:off x="7867650" y="2095500"/>
            <a:ext cx="3048000" cy="1047750"/>
          </a:xfrm>
          <a:prstGeom prst="rect">
            <a:avLst/>
          </a:prstGeom>
          <a:solidFill>
            <a:srgbClr val="FFFFFF"/>
          </a:solidFill>
          <a:ln w="9525">
            <a:solidFill>
              <a:srgbClr val="D9D1C2"/>
            </a:solidFill>
            <a:prstDash val="solid"/>
          </a:ln>
        </p:spPr>
      </p:sp>
      <p:sp>
        <p:nvSpPr>
          <p:cNvPr id="12" name="Rectangle 11">
            <a:extLst>
              <a:ext uri="{FF2B5EF4-FFF2-40B4-BE49-F238E27FC236}">
                <a16:creationId xmlns:a16="http://schemas.microsoft.com/office/drawing/2014/main" id="{66081518-9A3F-41F9-89DA-D33B1CD12E90}"/>
              </a:ext>
            </a:extLst>
          </p:cNvPr>
          <p:cNvSpPr>
            <a:spLocks noGrp="1"/>
          </p:cNvSpPr>
          <p:nvPr/>
        </p:nvSpPr>
        <p:spPr>
          <a:xfrm>
            <a:off x="8058150" y="226695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Sanitation teams</a:t>
            </a:r>
          </a:p>
        </p:txBody>
      </p:sp>
      <p:sp>
        <p:nvSpPr>
          <p:cNvPr id="13" name="Rectangle 12">
            <a:extLst>
              <a:ext uri="{FF2B5EF4-FFF2-40B4-BE49-F238E27FC236}">
                <a16:creationId xmlns:a16="http://schemas.microsoft.com/office/drawing/2014/main" id="{1B589793-1F43-4234-B93C-DEBED0319807}"/>
              </a:ext>
            </a:extLst>
          </p:cNvPr>
          <p:cNvSpPr>
            <a:spLocks noGrp="1"/>
          </p:cNvSpPr>
          <p:nvPr/>
        </p:nvSpPr>
        <p:spPr>
          <a:xfrm>
            <a:off x="8058150" y="2647950"/>
            <a:ext cx="2667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physical work in open areas</a:t>
            </a:r>
          </a:p>
        </p:txBody>
      </p:sp>
      <p:sp>
        <p:nvSpPr>
          <p:cNvPr id="14" name="Rectangle 13">
            <a:extLst>
              <a:ext uri="{FF2B5EF4-FFF2-40B4-BE49-F238E27FC236}">
                <a16:creationId xmlns:a16="http://schemas.microsoft.com/office/drawing/2014/main" id="{71D0A723-995E-4B67-8B06-852A63B79BD4}"/>
              </a:ext>
            </a:extLst>
          </p:cNvPr>
          <p:cNvSpPr>
            <a:spLocks noGrp="1"/>
          </p:cNvSpPr>
          <p:nvPr/>
        </p:nvSpPr>
        <p:spPr>
          <a:xfrm>
            <a:off x="781050" y="3524250"/>
            <a:ext cx="3048000" cy="1047750"/>
          </a:xfrm>
          <a:prstGeom prst="rect">
            <a:avLst/>
          </a:prstGeom>
          <a:solidFill>
            <a:srgbClr val="FFFFFF"/>
          </a:solidFill>
          <a:ln w="9525">
            <a:solidFill>
              <a:srgbClr val="D9D1C2"/>
            </a:solidFill>
            <a:prstDash val="solid"/>
          </a:ln>
        </p:spPr>
      </p:sp>
      <p:sp>
        <p:nvSpPr>
          <p:cNvPr id="15" name="Rectangle 14">
            <a:extLst>
              <a:ext uri="{FF2B5EF4-FFF2-40B4-BE49-F238E27FC236}">
                <a16:creationId xmlns:a16="http://schemas.microsoft.com/office/drawing/2014/main" id="{8ED1C0DA-9B11-4A7A-8653-D426A99FD9BD}"/>
              </a:ext>
            </a:extLst>
          </p:cNvPr>
          <p:cNvSpPr>
            <a:spLocks noGrp="1"/>
          </p:cNvSpPr>
          <p:nvPr/>
        </p:nvSpPr>
        <p:spPr>
          <a:xfrm>
            <a:off x="971550" y="36957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Maintenance workers</a:t>
            </a:r>
          </a:p>
        </p:txBody>
      </p:sp>
      <p:sp>
        <p:nvSpPr>
          <p:cNvPr id="16" name="Rectangle 15">
            <a:extLst>
              <a:ext uri="{FF2B5EF4-FFF2-40B4-BE49-F238E27FC236}">
                <a16:creationId xmlns:a16="http://schemas.microsoft.com/office/drawing/2014/main" id="{FEC5032C-B62F-4673-B1C4-680AB4C4FF18}"/>
              </a:ext>
            </a:extLst>
          </p:cNvPr>
          <p:cNvSpPr>
            <a:spLocks noGrp="1"/>
          </p:cNvSpPr>
          <p:nvPr/>
        </p:nvSpPr>
        <p:spPr>
          <a:xfrm>
            <a:off x="971550" y="4076700"/>
            <a:ext cx="2667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rooftops and service yards</a:t>
            </a:r>
          </a:p>
        </p:txBody>
      </p:sp>
      <p:sp>
        <p:nvSpPr>
          <p:cNvPr id="17" name="Rectangle 16">
            <a:extLst>
              <a:ext uri="{FF2B5EF4-FFF2-40B4-BE49-F238E27FC236}">
                <a16:creationId xmlns:a16="http://schemas.microsoft.com/office/drawing/2014/main" id="{0854D5EA-C397-4534-9688-171627FDD0D5}"/>
              </a:ext>
            </a:extLst>
          </p:cNvPr>
          <p:cNvSpPr>
            <a:spLocks noGrp="1"/>
          </p:cNvSpPr>
          <p:nvPr/>
        </p:nvSpPr>
        <p:spPr>
          <a:xfrm>
            <a:off x="4324350" y="3524250"/>
            <a:ext cx="3048000" cy="1047750"/>
          </a:xfrm>
          <a:prstGeom prst="rect">
            <a:avLst/>
          </a:prstGeom>
          <a:solidFill>
            <a:srgbClr val="FFF7E7"/>
          </a:solidFill>
          <a:ln w="9525">
            <a:solidFill>
              <a:srgbClr val="D9D1C2"/>
            </a:solidFill>
            <a:prstDash val="solid"/>
          </a:ln>
        </p:spPr>
      </p:sp>
      <p:sp>
        <p:nvSpPr>
          <p:cNvPr id="18" name="Rectangle 17">
            <a:extLst>
              <a:ext uri="{FF2B5EF4-FFF2-40B4-BE49-F238E27FC236}">
                <a16:creationId xmlns:a16="http://schemas.microsoft.com/office/drawing/2014/main" id="{3ED7EE0B-46DE-419A-91DC-F4BFB2E4E782}"/>
              </a:ext>
            </a:extLst>
          </p:cNvPr>
          <p:cNvSpPr>
            <a:spLocks noGrp="1"/>
          </p:cNvSpPr>
          <p:nvPr/>
        </p:nvSpPr>
        <p:spPr>
          <a:xfrm>
            <a:off x="4514850" y="36957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Administrators</a:t>
            </a:r>
          </a:p>
        </p:txBody>
      </p:sp>
      <p:sp>
        <p:nvSpPr>
          <p:cNvPr id="19" name="Rectangle 18">
            <a:extLst>
              <a:ext uri="{FF2B5EF4-FFF2-40B4-BE49-F238E27FC236}">
                <a16:creationId xmlns:a16="http://schemas.microsoft.com/office/drawing/2014/main" id="{6BD19D3A-73F3-48C8-9999-ABC2AE38E2A8}"/>
              </a:ext>
            </a:extLst>
          </p:cNvPr>
          <p:cNvSpPr>
            <a:spLocks noGrp="1"/>
          </p:cNvSpPr>
          <p:nvPr/>
        </p:nvSpPr>
        <p:spPr>
          <a:xfrm>
            <a:off x="4514850" y="4076700"/>
            <a:ext cx="2667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heat action and infrastructure planning</a:t>
            </a:r>
          </a:p>
        </p:txBody>
      </p:sp>
      <p:sp>
        <p:nvSpPr>
          <p:cNvPr id="20" name="Rectangle 19">
            <a:extLst>
              <a:ext uri="{FF2B5EF4-FFF2-40B4-BE49-F238E27FC236}">
                <a16:creationId xmlns:a16="http://schemas.microsoft.com/office/drawing/2014/main" id="{1CCB9D27-034E-49F9-A47D-63393BDFECE0}"/>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1" name="Rectangle 20">
            <a:extLst>
              <a:ext uri="{FF2B5EF4-FFF2-40B4-BE49-F238E27FC236}">
                <a16:creationId xmlns:a16="http://schemas.microsoft.com/office/drawing/2014/main" id="{E7263AB8-D932-42CB-ACF3-0C745C31C21C}"/>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22" name="Rectangle 21">
            <a:extLst>
              <a:ext uri="{FF2B5EF4-FFF2-40B4-BE49-F238E27FC236}">
                <a16:creationId xmlns:a16="http://schemas.microsoft.com/office/drawing/2014/main" id="{3453B8B9-1669-4C55-A992-E079A28998F5}"/>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07</a:t>
            </a:r>
          </a:p>
        </p:txBody>
      </p:sp>
    </p:spTree>
    <p:extLst>
      <p:ext uri="{BB962C8B-B14F-4D97-AF65-F5344CB8AC3E}">
        <p14:creationId xmlns:p14="http://schemas.microsoft.com/office/powerpoint/2010/main" val="710859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46828D0F-A6C8-4EC9-BA49-566BE02C8427}"/>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8-marker">
            <a:extLst>
              <a:ext uri="{FF2B5EF4-FFF2-40B4-BE49-F238E27FC236}">
                <a16:creationId xmlns:a16="http://schemas.microsoft.com/office/drawing/2014/main" id="{E57137B9-238D-4955-87CF-FCE9598A4E7D}"/>
              </a:ext>
            </a:extLst>
          </p:cNvPr>
          <p:cNvSpPr>
            <a:spLocks noGrp="1"/>
          </p:cNvSpPr>
          <p:nvPr/>
        </p:nvSpPr>
        <p:spPr>
          <a:xfrm>
            <a:off x="552450" y="400050"/>
            <a:ext cx="266700" cy="57150"/>
          </a:xfrm>
          <a:prstGeom prst="rect">
            <a:avLst/>
          </a:prstGeom>
          <a:solidFill>
            <a:srgbClr val="466A45"/>
          </a:solidFill>
          <a:ln w="0">
            <a:solidFill>
              <a:srgbClr val="000000">
                <a:alpha val="0"/>
              </a:srgbClr>
            </a:solidFill>
            <a:prstDash val="solid"/>
          </a:ln>
        </p:spPr>
      </p:sp>
      <p:sp>
        <p:nvSpPr>
          <p:cNvPr id="3" name="kicker-8-label">
            <a:extLst>
              <a:ext uri="{FF2B5EF4-FFF2-40B4-BE49-F238E27FC236}">
                <a16:creationId xmlns:a16="http://schemas.microsoft.com/office/drawing/2014/main" id="{70B1A501-99C2-41B7-BF0C-C11613FB1FD8}"/>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SOLUTION</a:t>
            </a:r>
          </a:p>
        </p:txBody>
      </p:sp>
      <p:sp>
        <p:nvSpPr>
          <p:cNvPr id="4" name="Rectangle 3">
            <a:extLst>
              <a:ext uri="{FF2B5EF4-FFF2-40B4-BE49-F238E27FC236}">
                <a16:creationId xmlns:a16="http://schemas.microsoft.com/office/drawing/2014/main" id="{B3DAF5B3-C4C8-4C59-985B-D3E09B52077A}"/>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A decision-support loop, not just another chatbot.</a:t>
            </a:r>
          </a:p>
        </p:txBody>
      </p:sp>
      <p:sp>
        <p:nvSpPr>
          <p:cNvPr id="5" name="Rectangle 4">
            <a:extLst>
              <a:ext uri="{FF2B5EF4-FFF2-40B4-BE49-F238E27FC236}">
                <a16:creationId xmlns:a16="http://schemas.microsoft.com/office/drawing/2014/main" id="{7036528A-667A-4B3F-A5BB-655FD9ADFDF4}"/>
              </a:ext>
            </a:extLst>
          </p:cNvPr>
          <p:cNvSpPr>
            <a:spLocks noGrp="1"/>
          </p:cNvSpPr>
          <p:nvPr/>
        </p:nvSpPr>
        <p:spPr>
          <a:xfrm>
            <a:off x="762000" y="2571750"/>
            <a:ext cx="1238250" cy="78105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CE6BEF59-02F4-4BD7-8083-F12DB2EB3EE6}"/>
              </a:ext>
            </a:extLst>
          </p:cNvPr>
          <p:cNvSpPr>
            <a:spLocks noGrp="1"/>
          </p:cNvSpPr>
          <p:nvPr/>
        </p:nvSpPr>
        <p:spPr>
          <a:xfrm>
            <a:off x="895350" y="2781300"/>
            <a:ext cx="971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Assess</a:t>
            </a:r>
          </a:p>
        </p:txBody>
      </p:sp>
      <p:sp>
        <p:nvSpPr>
          <p:cNvPr id="7" name="Rectangle 6">
            <a:extLst>
              <a:ext uri="{FF2B5EF4-FFF2-40B4-BE49-F238E27FC236}">
                <a16:creationId xmlns:a16="http://schemas.microsoft.com/office/drawing/2014/main" id="{91E1693D-442A-49FB-AE20-6CC0809862CF}"/>
              </a:ext>
            </a:extLst>
          </p:cNvPr>
          <p:cNvSpPr>
            <a:spLocks noGrp="1"/>
          </p:cNvSpPr>
          <p:nvPr/>
        </p:nvSpPr>
        <p:spPr>
          <a:xfrm>
            <a:off x="2114550" y="2809875"/>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466A45"/>
                </a:solidFill>
                <a:latin typeface="Aptos"/>
                <a:ea typeface="Aptos"/>
                <a:cs typeface="Aptos"/>
              </a:defRPr>
            </a:pPr>
            <a:r>
              <a:rPr sz="1800" b="1">
                <a:solidFill>
                  <a:srgbClr val="466A45"/>
                </a:solidFill>
                <a:latin typeface="Aptos"/>
                <a:ea typeface="Aptos"/>
                <a:cs typeface="Aptos"/>
              </a:rPr>
              <a:t>&gt;</a:t>
            </a:r>
          </a:p>
        </p:txBody>
      </p:sp>
      <p:sp>
        <p:nvSpPr>
          <p:cNvPr id="8" name="Rectangle 7">
            <a:extLst>
              <a:ext uri="{FF2B5EF4-FFF2-40B4-BE49-F238E27FC236}">
                <a16:creationId xmlns:a16="http://schemas.microsoft.com/office/drawing/2014/main" id="{61202260-CCDC-4F5C-A30A-BA7C6AEF3FE5}"/>
              </a:ext>
            </a:extLst>
          </p:cNvPr>
          <p:cNvSpPr>
            <a:spLocks noGrp="1"/>
          </p:cNvSpPr>
          <p:nvPr/>
        </p:nvSpPr>
        <p:spPr>
          <a:xfrm>
            <a:off x="2524125" y="2571750"/>
            <a:ext cx="1238250" cy="781050"/>
          </a:xfrm>
          <a:prstGeom prst="rect">
            <a:avLst/>
          </a:prstGeom>
          <a:solidFill>
            <a:srgbClr val="FFF7E7"/>
          </a:solidFill>
          <a:ln w="9525">
            <a:solidFill>
              <a:srgbClr val="D9D1C2"/>
            </a:solidFill>
            <a:prstDash val="solid"/>
          </a:ln>
        </p:spPr>
      </p:sp>
      <p:sp>
        <p:nvSpPr>
          <p:cNvPr id="9" name="Rectangle 8">
            <a:extLst>
              <a:ext uri="{FF2B5EF4-FFF2-40B4-BE49-F238E27FC236}">
                <a16:creationId xmlns:a16="http://schemas.microsoft.com/office/drawing/2014/main" id="{293ADF96-EB9B-4A7F-B984-4E3CDC103A43}"/>
              </a:ext>
            </a:extLst>
          </p:cNvPr>
          <p:cNvSpPr>
            <a:spLocks noGrp="1"/>
          </p:cNvSpPr>
          <p:nvPr/>
        </p:nvSpPr>
        <p:spPr>
          <a:xfrm>
            <a:off x="2657475" y="2781300"/>
            <a:ext cx="971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Retrieve</a:t>
            </a:r>
          </a:p>
        </p:txBody>
      </p:sp>
      <p:sp>
        <p:nvSpPr>
          <p:cNvPr id="10" name="Rectangle 9">
            <a:extLst>
              <a:ext uri="{FF2B5EF4-FFF2-40B4-BE49-F238E27FC236}">
                <a16:creationId xmlns:a16="http://schemas.microsoft.com/office/drawing/2014/main" id="{FEF64591-1FC6-4741-825D-4DF9426977B3}"/>
              </a:ext>
            </a:extLst>
          </p:cNvPr>
          <p:cNvSpPr>
            <a:spLocks noGrp="1"/>
          </p:cNvSpPr>
          <p:nvPr/>
        </p:nvSpPr>
        <p:spPr>
          <a:xfrm>
            <a:off x="3876675" y="2809875"/>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466A45"/>
                </a:solidFill>
                <a:latin typeface="Aptos"/>
                <a:ea typeface="Aptos"/>
                <a:cs typeface="Aptos"/>
              </a:defRPr>
            </a:pPr>
            <a:r>
              <a:rPr sz="1800" b="1">
                <a:solidFill>
                  <a:srgbClr val="466A45"/>
                </a:solidFill>
                <a:latin typeface="Aptos"/>
                <a:ea typeface="Aptos"/>
                <a:cs typeface="Aptos"/>
              </a:rPr>
              <a:t>&gt;</a:t>
            </a:r>
          </a:p>
        </p:txBody>
      </p:sp>
      <p:sp>
        <p:nvSpPr>
          <p:cNvPr id="11" name="Rectangle 10">
            <a:extLst>
              <a:ext uri="{FF2B5EF4-FFF2-40B4-BE49-F238E27FC236}">
                <a16:creationId xmlns:a16="http://schemas.microsoft.com/office/drawing/2014/main" id="{77497366-3B56-4FFB-9E9F-5AF0459D4B52}"/>
              </a:ext>
            </a:extLst>
          </p:cNvPr>
          <p:cNvSpPr>
            <a:spLocks noGrp="1"/>
          </p:cNvSpPr>
          <p:nvPr/>
        </p:nvSpPr>
        <p:spPr>
          <a:xfrm>
            <a:off x="4286250" y="2571750"/>
            <a:ext cx="1238250" cy="781050"/>
          </a:xfrm>
          <a:prstGeom prst="rect">
            <a:avLst/>
          </a:prstGeom>
          <a:solidFill>
            <a:srgbClr val="FFFFFF"/>
          </a:solidFill>
          <a:ln w="9525">
            <a:solidFill>
              <a:srgbClr val="D9D1C2"/>
            </a:solidFill>
            <a:prstDash val="solid"/>
          </a:ln>
        </p:spPr>
      </p:sp>
      <p:sp>
        <p:nvSpPr>
          <p:cNvPr id="12" name="Rectangle 11">
            <a:extLst>
              <a:ext uri="{FF2B5EF4-FFF2-40B4-BE49-F238E27FC236}">
                <a16:creationId xmlns:a16="http://schemas.microsoft.com/office/drawing/2014/main" id="{6931A759-0C33-4378-9843-723CED6F79E5}"/>
              </a:ext>
            </a:extLst>
          </p:cNvPr>
          <p:cNvSpPr>
            <a:spLocks noGrp="1"/>
          </p:cNvSpPr>
          <p:nvPr/>
        </p:nvSpPr>
        <p:spPr>
          <a:xfrm>
            <a:off x="4419600" y="2781300"/>
            <a:ext cx="971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Reason</a:t>
            </a:r>
          </a:p>
        </p:txBody>
      </p:sp>
      <p:sp>
        <p:nvSpPr>
          <p:cNvPr id="13" name="Rectangle 12">
            <a:extLst>
              <a:ext uri="{FF2B5EF4-FFF2-40B4-BE49-F238E27FC236}">
                <a16:creationId xmlns:a16="http://schemas.microsoft.com/office/drawing/2014/main" id="{73D090C5-448E-4EEE-BA8C-51A2B52B3372}"/>
              </a:ext>
            </a:extLst>
          </p:cNvPr>
          <p:cNvSpPr>
            <a:spLocks noGrp="1"/>
          </p:cNvSpPr>
          <p:nvPr/>
        </p:nvSpPr>
        <p:spPr>
          <a:xfrm>
            <a:off x="5638800" y="2809875"/>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466A45"/>
                </a:solidFill>
                <a:latin typeface="Aptos"/>
                <a:ea typeface="Aptos"/>
                <a:cs typeface="Aptos"/>
              </a:defRPr>
            </a:pPr>
            <a:r>
              <a:rPr sz="1800" b="1">
                <a:solidFill>
                  <a:srgbClr val="466A45"/>
                </a:solidFill>
                <a:latin typeface="Aptos"/>
                <a:ea typeface="Aptos"/>
                <a:cs typeface="Aptos"/>
              </a:rPr>
              <a:t>&gt;</a:t>
            </a:r>
          </a:p>
        </p:txBody>
      </p:sp>
      <p:sp>
        <p:nvSpPr>
          <p:cNvPr id="14" name="Rectangle 13">
            <a:extLst>
              <a:ext uri="{FF2B5EF4-FFF2-40B4-BE49-F238E27FC236}">
                <a16:creationId xmlns:a16="http://schemas.microsoft.com/office/drawing/2014/main" id="{6F66EF91-E1EE-4058-91CB-82931094B583}"/>
              </a:ext>
            </a:extLst>
          </p:cNvPr>
          <p:cNvSpPr>
            <a:spLocks noGrp="1"/>
          </p:cNvSpPr>
          <p:nvPr/>
        </p:nvSpPr>
        <p:spPr>
          <a:xfrm>
            <a:off x="6048375" y="2571750"/>
            <a:ext cx="1238250" cy="781050"/>
          </a:xfrm>
          <a:prstGeom prst="rect">
            <a:avLst/>
          </a:prstGeom>
          <a:solidFill>
            <a:srgbClr val="FFF7E7"/>
          </a:solidFill>
          <a:ln w="9525">
            <a:solidFill>
              <a:srgbClr val="D9D1C2"/>
            </a:solidFill>
            <a:prstDash val="solid"/>
          </a:ln>
        </p:spPr>
      </p:sp>
      <p:sp>
        <p:nvSpPr>
          <p:cNvPr id="15" name="Rectangle 14">
            <a:extLst>
              <a:ext uri="{FF2B5EF4-FFF2-40B4-BE49-F238E27FC236}">
                <a16:creationId xmlns:a16="http://schemas.microsoft.com/office/drawing/2014/main" id="{04DC0318-9CF8-4BE8-B11A-3DCFBC323C8B}"/>
              </a:ext>
            </a:extLst>
          </p:cNvPr>
          <p:cNvSpPr>
            <a:spLocks noGrp="1"/>
          </p:cNvSpPr>
          <p:nvPr/>
        </p:nvSpPr>
        <p:spPr>
          <a:xfrm>
            <a:off x="6181725" y="2781300"/>
            <a:ext cx="971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Recommend</a:t>
            </a:r>
          </a:p>
        </p:txBody>
      </p:sp>
      <p:sp>
        <p:nvSpPr>
          <p:cNvPr id="16" name="Rectangle 15">
            <a:extLst>
              <a:ext uri="{FF2B5EF4-FFF2-40B4-BE49-F238E27FC236}">
                <a16:creationId xmlns:a16="http://schemas.microsoft.com/office/drawing/2014/main" id="{C445D581-25FD-4530-B28F-ADC60AF73329}"/>
              </a:ext>
            </a:extLst>
          </p:cNvPr>
          <p:cNvSpPr>
            <a:spLocks noGrp="1"/>
          </p:cNvSpPr>
          <p:nvPr/>
        </p:nvSpPr>
        <p:spPr>
          <a:xfrm>
            <a:off x="7400925" y="2809875"/>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466A45"/>
                </a:solidFill>
                <a:latin typeface="Aptos"/>
                <a:ea typeface="Aptos"/>
                <a:cs typeface="Aptos"/>
              </a:defRPr>
            </a:pPr>
            <a:r>
              <a:rPr sz="1800" b="1">
                <a:solidFill>
                  <a:srgbClr val="466A45"/>
                </a:solidFill>
                <a:latin typeface="Aptos"/>
                <a:ea typeface="Aptos"/>
                <a:cs typeface="Aptos"/>
              </a:rPr>
              <a:t>&gt;</a:t>
            </a:r>
          </a:p>
        </p:txBody>
      </p:sp>
      <p:sp>
        <p:nvSpPr>
          <p:cNvPr id="17" name="Rectangle 16">
            <a:extLst>
              <a:ext uri="{FF2B5EF4-FFF2-40B4-BE49-F238E27FC236}">
                <a16:creationId xmlns:a16="http://schemas.microsoft.com/office/drawing/2014/main" id="{0477D28B-9EEE-4393-AC59-5A7F05EAEA87}"/>
              </a:ext>
            </a:extLst>
          </p:cNvPr>
          <p:cNvSpPr>
            <a:spLocks noGrp="1"/>
          </p:cNvSpPr>
          <p:nvPr/>
        </p:nvSpPr>
        <p:spPr>
          <a:xfrm>
            <a:off x="7810500" y="2571750"/>
            <a:ext cx="1238250" cy="781050"/>
          </a:xfrm>
          <a:prstGeom prst="rect">
            <a:avLst/>
          </a:prstGeom>
          <a:solidFill>
            <a:srgbClr val="FFFFFF"/>
          </a:solidFill>
          <a:ln w="9525">
            <a:solidFill>
              <a:srgbClr val="D9D1C2"/>
            </a:solidFill>
            <a:prstDash val="solid"/>
          </a:ln>
        </p:spPr>
      </p:sp>
      <p:sp>
        <p:nvSpPr>
          <p:cNvPr id="18" name="Rectangle 17">
            <a:extLst>
              <a:ext uri="{FF2B5EF4-FFF2-40B4-BE49-F238E27FC236}">
                <a16:creationId xmlns:a16="http://schemas.microsoft.com/office/drawing/2014/main" id="{17FE046D-6642-4253-9D97-CD51706A6EA1}"/>
              </a:ext>
            </a:extLst>
          </p:cNvPr>
          <p:cNvSpPr>
            <a:spLocks noGrp="1"/>
          </p:cNvSpPr>
          <p:nvPr/>
        </p:nvSpPr>
        <p:spPr>
          <a:xfrm>
            <a:off x="7943850" y="2781300"/>
            <a:ext cx="971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Report</a:t>
            </a:r>
          </a:p>
        </p:txBody>
      </p:sp>
      <p:sp>
        <p:nvSpPr>
          <p:cNvPr id="19" name="Rectangle 18">
            <a:extLst>
              <a:ext uri="{FF2B5EF4-FFF2-40B4-BE49-F238E27FC236}">
                <a16:creationId xmlns:a16="http://schemas.microsoft.com/office/drawing/2014/main" id="{4EC5CE5F-CD68-4D65-B0CD-AE45045BDCFA}"/>
              </a:ext>
            </a:extLst>
          </p:cNvPr>
          <p:cNvSpPr>
            <a:spLocks noGrp="1"/>
          </p:cNvSpPr>
          <p:nvPr/>
        </p:nvSpPr>
        <p:spPr>
          <a:xfrm>
            <a:off x="9163050" y="2809875"/>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466A45"/>
                </a:solidFill>
                <a:latin typeface="Aptos"/>
                <a:ea typeface="Aptos"/>
                <a:cs typeface="Aptos"/>
              </a:defRPr>
            </a:pPr>
            <a:r>
              <a:rPr sz="1800" b="1">
                <a:solidFill>
                  <a:srgbClr val="466A45"/>
                </a:solidFill>
                <a:latin typeface="Aptos"/>
                <a:ea typeface="Aptos"/>
                <a:cs typeface="Aptos"/>
              </a:rPr>
              <a:t>&gt;</a:t>
            </a:r>
          </a:p>
        </p:txBody>
      </p:sp>
      <p:sp>
        <p:nvSpPr>
          <p:cNvPr id="20" name="Rectangle 19">
            <a:extLst>
              <a:ext uri="{FF2B5EF4-FFF2-40B4-BE49-F238E27FC236}">
                <a16:creationId xmlns:a16="http://schemas.microsoft.com/office/drawing/2014/main" id="{61DE6639-33B2-4F0E-B654-440F35F20CA8}"/>
              </a:ext>
            </a:extLst>
          </p:cNvPr>
          <p:cNvSpPr>
            <a:spLocks noGrp="1"/>
          </p:cNvSpPr>
          <p:nvPr/>
        </p:nvSpPr>
        <p:spPr>
          <a:xfrm>
            <a:off x="9572625" y="2571750"/>
            <a:ext cx="1238250" cy="781050"/>
          </a:xfrm>
          <a:prstGeom prst="rect">
            <a:avLst/>
          </a:prstGeom>
          <a:solidFill>
            <a:srgbClr val="FFF7E7"/>
          </a:solidFill>
          <a:ln w="9525">
            <a:solidFill>
              <a:srgbClr val="D9D1C2"/>
            </a:solidFill>
            <a:prstDash val="solid"/>
          </a:ln>
        </p:spPr>
      </p:sp>
      <p:sp>
        <p:nvSpPr>
          <p:cNvPr id="21" name="Rectangle 20">
            <a:extLst>
              <a:ext uri="{FF2B5EF4-FFF2-40B4-BE49-F238E27FC236}">
                <a16:creationId xmlns:a16="http://schemas.microsoft.com/office/drawing/2014/main" id="{00BFA874-DFD3-42DD-8F15-3210FF1BACDC}"/>
              </a:ext>
            </a:extLst>
          </p:cNvPr>
          <p:cNvSpPr>
            <a:spLocks noGrp="1"/>
          </p:cNvSpPr>
          <p:nvPr/>
        </p:nvSpPr>
        <p:spPr>
          <a:xfrm>
            <a:off x="9705975" y="2781300"/>
            <a:ext cx="9715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Improve</a:t>
            </a:r>
          </a:p>
        </p:txBody>
      </p:sp>
      <p:sp>
        <p:nvSpPr>
          <p:cNvPr id="22" name="Rectangle 21">
            <a:extLst>
              <a:ext uri="{FF2B5EF4-FFF2-40B4-BE49-F238E27FC236}">
                <a16:creationId xmlns:a16="http://schemas.microsoft.com/office/drawing/2014/main" id="{A3265A3F-9773-4578-BCFC-604801A643FB}"/>
              </a:ext>
            </a:extLst>
          </p:cNvPr>
          <p:cNvSpPr>
            <a:spLocks noGrp="1"/>
          </p:cNvSpPr>
          <p:nvPr/>
        </p:nvSpPr>
        <p:spPr>
          <a:xfrm>
            <a:off x="1219200" y="4191000"/>
            <a:ext cx="85725" cy="85725"/>
          </a:xfrm>
          <a:prstGeom prst="rect">
            <a:avLst/>
          </a:prstGeom>
          <a:solidFill>
            <a:srgbClr val="466A45"/>
          </a:solidFill>
          <a:ln w="0">
            <a:solidFill>
              <a:srgbClr val="000000">
                <a:alpha val="0"/>
              </a:srgbClr>
            </a:solidFill>
            <a:prstDash val="solid"/>
          </a:ln>
        </p:spPr>
      </p:sp>
      <p:sp>
        <p:nvSpPr>
          <p:cNvPr id="23" name="Rectangle 22">
            <a:extLst>
              <a:ext uri="{FF2B5EF4-FFF2-40B4-BE49-F238E27FC236}">
                <a16:creationId xmlns:a16="http://schemas.microsoft.com/office/drawing/2014/main" id="{431AD3E1-94AC-4623-9A70-42D43012D2B8}"/>
              </a:ext>
            </a:extLst>
          </p:cNvPr>
          <p:cNvSpPr>
            <a:spLocks noGrp="1"/>
          </p:cNvSpPr>
          <p:nvPr/>
        </p:nvSpPr>
        <p:spPr>
          <a:xfrm>
            <a:off x="1447800" y="4095750"/>
            <a:ext cx="87249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7201B"/>
                </a:solidFill>
                <a:latin typeface="Aptos"/>
                <a:ea typeface="Aptos"/>
                <a:cs typeface="Aptos"/>
              </a:defRPr>
            </a:pPr>
            <a:r>
              <a:rPr sz="1425" b="0">
                <a:solidFill>
                  <a:srgbClr val="17201B"/>
                </a:solidFill>
                <a:latin typeface="Aptos"/>
                <a:ea typeface="Aptos"/>
                <a:cs typeface="Aptos"/>
              </a:rPr>
              <a:t>Risk score combines weather, zone, task, user group, duration, and timing.</a:t>
            </a:r>
          </a:p>
        </p:txBody>
      </p:sp>
      <p:sp>
        <p:nvSpPr>
          <p:cNvPr id="24" name="Rectangle 23">
            <a:extLst>
              <a:ext uri="{FF2B5EF4-FFF2-40B4-BE49-F238E27FC236}">
                <a16:creationId xmlns:a16="http://schemas.microsoft.com/office/drawing/2014/main" id="{B3E5495C-C873-4247-91AD-6F1591DF3D12}"/>
              </a:ext>
            </a:extLst>
          </p:cNvPr>
          <p:cNvSpPr>
            <a:spLocks noGrp="1"/>
          </p:cNvSpPr>
          <p:nvPr/>
        </p:nvSpPr>
        <p:spPr>
          <a:xfrm>
            <a:off x="1219200" y="4648200"/>
            <a:ext cx="85725" cy="85725"/>
          </a:xfrm>
          <a:prstGeom prst="rect">
            <a:avLst/>
          </a:prstGeom>
          <a:solidFill>
            <a:srgbClr val="466A45"/>
          </a:solidFill>
          <a:ln w="0">
            <a:solidFill>
              <a:srgbClr val="000000">
                <a:alpha val="0"/>
              </a:srgbClr>
            </a:solidFill>
            <a:prstDash val="solid"/>
          </a:ln>
        </p:spPr>
      </p:sp>
      <p:sp>
        <p:nvSpPr>
          <p:cNvPr id="25" name="Rectangle 24">
            <a:extLst>
              <a:ext uri="{FF2B5EF4-FFF2-40B4-BE49-F238E27FC236}">
                <a16:creationId xmlns:a16="http://schemas.microsoft.com/office/drawing/2014/main" id="{061B2365-915D-4800-B9B9-E214CE2A38FB}"/>
              </a:ext>
            </a:extLst>
          </p:cNvPr>
          <p:cNvSpPr>
            <a:spLocks noGrp="1"/>
          </p:cNvSpPr>
          <p:nvPr/>
        </p:nvSpPr>
        <p:spPr>
          <a:xfrm>
            <a:off x="1447800" y="4552950"/>
            <a:ext cx="87249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7201B"/>
                </a:solidFill>
                <a:latin typeface="Aptos"/>
                <a:ea typeface="Aptos"/>
                <a:cs typeface="Aptos"/>
              </a:defRPr>
            </a:pPr>
            <a:r>
              <a:rPr sz="1425" b="0">
                <a:solidFill>
                  <a:srgbClr val="17201B"/>
                </a:solidFill>
                <a:latin typeface="Aptos"/>
                <a:ea typeface="Aptos"/>
                <a:cs typeface="Aptos"/>
              </a:rPr>
              <a:t>RAG adds trusted guidance before the AI writes an action plan.</a:t>
            </a:r>
          </a:p>
        </p:txBody>
      </p:sp>
      <p:sp>
        <p:nvSpPr>
          <p:cNvPr id="26" name="Rectangle 25">
            <a:extLst>
              <a:ext uri="{FF2B5EF4-FFF2-40B4-BE49-F238E27FC236}">
                <a16:creationId xmlns:a16="http://schemas.microsoft.com/office/drawing/2014/main" id="{DFC1F548-A52B-46A5-99D8-421D0B33F38C}"/>
              </a:ext>
            </a:extLst>
          </p:cNvPr>
          <p:cNvSpPr>
            <a:spLocks noGrp="1"/>
          </p:cNvSpPr>
          <p:nvPr/>
        </p:nvSpPr>
        <p:spPr>
          <a:xfrm>
            <a:off x="1219200" y="5105400"/>
            <a:ext cx="85725" cy="85725"/>
          </a:xfrm>
          <a:prstGeom prst="rect">
            <a:avLst/>
          </a:prstGeom>
          <a:solidFill>
            <a:srgbClr val="466A45"/>
          </a:solidFill>
          <a:ln w="0">
            <a:solidFill>
              <a:srgbClr val="000000">
                <a:alpha val="0"/>
              </a:srgbClr>
            </a:solidFill>
            <a:prstDash val="solid"/>
          </a:ln>
        </p:spPr>
      </p:sp>
      <p:sp>
        <p:nvSpPr>
          <p:cNvPr id="27" name="Rectangle 26">
            <a:extLst>
              <a:ext uri="{FF2B5EF4-FFF2-40B4-BE49-F238E27FC236}">
                <a16:creationId xmlns:a16="http://schemas.microsoft.com/office/drawing/2014/main" id="{D6FEBB98-64D7-46DE-B898-FFB83E1BB8A2}"/>
              </a:ext>
            </a:extLst>
          </p:cNvPr>
          <p:cNvSpPr>
            <a:spLocks noGrp="1"/>
          </p:cNvSpPr>
          <p:nvPr/>
        </p:nvSpPr>
        <p:spPr>
          <a:xfrm>
            <a:off x="1447800" y="5010150"/>
            <a:ext cx="87249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0">
                <a:solidFill>
                  <a:srgbClr val="17201B"/>
                </a:solidFill>
                <a:latin typeface="Aptos"/>
                <a:ea typeface="Aptos"/>
                <a:cs typeface="Aptos"/>
              </a:defRPr>
            </a:pPr>
            <a:r>
              <a:rPr sz="1425" b="0">
                <a:solidFill>
                  <a:srgbClr val="17201B"/>
                </a:solidFill>
                <a:latin typeface="Aptos"/>
                <a:ea typeface="Aptos"/>
                <a:cs typeface="Aptos"/>
              </a:rPr>
              <a:t>Community reports convert lived experience into adaptation priorities.</a:t>
            </a:r>
          </a:p>
        </p:txBody>
      </p:sp>
      <p:sp>
        <p:nvSpPr>
          <p:cNvPr id="28" name="Rectangle 27">
            <a:extLst>
              <a:ext uri="{FF2B5EF4-FFF2-40B4-BE49-F238E27FC236}">
                <a16:creationId xmlns:a16="http://schemas.microsoft.com/office/drawing/2014/main" id="{8A12C048-2705-4182-95A3-649B253A0D8E}"/>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9" name="Rectangle 28">
            <a:extLst>
              <a:ext uri="{FF2B5EF4-FFF2-40B4-BE49-F238E27FC236}">
                <a16:creationId xmlns:a16="http://schemas.microsoft.com/office/drawing/2014/main" id="{EEAE06D2-11FF-47F5-A924-DC307A20A5BA}"/>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30" name="Rectangle 29">
            <a:extLst>
              <a:ext uri="{FF2B5EF4-FFF2-40B4-BE49-F238E27FC236}">
                <a16:creationId xmlns:a16="http://schemas.microsoft.com/office/drawing/2014/main" id="{C177E505-2282-4C84-A461-9BBADFEE94F3}"/>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08</a:t>
            </a:r>
          </a:p>
        </p:txBody>
      </p:sp>
    </p:spTree>
    <p:extLst>
      <p:ext uri="{BB962C8B-B14F-4D97-AF65-F5344CB8AC3E}">
        <p14:creationId xmlns:p14="http://schemas.microsoft.com/office/powerpoint/2010/main" val="348263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51742ED2-CCC7-47E5-A71D-54F7F29BC4A1}"/>
              </a:ext>
            </a:extLst>
          </p:cNvPr>
          <p:cNvSpPr>
            <a:spLocks noGrp="1"/>
          </p:cNvSpPr>
          <p:nvPr/>
        </p:nvSpPr>
        <p:spPr>
          <a:xfrm>
            <a:off x="0" y="0"/>
            <a:ext cx="12192000" cy="6858000"/>
          </a:xfrm>
          <a:prstGeom prst="rect">
            <a:avLst/>
          </a:prstGeom>
          <a:solidFill>
            <a:srgbClr val="FCFAF4"/>
          </a:solidFill>
          <a:ln w="0">
            <a:solidFill>
              <a:srgbClr val="000000">
                <a:alpha val="0"/>
              </a:srgbClr>
            </a:solidFill>
            <a:prstDash val="solid"/>
          </a:ln>
        </p:spPr>
      </p:sp>
      <p:sp>
        <p:nvSpPr>
          <p:cNvPr id="2" name="kicker-9-marker">
            <a:extLst>
              <a:ext uri="{FF2B5EF4-FFF2-40B4-BE49-F238E27FC236}">
                <a16:creationId xmlns:a16="http://schemas.microsoft.com/office/drawing/2014/main" id="{8EDF7072-D18B-4E30-A5C9-CA1130023D08}"/>
              </a:ext>
            </a:extLst>
          </p:cNvPr>
          <p:cNvSpPr>
            <a:spLocks noGrp="1"/>
          </p:cNvSpPr>
          <p:nvPr/>
        </p:nvSpPr>
        <p:spPr>
          <a:xfrm>
            <a:off x="552450" y="400050"/>
            <a:ext cx="266700" cy="57150"/>
          </a:xfrm>
          <a:prstGeom prst="rect">
            <a:avLst/>
          </a:prstGeom>
          <a:solidFill>
            <a:srgbClr val="3F7F95"/>
          </a:solidFill>
          <a:ln w="0">
            <a:solidFill>
              <a:srgbClr val="000000">
                <a:alpha val="0"/>
              </a:srgbClr>
            </a:solidFill>
            <a:prstDash val="solid"/>
          </a:ln>
        </p:spPr>
      </p:sp>
      <p:sp>
        <p:nvSpPr>
          <p:cNvPr id="3" name="kicker-9-label">
            <a:extLst>
              <a:ext uri="{FF2B5EF4-FFF2-40B4-BE49-F238E27FC236}">
                <a16:creationId xmlns:a16="http://schemas.microsoft.com/office/drawing/2014/main" id="{A8552F87-599D-43F2-83DE-4734B7185B5E}"/>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AI ARCHITECTURE</a:t>
            </a:r>
          </a:p>
        </p:txBody>
      </p:sp>
      <p:sp>
        <p:nvSpPr>
          <p:cNvPr id="4" name="Rectangle 3">
            <a:extLst>
              <a:ext uri="{FF2B5EF4-FFF2-40B4-BE49-F238E27FC236}">
                <a16:creationId xmlns:a16="http://schemas.microsoft.com/office/drawing/2014/main" id="{96E26A0A-1C19-4E73-A3AF-8F6F8502BE16}"/>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The architecture combines scoring, RAG, planning, and analytics.</a:t>
            </a:r>
          </a:p>
        </p:txBody>
      </p:sp>
      <p:sp>
        <p:nvSpPr>
          <p:cNvPr id="5" name="Rectangle 4">
            <a:extLst>
              <a:ext uri="{FF2B5EF4-FFF2-40B4-BE49-F238E27FC236}">
                <a16:creationId xmlns:a16="http://schemas.microsoft.com/office/drawing/2014/main" id="{EB3DC4B6-14AD-4A08-AB3B-98CCE7C9B7F2}"/>
              </a:ext>
            </a:extLst>
          </p:cNvPr>
          <p:cNvSpPr>
            <a:spLocks noGrp="1"/>
          </p:cNvSpPr>
          <p:nvPr/>
        </p:nvSpPr>
        <p:spPr>
          <a:xfrm>
            <a:off x="781050" y="2047875"/>
            <a:ext cx="2857500" cy="1000125"/>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4A6FDF3F-E74B-4A5B-BCC5-05E1AF80EC25}"/>
              </a:ext>
            </a:extLst>
          </p:cNvPr>
          <p:cNvSpPr>
            <a:spLocks noGrp="1"/>
          </p:cNvSpPr>
          <p:nvPr/>
        </p:nvSpPr>
        <p:spPr>
          <a:xfrm>
            <a:off x="971550" y="2219325"/>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Inputs</a:t>
            </a:r>
          </a:p>
        </p:txBody>
      </p:sp>
      <p:sp>
        <p:nvSpPr>
          <p:cNvPr id="7" name="Rectangle 6">
            <a:extLst>
              <a:ext uri="{FF2B5EF4-FFF2-40B4-BE49-F238E27FC236}">
                <a16:creationId xmlns:a16="http://schemas.microsoft.com/office/drawing/2014/main" id="{6E9E8A53-6ABE-4441-A949-FD269B32BA54}"/>
              </a:ext>
            </a:extLst>
          </p:cNvPr>
          <p:cNvSpPr>
            <a:spLocks noGrp="1"/>
          </p:cNvSpPr>
          <p:nvPr/>
        </p:nvSpPr>
        <p:spPr>
          <a:xfrm>
            <a:off x="971550" y="2600325"/>
            <a:ext cx="24765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weather, humidity, task, user</a:t>
            </a:r>
          </a:p>
        </p:txBody>
      </p:sp>
      <p:sp>
        <p:nvSpPr>
          <p:cNvPr id="8" name="Rectangle 7">
            <a:extLst>
              <a:ext uri="{FF2B5EF4-FFF2-40B4-BE49-F238E27FC236}">
                <a16:creationId xmlns:a16="http://schemas.microsoft.com/office/drawing/2014/main" id="{F263991F-29C4-4BD9-B47B-63C9DAEE7BE8}"/>
              </a:ext>
            </a:extLst>
          </p:cNvPr>
          <p:cNvSpPr>
            <a:spLocks noGrp="1"/>
          </p:cNvSpPr>
          <p:nvPr/>
        </p:nvSpPr>
        <p:spPr>
          <a:xfrm>
            <a:off x="3771900" y="2409825"/>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3F7F95"/>
                </a:solidFill>
                <a:latin typeface="Aptos"/>
                <a:ea typeface="Aptos"/>
                <a:cs typeface="Aptos"/>
              </a:defRPr>
            </a:pPr>
            <a:r>
              <a:rPr sz="1650" b="1">
                <a:solidFill>
                  <a:srgbClr val="3F7F95"/>
                </a:solidFill>
                <a:latin typeface="Aptos"/>
                <a:ea typeface="Aptos"/>
                <a:cs typeface="Aptos"/>
              </a:rPr>
              <a:t>&gt;</a:t>
            </a:r>
          </a:p>
        </p:txBody>
      </p:sp>
      <p:sp>
        <p:nvSpPr>
          <p:cNvPr id="9" name="Rectangle 8">
            <a:extLst>
              <a:ext uri="{FF2B5EF4-FFF2-40B4-BE49-F238E27FC236}">
                <a16:creationId xmlns:a16="http://schemas.microsoft.com/office/drawing/2014/main" id="{8C30EE67-5BB9-4552-9C9D-6F0ECE5292A6}"/>
              </a:ext>
            </a:extLst>
          </p:cNvPr>
          <p:cNvSpPr>
            <a:spLocks noGrp="1"/>
          </p:cNvSpPr>
          <p:nvPr/>
        </p:nvSpPr>
        <p:spPr>
          <a:xfrm>
            <a:off x="4400550" y="2047875"/>
            <a:ext cx="2857500" cy="1000125"/>
          </a:xfrm>
          <a:prstGeom prst="rect">
            <a:avLst/>
          </a:prstGeom>
          <a:solidFill>
            <a:srgbClr val="FFFFFF"/>
          </a:solidFill>
          <a:ln w="9525">
            <a:solidFill>
              <a:srgbClr val="D9D1C2"/>
            </a:solidFill>
            <a:prstDash val="solid"/>
          </a:ln>
        </p:spPr>
      </p:sp>
      <p:sp>
        <p:nvSpPr>
          <p:cNvPr id="10" name="Rectangle 9">
            <a:extLst>
              <a:ext uri="{FF2B5EF4-FFF2-40B4-BE49-F238E27FC236}">
                <a16:creationId xmlns:a16="http://schemas.microsoft.com/office/drawing/2014/main" id="{234583DB-51DC-4EEF-AD41-98AAEEAC1AB6}"/>
              </a:ext>
            </a:extLst>
          </p:cNvPr>
          <p:cNvSpPr>
            <a:spLocks noGrp="1"/>
          </p:cNvSpPr>
          <p:nvPr/>
        </p:nvSpPr>
        <p:spPr>
          <a:xfrm>
            <a:off x="4591050" y="2219325"/>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Zone context</a:t>
            </a:r>
          </a:p>
        </p:txBody>
      </p:sp>
      <p:sp>
        <p:nvSpPr>
          <p:cNvPr id="11" name="Rectangle 10">
            <a:extLst>
              <a:ext uri="{FF2B5EF4-FFF2-40B4-BE49-F238E27FC236}">
                <a16:creationId xmlns:a16="http://schemas.microsoft.com/office/drawing/2014/main" id="{5A9A3A57-14B5-4DFC-9DCA-14F121D402C8}"/>
              </a:ext>
            </a:extLst>
          </p:cNvPr>
          <p:cNvSpPr>
            <a:spLocks noGrp="1"/>
          </p:cNvSpPr>
          <p:nvPr/>
        </p:nvSpPr>
        <p:spPr>
          <a:xfrm>
            <a:off x="4591050" y="2600325"/>
            <a:ext cx="24765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shade, surface, water, canopy</a:t>
            </a:r>
          </a:p>
        </p:txBody>
      </p:sp>
      <p:sp>
        <p:nvSpPr>
          <p:cNvPr id="12" name="Rectangle 11">
            <a:extLst>
              <a:ext uri="{FF2B5EF4-FFF2-40B4-BE49-F238E27FC236}">
                <a16:creationId xmlns:a16="http://schemas.microsoft.com/office/drawing/2014/main" id="{6E7E997F-9C06-4460-ACF4-1EF1EECCCA07}"/>
              </a:ext>
            </a:extLst>
          </p:cNvPr>
          <p:cNvSpPr>
            <a:spLocks noGrp="1"/>
          </p:cNvSpPr>
          <p:nvPr/>
        </p:nvSpPr>
        <p:spPr>
          <a:xfrm>
            <a:off x="7391400" y="2409825"/>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3F7F95"/>
                </a:solidFill>
                <a:latin typeface="Aptos"/>
                <a:ea typeface="Aptos"/>
                <a:cs typeface="Aptos"/>
              </a:defRPr>
            </a:pPr>
            <a:r>
              <a:rPr sz="1650" b="1">
                <a:solidFill>
                  <a:srgbClr val="3F7F95"/>
                </a:solidFill>
                <a:latin typeface="Aptos"/>
                <a:ea typeface="Aptos"/>
                <a:cs typeface="Aptos"/>
              </a:rPr>
              <a:t>&gt;</a:t>
            </a:r>
          </a:p>
        </p:txBody>
      </p:sp>
      <p:sp>
        <p:nvSpPr>
          <p:cNvPr id="13" name="Rectangle 12">
            <a:extLst>
              <a:ext uri="{FF2B5EF4-FFF2-40B4-BE49-F238E27FC236}">
                <a16:creationId xmlns:a16="http://schemas.microsoft.com/office/drawing/2014/main" id="{2219BCA6-C0C4-459A-A04F-DC5ABBB2FC85}"/>
              </a:ext>
            </a:extLst>
          </p:cNvPr>
          <p:cNvSpPr>
            <a:spLocks noGrp="1"/>
          </p:cNvSpPr>
          <p:nvPr/>
        </p:nvSpPr>
        <p:spPr>
          <a:xfrm>
            <a:off x="8020050" y="2047875"/>
            <a:ext cx="2857500" cy="1000125"/>
          </a:xfrm>
          <a:prstGeom prst="rect">
            <a:avLst/>
          </a:prstGeom>
          <a:solidFill>
            <a:srgbClr val="FFFFFF"/>
          </a:solidFill>
          <a:ln w="9525">
            <a:solidFill>
              <a:srgbClr val="D9D1C2"/>
            </a:solidFill>
            <a:prstDash val="solid"/>
          </a:ln>
        </p:spPr>
      </p:sp>
      <p:sp>
        <p:nvSpPr>
          <p:cNvPr id="14" name="Rectangle 13">
            <a:extLst>
              <a:ext uri="{FF2B5EF4-FFF2-40B4-BE49-F238E27FC236}">
                <a16:creationId xmlns:a16="http://schemas.microsoft.com/office/drawing/2014/main" id="{39BB1BA0-CFAA-48D5-B0D6-7CFE487DEF2E}"/>
              </a:ext>
            </a:extLst>
          </p:cNvPr>
          <p:cNvSpPr>
            <a:spLocks noGrp="1"/>
          </p:cNvSpPr>
          <p:nvPr/>
        </p:nvSpPr>
        <p:spPr>
          <a:xfrm>
            <a:off x="8210550" y="2219325"/>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Risk model</a:t>
            </a:r>
          </a:p>
        </p:txBody>
      </p:sp>
      <p:sp>
        <p:nvSpPr>
          <p:cNvPr id="15" name="Rectangle 14">
            <a:extLst>
              <a:ext uri="{FF2B5EF4-FFF2-40B4-BE49-F238E27FC236}">
                <a16:creationId xmlns:a16="http://schemas.microsoft.com/office/drawing/2014/main" id="{825074E7-E2CE-4DA1-9FCE-A9B3890C64BF}"/>
              </a:ext>
            </a:extLst>
          </p:cNvPr>
          <p:cNvSpPr>
            <a:spLocks noGrp="1"/>
          </p:cNvSpPr>
          <p:nvPr/>
        </p:nvSpPr>
        <p:spPr>
          <a:xfrm>
            <a:off x="8210550" y="2600325"/>
            <a:ext cx="24765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heat index + exposure score</a:t>
            </a:r>
          </a:p>
        </p:txBody>
      </p:sp>
      <p:sp>
        <p:nvSpPr>
          <p:cNvPr id="16" name="Rectangle 15">
            <a:extLst>
              <a:ext uri="{FF2B5EF4-FFF2-40B4-BE49-F238E27FC236}">
                <a16:creationId xmlns:a16="http://schemas.microsoft.com/office/drawing/2014/main" id="{A3CEA562-5E9A-403C-B9FE-FF76882655FD}"/>
              </a:ext>
            </a:extLst>
          </p:cNvPr>
          <p:cNvSpPr>
            <a:spLocks noGrp="1"/>
          </p:cNvSpPr>
          <p:nvPr/>
        </p:nvSpPr>
        <p:spPr>
          <a:xfrm>
            <a:off x="781050" y="3476625"/>
            <a:ext cx="2857500" cy="1000125"/>
          </a:xfrm>
          <a:prstGeom prst="rect">
            <a:avLst/>
          </a:prstGeom>
          <a:solidFill>
            <a:srgbClr val="FFFFFF"/>
          </a:solidFill>
          <a:ln w="9525">
            <a:solidFill>
              <a:srgbClr val="D9D1C2"/>
            </a:solidFill>
            <a:prstDash val="solid"/>
          </a:ln>
        </p:spPr>
      </p:sp>
      <p:sp>
        <p:nvSpPr>
          <p:cNvPr id="17" name="Rectangle 16">
            <a:extLst>
              <a:ext uri="{FF2B5EF4-FFF2-40B4-BE49-F238E27FC236}">
                <a16:creationId xmlns:a16="http://schemas.microsoft.com/office/drawing/2014/main" id="{D785C93B-F2B8-417E-A088-6F996E72AE74}"/>
              </a:ext>
            </a:extLst>
          </p:cNvPr>
          <p:cNvSpPr>
            <a:spLocks noGrp="1"/>
          </p:cNvSpPr>
          <p:nvPr/>
        </p:nvSpPr>
        <p:spPr>
          <a:xfrm>
            <a:off x="971550" y="3648075"/>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RAG</a:t>
            </a:r>
          </a:p>
        </p:txBody>
      </p:sp>
      <p:sp>
        <p:nvSpPr>
          <p:cNvPr id="18" name="Rectangle 17">
            <a:extLst>
              <a:ext uri="{FF2B5EF4-FFF2-40B4-BE49-F238E27FC236}">
                <a16:creationId xmlns:a16="http://schemas.microsoft.com/office/drawing/2014/main" id="{2B3BED75-5921-4B31-B6D2-E1741E48F787}"/>
              </a:ext>
            </a:extLst>
          </p:cNvPr>
          <p:cNvSpPr>
            <a:spLocks noGrp="1"/>
          </p:cNvSpPr>
          <p:nvPr/>
        </p:nvSpPr>
        <p:spPr>
          <a:xfrm>
            <a:off x="971550" y="4029075"/>
            <a:ext cx="24765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trusted heat guidance</a:t>
            </a:r>
          </a:p>
        </p:txBody>
      </p:sp>
      <p:sp>
        <p:nvSpPr>
          <p:cNvPr id="19" name="Rectangle 18">
            <a:extLst>
              <a:ext uri="{FF2B5EF4-FFF2-40B4-BE49-F238E27FC236}">
                <a16:creationId xmlns:a16="http://schemas.microsoft.com/office/drawing/2014/main" id="{010C0C84-EF3D-47D4-9A74-7E8E3D6DEADA}"/>
              </a:ext>
            </a:extLst>
          </p:cNvPr>
          <p:cNvSpPr>
            <a:spLocks noGrp="1"/>
          </p:cNvSpPr>
          <p:nvPr/>
        </p:nvSpPr>
        <p:spPr>
          <a:xfrm>
            <a:off x="3771900" y="3838575"/>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3F7F95"/>
                </a:solidFill>
                <a:latin typeface="Aptos"/>
                <a:ea typeface="Aptos"/>
                <a:cs typeface="Aptos"/>
              </a:defRPr>
            </a:pPr>
            <a:r>
              <a:rPr sz="1650" b="1">
                <a:solidFill>
                  <a:srgbClr val="3F7F95"/>
                </a:solidFill>
                <a:latin typeface="Aptos"/>
                <a:ea typeface="Aptos"/>
                <a:cs typeface="Aptos"/>
              </a:rPr>
              <a:t>&gt;</a:t>
            </a:r>
          </a:p>
        </p:txBody>
      </p:sp>
      <p:sp>
        <p:nvSpPr>
          <p:cNvPr id="20" name="Rectangle 19">
            <a:extLst>
              <a:ext uri="{FF2B5EF4-FFF2-40B4-BE49-F238E27FC236}">
                <a16:creationId xmlns:a16="http://schemas.microsoft.com/office/drawing/2014/main" id="{BA720C4D-2B88-4FA8-939E-8D89A1200958}"/>
              </a:ext>
            </a:extLst>
          </p:cNvPr>
          <p:cNvSpPr>
            <a:spLocks noGrp="1"/>
          </p:cNvSpPr>
          <p:nvPr/>
        </p:nvSpPr>
        <p:spPr>
          <a:xfrm>
            <a:off x="4400550" y="3476625"/>
            <a:ext cx="2857500" cy="1000125"/>
          </a:xfrm>
          <a:prstGeom prst="rect">
            <a:avLst/>
          </a:prstGeom>
          <a:solidFill>
            <a:srgbClr val="FFFFFF"/>
          </a:solidFill>
          <a:ln w="9525">
            <a:solidFill>
              <a:srgbClr val="D9D1C2"/>
            </a:solidFill>
            <a:prstDash val="solid"/>
          </a:ln>
        </p:spPr>
      </p:sp>
      <p:sp>
        <p:nvSpPr>
          <p:cNvPr id="21" name="Rectangle 20">
            <a:extLst>
              <a:ext uri="{FF2B5EF4-FFF2-40B4-BE49-F238E27FC236}">
                <a16:creationId xmlns:a16="http://schemas.microsoft.com/office/drawing/2014/main" id="{688FF0F9-69C4-4740-8248-226EF9755768}"/>
              </a:ext>
            </a:extLst>
          </p:cNvPr>
          <p:cNvSpPr>
            <a:spLocks noGrp="1"/>
          </p:cNvSpPr>
          <p:nvPr/>
        </p:nvSpPr>
        <p:spPr>
          <a:xfrm>
            <a:off x="4591050" y="3648075"/>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AI agent</a:t>
            </a:r>
          </a:p>
        </p:txBody>
      </p:sp>
      <p:sp>
        <p:nvSpPr>
          <p:cNvPr id="22" name="Rectangle 21">
            <a:extLst>
              <a:ext uri="{FF2B5EF4-FFF2-40B4-BE49-F238E27FC236}">
                <a16:creationId xmlns:a16="http://schemas.microsoft.com/office/drawing/2014/main" id="{6DA154C4-928C-4AED-9D71-CDEED174DB79}"/>
              </a:ext>
            </a:extLst>
          </p:cNvPr>
          <p:cNvSpPr>
            <a:spLocks noGrp="1"/>
          </p:cNvSpPr>
          <p:nvPr/>
        </p:nvSpPr>
        <p:spPr>
          <a:xfrm>
            <a:off x="4591050" y="4029075"/>
            <a:ext cx="24765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plain-language action plan</a:t>
            </a:r>
          </a:p>
        </p:txBody>
      </p:sp>
      <p:sp>
        <p:nvSpPr>
          <p:cNvPr id="23" name="Rectangle 22">
            <a:extLst>
              <a:ext uri="{FF2B5EF4-FFF2-40B4-BE49-F238E27FC236}">
                <a16:creationId xmlns:a16="http://schemas.microsoft.com/office/drawing/2014/main" id="{CDE07D57-50FA-40ED-A1D0-79964DB8AECA}"/>
              </a:ext>
            </a:extLst>
          </p:cNvPr>
          <p:cNvSpPr>
            <a:spLocks noGrp="1"/>
          </p:cNvSpPr>
          <p:nvPr/>
        </p:nvSpPr>
        <p:spPr>
          <a:xfrm>
            <a:off x="7391400" y="3838575"/>
            <a:ext cx="285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3F7F95"/>
                </a:solidFill>
                <a:latin typeface="Aptos"/>
                <a:ea typeface="Aptos"/>
                <a:cs typeface="Aptos"/>
              </a:defRPr>
            </a:pPr>
            <a:r>
              <a:rPr sz="1650" b="1">
                <a:solidFill>
                  <a:srgbClr val="3F7F95"/>
                </a:solidFill>
                <a:latin typeface="Aptos"/>
                <a:ea typeface="Aptos"/>
                <a:cs typeface="Aptos"/>
              </a:rPr>
              <a:t>&gt;</a:t>
            </a:r>
          </a:p>
        </p:txBody>
      </p:sp>
      <p:sp>
        <p:nvSpPr>
          <p:cNvPr id="24" name="Rectangle 23">
            <a:extLst>
              <a:ext uri="{FF2B5EF4-FFF2-40B4-BE49-F238E27FC236}">
                <a16:creationId xmlns:a16="http://schemas.microsoft.com/office/drawing/2014/main" id="{D91FFE95-9DDF-421D-A9CD-729138EADB52}"/>
              </a:ext>
            </a:extLst>
          </p:cNvPr>
          <p:cNvSpPr>
            <a:spLocks noGrp="1"/>
          </p:cNvSpPr>
          <p:nvPr/>
        </p:nvSpPr>
        <p:spPr>
          <a:xfrm>
            <a:off x="8020050" y="3476625"/>
            <a:ext cx="2857500" cy="1000125"/>
          </a:xfrm>
          <a:prstGeom prst="rect">
            <a:avLst/>
          </a:prstGeom>
          <a:solidFill>
            <a:srgbClr val="FFFFFF"/>
          </a:solidFill>
          <a:ln w="9525">
            <a:solidFill>
              <a:srgbClr val="D9D1C2"/>
            </a:solidFill>
            <a:prstDash val="solid"/>
          </a:ln>
        </p:spPr>
      </p:sp>
      <p:sp>
        <p:nvSpPr>
          <p:cNvPr id="25" name="Rectangle 24">
            <a:extLst>
              <a:ext uri="{FF2B5EF4-FFF2-40B4-BE49-F238E27FC236}">
                <a16:creationId xmlns:a16="http://schemas.microsoft.com/office/drawing/2014/main" id="{030BA4F6-D41B-49D1-8ADC-0329C91E2258}"/>
              </a:ext>
            </a:extLst>
          </p:cNvPr>
          <p:cNvSpPr>
            <a:spLocks noGrp="1"/>
          </p:cNvSpPr>
          <p:nvPr/>
        </p:nvSpPr>
        <p:spPr>
          <a:xfrm>
            <a:off x="8210550" y="3648075"/>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Dashboard</a:t>
            </a:r>
          </a:p>
        </p:txBody>
      </p:sp>
      <p:sp>
        <p:nvSpPr>
          <p:cNvPr id="26" name="Rectangle 25">
            <a:extLst>
              <a:ext uri="{FF2B5EF4-FFF2-40B4-BE49-F238E27FC236}">
                <a16:creationId xmlns:a16="http://schemas.microsoft.com/office/drawing/2014/main" id="{470B54F9-1F21-4BF9-8A77-066BC1239162}"/>
              </a:ext>
            </a:extLst>
          </p:cNvPr>
          <p:cNvSpPr>
            <a:spLocks noGrp="1"/>
          </p:cNvSpPr>
          <p:nvPr/>
        </p:nvSpPr>
        <p:spPr>
          <a:xfrm>
            <a:off x="8210550" y="4029075"/>
            <a:ext cx="2476500" cy="314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routes, reports, KPIs</a:t>
            </a:r>
          </a:p>
        </p:txBody>
      </p:sp>
      <p:sp>
        <p:nvSpPr>
          <p:cNvPr id="27" name="Rectangle 26">
            <a:extLst>
              <a:ext uri="{FF2B5EF4-FFF2-40B4-BE49-F238E27FC236}">
                <a16:creationId xmlns:a16="http://schemas.microsoft.com/office/drawing/2014/main" id="{854719FA-2414-4379-87C9-5C2644BE65F6}"/>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8" name="Rectangle 27">
            <a:extLst>
              <a:ext uri="{FF2B5EF4-FFF2-40B4-BE49-F238E27FC236}">
                <a16:creationId xmlns:a16="http://schemas.microsoft.com/office/drawing/2014/main" id="{5F2DE6F8-6944-4115-8373-D7F5354AD232}"/>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29" name="Rectangle 28">
            <a:extLst>
              <a:ext uri="{FF2B5EF4-FFF2-40B4-BE49-F238E27FC236}">
                <a16:creationId xmlns:a16="http://schemas.microsoft.com/office/drawing/2014/main" id="{91D79758-D0CC-4673-9A15-77D14C798154}"/>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09</a:t>
            </a:r>
          </a:p>
        </p:txBody>
      </p:sp>
    </p:spTree>
    <p:extLst>
      <p:ext uri="{BB962C8B-B14F-4D97-AF65-F5344CB8AC3E}">
        <p14:creationId xmlns:p14="http://schemas.microsoft.com/office/powerpoint/2010/main" val="209334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57D72FD2-8B9B-4976-A4B9-0A95FA1896BE}"/>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10-marker">
            <a:extLst>
              <a:ext uri="{FF2B5EF4-FFF2-40B4-BE49-F238E27FC236}">
                <a16:creationId xmlns:a16="http://schemas.microsoft.com/office/drawing/2014/main" id="{0CE97708-EF49-4A49-9C8C-82647E8CD6D5}"/>
              </a:ext>
            </a:extLst>
          </p:cNvPr>
          <p:cNvSpPr>
            <a:spLocks noGrp="1"/>
          </p:cNvSpPr>
          <p:nvPr/>
        </p:nvSpPr>
        <p:spPr>
          <a:xfrm>
            <a:off x="552450" y="400050"/>
            <a:ext cx="266700" cy="57150"/>
          </a:xfrm>
          <a:prstGeom prst="rect">
            <a:avLst/>
          </a:prstGeom>
          <a:solidFill>
            <a:srgbClr val="F3B23C"/>
          </a:solidFill>
          <a:ln w="0">
            <a:solidFill>
              <a:srgbClr val="000000">
                <a:alpha val="0"/>
              </a:srgbClr>
            </a:solidFill>
            <a:prstDash val="solid"/>
          </a:ln>
        </p:spPr>
      </p:sp>
      <p:sp>
        <p:nvSpPr>
          <p:cNvPr id="3" name="kicker-10-label">
            <a:extLst>
              <a:ext uri="{FF2B5EF4-FFF2-40B4-BE49-F238E27FC236}">
                <a16:creationId xmlns:a16="http://schemas.microsoft.com/office/drawing/2014/main" id="{371BAE13-E9C5-4066-8AA7-5BC18AAA05A1}"/>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DATA DESIGN</a:t>
            </a:r>
          </a:p>
        </p:txBody>
      </p:sp>
      <p:sp>
        <p:nvSpPr>
          <p:cNvPr id="4" name="Rectangle 3">
            <a:extLst>
              <a:ext uri="{FF2B5EF4-FFF2-40B4-BE49-F238E27FC236}">
                <a16:creationId xmlns:a16="http://schemas.microsoft.com/office/drawing/2014/main" id="{2CA39E96-7034-43E9-BD7F-E58F987E77EC}"/>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The prototype uses mock campus data but production-ready data fields.</a:t>
            </a:r>
          </a:p>
        </p:txBody>
      </p:sp>
      <p:sp>
        <p:nvSpPr>
          <p:cNvPr id="5" name="Rectangle 4">
            <a:extLst>
              <a:ext uri="{FF2B5EF4-FFF2-40B4-BE49-F238E27FC236}">
                <a16:creationId xmlns:a16="http://schemas.microsoft.com/office/drawing/2014/main" id="{F0B8C211-8E23-4178-BD2F-E8C247F1519E}"/>
              </a:ext>
            </a:extLst>
          </p:cNvPr>
          <p:cNvSpPr>
            <a:spLocks noGrp="1"/>
          </p:cNvSpPr>
          <p:nvPr/>
        </p:nvSpPr>
        <p:spPr>
          <a:xfrm>
            <a:off x="876300" y="2095500"/>
            <a:ext cx="2095500" cy="64770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1586AEB9-5FF3-4335-84C9-C0A1A79BD64C}"/>
              </a:ext>
            </a:extLst>
          </p:cNvPr>
          <p:cNvSpPr>
            <a:spLocks noGrp="1"/>
          </p:cNvSpPr>
          <p:nvPr/>
        </p:nvSpPr>
        <p:spPr>
          <a:xfrm>
            <a:off x="1009650" y="228600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surface type</a:t>
            </a:r>
          </a:p>
        </p:txBody>
      </p:sp>
      <p:sp>
        <p:nvSpPr>
          <p:cNvPr id="7" name="Rectangle 6">
            <a:extLst>
              <a:ext uri="{FF2B5EF4-FFF2-40B4-BE49-F238E27FC236}">
                <a16:creationId xmlns:a16="http://schemas.microsoft.com/office/drawing/2014/main" id="{8B8078EB-7E55-4C02-B763-484A2D3ECF3B}"/>
              </a:ext>
            </a:extLst>
          </p:cNvPr>
          <p:cNvSpPr>
            <a:spLocks noGrp="1"/>
          </p:cNvSpPr>
          <p:nvPr/>
        </p:nvSpPr>
        <p:spPr>
          <a:xfrm>
            <a:off x="3448050" y="2095500"/>
            <a:ext cx="2095500" cy="647700"/>
          </a:xfrm>
          <a:prstGeom prst="rect">
            <a:avLst/>
          </a:prstGeom>
          <a:solidFill>
            <a:srgbClr val="FFF7E7"/>
          </a:solidFill>
          <a:ln w="9525">
            <a:solidFill>
              <a:srgbClr val="D9D1C2"/>
            </a:solidFill>
            <a:prstDash val="solid"/>
          </a:ln>
        </p:spPr>
      </p:sp>
      <p:sp>
        <p:nvSpPr>
          <p:cNvPr id="8" name="Rectangle 7">
            <a:extLst>
              <a:ext uri="{FF2B5EF4-FFF2-40B4-BE49-F238E27FC236}">
                <a16:creationId xmlns:a16="http://schemas.microsoft.com/office/drawing/2014/main" id="{88780F92-1385-4477-841A-4E0690EE6EA0}"/>
              </a:ext>
            </a:extLst>
          </p:cNvPr>
          <p:cNvSpPr>
            <a:spLocks noGrp="1"/>
          </p:cNvSpPr>
          <p:nvPr/>
        </p:nvSpPr>
        <p:spPr>
          <a:xfrm>
            <a:off x="3581400" y="228600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shade score</a:t>
            </a:r>
          </a:p>
        </p:txBody>
      </p:sp>
      <p:sp>
        <p:nvSpPr>
          <p:cNvPr id="9" name="Rectangle 8">
            <a:extLst>
              <a:ext uri="{FF2B5EF4-FFF2-40B4-BE49-F238E27FC236}">
                <a16:creationId xmlns:a16="http://schemas.microsoft.com/office/drawing/2014/main" id="{722F556E-C32C-4C8F-9898-858705DEE982}"/>
              </a:ext>
            </a:extLst>
          </p:cNvPr>
          <p:cNvSpPr>
            <a:spLocks noGrp="1"/>
          </p:cNvSpPr>
          <p:nvPr/>
        </p:nvSpPr>
        <p:spPr>
          <a:xfrm>
            <a:off x="6019800" y="2095500"/>
            <a:ext cx="2095500" cy="647700"/>
          </a:xfrm>
          <a:prstGeom prst="rect">
            <a:avLst/>
          </a:prstGeom>
          <a:solidFill>
            <a:srgbClr val="FFFFFF"/>
          </a:solidFill>
          <a:ln w="9525">
            <a:solidFill>
              <a:srgbClr val="D9D1C2"/>
            </a:solidFill>
            <a:prstDash val="solid"/>
          </a:ln>
        </p:spPr>
      </p:sp>
      <p:sp>
        <p:nvSpPr>
          <p:cNvPr id="10" name="Rectangle 9">
            <a:extLst>
              <a:ext uri="{FF2B5EF4-FFF2-40B4-BE49-F238E27FC236}">
                <a16:creationId xmlns:a16="http://schemas.microsoft.com/office/drawing/2014/main" id="{6C99C43A-C806-4000-9A3A-04F18579A18E}"/>
              </a:ext>
            </a:extLst>
          </p:cNvPr>
          <p:cNvSpPr>
            <a:spLocks noGrp="1"/>
          </p:cNvSpPr>
          <p:nvPr/>
        </p:nvSpPr>
        <p:spPr>
          <a:xfrm>
            <a:off x="6153150" y="228600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water points</a:t>
            </a:r>
          </a:p>
        </p:txBody>
      </p:sp>
      <p:sp>
        <p:nvSpPr>
          <p:cNvPr id="11" name="Rectangle 10">
            <a:extLst>
              <a:ext uri="{FF2B5EF4-FFF2-40B4-BE49-F238E27FC236}">
                <a16:creationId xmlns:a16="http://schemas.microsoft.com/office/drawing/2014/main" id="{B1980F4A-F438-4D12-A088-32D01045B4CF}"/>
              </a:ext>
            </a:extLst>
          </p:cNvPr>
          <p:cNvSpPr>
            <a:spLocks noGrp="1"/>
          </p:cNvSpPr>
          <p:nvPr/>
        </p:nvSpPr>
        <p:spPr>
          <a:xfrm>
            <a:off x="8591550" y="2095500"/>
            <a:ext cx="2095500" cy="647700"/>
          </a:xfrm>
          <a:prstGeom prst="rect">
            <a:avLst/>
          </a:prstGeom>
          <a:solidFill>
            <a:srgbClr val="FFF7E7"/>
          </a:solidFill>
          <a:ln w="9525">
            <a:solidFill>
              <a:srgbClr val="D9D1C2"/>
            </a:solidFill>
            <a:prstDash val="solid"/>
          </a:ln>
        </p:spPr>
      </p:sp>
      <p:sp>
        <p:nvSpPr>
          <p:cNvPr id="12" name="Rectangle 11">
            <a:extLst>
              <a:ext uri="{FF2B5EF4-FFF2-40B4-BE49-F238E27FC236}">
                <a16:creationId xmlns:a16="http://schemas.microsoft.com/office/drawing/2014/main" id="{021F9D6A-8FCF-40C8-BAAA-63FA66078A01}"/>
              </a:ext>
            </a:extLst>
          </p:cNvPr>
          <p:cNvSpPr>
            <a:spLocks noGrp="1"/>
          </p:cNvSpPr>
          <p:nvPr/>
        </p:nvSpPr>
        <p:spPr>
          <a:xfrm>
            <a:off x="8724900" y="2286000"/>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tree canopy</a:t>
            </a:r>
          </a:p>
        </p:txBody>
      </p:sp>
      <p:sp>
        <p:nvSpPr>
          <p:cNvPr id="13" name="Rectangle 12">
            <a:extLst>
              <a:ext uri="{FF2B5EF4-FFF2-40B4-BE49-F238E27FC236}">
                <a16:creationId xmlns:a16="http://schemas.microsoft.com/office/drawing/2014/main" id="{6C119B04-3E9C-4423-8727-A440C6006816}"/>
              </a:ext>
            </a:extLst>
          </p:cNvPr>
          <p:cNvSpPr>
            <a:spLocks noGrp="1"/>
          </p:cNvSpPr>
          <p:nvPr/>
        </p:nvSpPr>
        <p:spPr>
          <a:xfrm>
            <a:off x="876300" y="3095625"/>
            <a:ext cx="2095500" cy="647700"/>
          </a:xfrm>
          <a:prstGeom prst="rect">
            <a:avLst/>
          </a:prstGeom>
          <a:solidFill>
            <a:srgbClr val="FFFFFF"/>
          </a:solidFill>
          <a:ln w="9525">
            <a:solidFill>
              <a:srgbClr val="D9D1C2"/>
            </a:solidFill>
            <a:prstDash val="solid"/>
          </a:ln>
        </p:spPr>
      </p:sp>
      <p:sp>
        <p:nvSpPr>
          <p:cNvPr id="14" name="Rectangle 13">
            <a:extLst>
              <a:ext uri="{FF2B5EF4-FFF2-40B4-BE49-F238E27FC236}">
                <a16:creationId xmlns:a16="http://schemas.microsoft.com/office/drawing/2014/main" id="{022529EB-A62F-4737-AA04-98329DD1F670}"/>
              </a:ext>
            </a:extLst>
          </p:cNvPr>
          <p:cNvSpPr>
            <a:spLocks noGrp="1"/>
          </p:cNvSpPr>
          <p:nvPr/>
        </p:nvSpPr>
        <p:spPr>
          <a:xfrm>
            <a:off x="1009650" y="3286125"/>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temperature modifier</a:t>
            </a:r>
          </a:p>
        </p:txBody>
      </p:sp>
      <p:sp>
        <p:nvSpPr>
          <p:cNvPr id="15" name="Rectangle 14">
            <a:extLst>
              <a:ext uri="{FF2B5EF4-FFF2-40B4-BE49-F238E27FC236}">
                <a16:creationId xmlns:a16="http://schemas.microsoft.com/office/drawing/2014/main" id="{C89E06B6-39C2-4448-9D74-4EC2C934C628}"/>
              </a:ext>
            </a:extLst>
          </p:cNvPr>
          <p:cNvSpPr>
            <a:spLocks noGrp="1"/>
          </p:cNvSpPr>
          <p:nvPr/>
        </p:nvSpPr>
        <p:spPr>
          <a:xfrm>
            <a:off x="3448050" y="3095625"/>
            <a:ext cx="2095500" cy="647700"/>
          </a:xfrm>
          <a:prstGeom prst="rect">
            <a:avLst/>
          </a:prstGeom>
          <a:solidFill>
            <a:srgbClr val="FFF7E7"/>
          </a:solidFill>
          <a:ln w="9525">
            <a:solidFill>
              <a:srgbClr val="D9D1C2"/>
            </a:solidFill>
            <a:prstDash val="solid"/>
          </a:ln>
        </p:spPr>
      </p:sp>
      <p:sp>
        <p:nvSpPr>
          <p:cNvPr id="16" name="Rectangle 15">
            <a:extLst>
              <a:ext uri="{FF2B5EF4-FFF2-40B4-BE49-F238E27FC236}">
                <a16:creationId xmlns:a16="http://schemas.microsoft.com/office/drawing/2014/main" id="{D6EEA66D-9A67-4854-8401-DD02E83BE64D}"/>
              </a:ext>
            </a:extLst>
          </p:cNvPr>
          <p:cNvSpPr>
            <a:spLocks noGrp="1"/>
          </p:cNvSpPr>
          <p:nvPr/>
        </p:nvSpPr>
        <p:spPr>
          <a:xfrm>
            <a:off x="3581400" y="3286125"/>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people exposed</a:t>
            </a:r>
          </a:p>
        </p:txBody>
      </p:sp>
      <p:sp>
        <p:nvSpPr>
          <p:cNvPr id="17" name="Rectangle 16">
            <a:extLst>
              <a:ext uri="{FF2B5EF4-FFF2-40B4-BE49-F238E27FC236}">
                <a16:creationId xmlns:a16="http://schemas.microsoft.com/office/drawing/2014/main" id="{A2DD7379-A825-473D-8360-E1B11905976B}"/>
              </a:ext>
            </a:extLst>
          </p:cNvPr>
          <p:cNvSpPr>
            <a:spLocks noGrp="1"/>
          </p:cNvSpPr>
          <p:nvPr/>
        </p:nvSpPr>
        <p:spPr>
          <a:xfrm>
            <a:off x="6019800" y="3095625"/>
            <a:ext cx="2095500" cy="647700"/>
          </a:xfrm>
          <a:prstGeom prst="rect">
            <a:avLst/>
          </a:prstGeom>
          <a:solidFill>
            <a:srgbClr val="FFFFFF"/>
          </a:solidFill>
          <a:ln w="9525">
            <a:solidFill>
              <a:srgbClr val="D9D1C2"/>
            </a:solidFill>
            <a:prstDash val="solid"/>
          </a:ln>
        </p:spPr>
      </p:sp>
      <p:sp>
        <p:nvSpPr>
          <p:cNvPr id="18" name="Rectangle 17">
            <a:extLst>
              <a:ext uri="{FF2B5EF4-FFF2-40B4-BE49-F238E27FC236}">
                <a16:creationId xmlns:a16="http://schemas.microsoft.com/office/drawing/2014/main" id="{36497B55-6EDE-4532-AAE8-8015A112EA22}"/>
              </a:ext>
            </a:extLst>
          </p:cNvPr>
          <p:cNvSpPr>
            <a:spLocks noGrp="1"/>
          </p:cNvSpPr>
          <p:nvPr/>
        </p:nvSpPr>
        <p:spPr>
          <a:xfrm>
            <a:off x="6153150" y="3286125"/>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task duration</a:t>
            </a:r>
          </a:p>
        </p:txBody>
      </p:sp>
      <p:sp>
        <p:nvSpPr>
          <p:cNvPr id="19" name="Rectangle 18">
            <a:extLst>
              <a:ext uri="{FF2B5EF4-FFF2-40B4-BE49-F238E27FC236}">
                <a16:creationId xmlns:a16="http://schemas.microsoft.com/office/drawing/2014/main" id="{60BBA57A-D319-48CF-BF29-A2B408C029FF}"/>
              </a:ext>
            </a:extLst>
          </p:cNvPr>
          <p:cNvSpPr>
            <a:spLocks noGrp="1"/>
          </p:cNvSpPr>
          <p:nvPr/>
        </p:nvSpPr>
        <p:spPr>
          <a:xfrm>
            <a:off x="8591550" y="3095625"/>
            <a:ext cx="2095500" cy="647700"/>
          </a:xfrm>
          <a:prstGeom prst="rect">
            <a:avLst/>
          </a:prstGeom>
          <a:solidFill>
            <a:srgbClr val="FFF7E7"/>
          </a:solidFill>
          <a:ln w="9525">
            <a:solidFill>
              <a:srgbClr val="D9D1C2"/>
            </a:solidFill>
            <a:prstDash val="solid"/>
          </a:ln>
        </p:spPr>
      </p:sp>
      <p:sp>
        <p:nvSpPr>
          <p:cNvPr id="20" name="Rectangle 19">
            <a:extLst>
              <a:ext uri="{FF2B5EF4-FFF2-40B4-BE49-F238E27FC236}">
                <a16:creationId xmlns:a16="http://schemas.microsoft.com/office/drawing/2014/main" id="{69F7574D-17ED-4F58-9E0A-B934524296D9}"/>
              </a:ext>
            </a:extLst>
          </p:cNvPr>
          <p:cNvSpPr>
            <a:spLocks noGrp="1"/>
          </p:cNvSpPr>
          <p:nvPr/>
        </p:nvSpPr>
        <p:spPr>
          <a:xfrm>
            <a:off x="8724900" y="3286125"/>
            <a:ext cx="18288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17201B"/>
                </a:solidFill>
                <a:latin typeface="Aptos"/>
                <a:ea typeface="Aptos"/>
                <a:cs typeface="Aptos"/>
              </a:defRPr>
            </a:pPr>
            <a:r>
              <a:rPr sz="1350" b="1">
                <a:solidFill>
                  <a:srgbClr val="17201B"/>
                </a:solidFill>
                <a:latin typeface="Aptos"/>
                <a:ea typeface="Aptos"/>
                <a:cs typeface="Aptos"/>
              </a:rPr>
              <a:t>user group</a:t>
            </a:r>
          </a:p>
        </p:txBody>
      </p:sp>
      <p:sp>
        <p:nvSpPr>
          <p:cNvPr id="21" name="Rectangle 20">
            <a:extLst>
              <a:ext uri="{FF2B5EF4-FFF2-40B4-BE49-F238E27FC236}">
                <a16:creationId xmlns:a16="http://schemas.microsoft.com/office/drawing/2014/main" id="{5EAFA1ED-AB03-408E-9F62-CE6C64BF0FC2}"/>
              </a:ext>
            </a:extLst>
          </p:cNvPr>
          <p:cNvSpPr>
            <a:spLocks noGrp="1"/>
          </p:cNvSpPr>
          <p:nvPr/>
        </p:nvSpPr>
        <p:spPr>
          <a:xfrm>
            <a:off x="1476375" y="4572000"/>
            <a:ext cx="866775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17201B"/>
                </a:solidFill>
                <a:latin typeface="Aptos"/>
                <a:ea typeface="Aptos"/>
                <a:cs typeface="Aptos"/>
              </a:defRPr>
            </a:pPr>
            <a:r>
              <a:rPr sz="1800" b="1">
                <a:solidFill>
                  <a:srgbClr val="17201B"/>
                </a:solidFill>
                <a:latin typeface="Aptos"/>
                <a:ea typeface="Aptos"/>
                <a:cs typeface="Aptos"/>
              </a:rPr>
              <a:t>Future inputs: live weather API, IoT sensors, GPS routes, GIS layers, image-based shade detection.</a:t>
            </a:r>
          </a:p>
        </p:txBody>
      </p:sp>
      <p:sp>
        <p:nvSpPr>
          <p:cNvPr id="22" name="Rectangle 21">
            <a:extLst>
              <a:ext uri="{FF2B5EF4-FFF2-40B4-BE49-F238E27FC236}">
                <a16:creationId xmlns:a16="http://schemas.microsoft.com/office/drawing/2014/main" id="{0DB04195-BA7F-4E29-AE1F-9CA166DC84A0}"/>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3" name="Rectangle 22">
            <a:extLst>
              <a:ext uri="{FF2B5EF4-FFF2-40B4-BE49-F238E27FC236}">
                <a16:creationId xmlns:a16="http://schemas.microsoft.com/office/drawing/2014/main" id="{27DB3C12-F25C-4B4F-ACA3-67A79DAB64D6}"/>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24" name="Rectangle 23">
            <a:extLst>
              <a:ext uri="{FF2B5EF4-FFF2-40B4-BE49-F238E27FC236}">
                <a16:creationId xmlns:a16="http://schemas.microsoft.com/office/drawing/2014/main" id="{67A399B9-C49C-4E3F-83EA-18A4DD3B59D2}"/>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10</a:t>
            </a:r>
          </a:p>
        </p:txBody>
      </p:sp>
    </p:spTree>
    <p:extLst>
      <p:ext uri="{BB962C8B-B14F-4D97-AF65-F5344CB8AC3E}">
        <p14:creationId xmlns:p14="http://schemas.microsoft.com/office/powerpoint/2010/main" val="1430961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23BB66-C7AC-451F-937D-9E8847024210}"/>
              </a:ext>
            </a:extLst>
          </p:cNvPr>
          <p:cNvSpPr>
            <a:spLocks noGrp="1"/>
          </p:cNvSpPr>
          <p:nvPr/>
        </p:nvSpPr>
        <p:spPr>
          <a:xfrm>
            <a:off x="0" y="0"/>
            <a:ext cx="12192000" cy="6858000"/>
          </a:xfrm>
          <a:prstGeom prst="rect">
            <a:avLst/>
          </a:prstGeom>
          <a:solidFill>
            <a:srgbClr val="17201B"/>
          </a:solidFill>
          <a:ln w="0">
            <a:solidFill>
              <a:srgbClr val="000000">
                <a:alpha val="0"/>
              </a:srgbClr>
            </a:solidFill>
            <a:prstDash val="solid"/>
          </a:ln>
        </p:spPr>
      </p:sp>
      <p:sp>
        <p:nvSpPr>
          <p:cNvPr id="2" name="kicker-11-marker">
            <a:extLst>
              <a:ext uri="{FF2B5EF4-FFF2-40B4-BE49-F238E27FC236}">
                <a16:creationId xmlns:a16="http://schemas.microsoft.com/office/drawing/2014/main" id="{9F64299B-1C36-42C6-A3C3-1DE49E34473D}"/>
              </a:ext>
            </a:extLst>
          </p:cNvPr>
          <p:cNvSpPr>
            <a:spLocks noGrp="1"/>
          </p:cNvSpPr>
          <p:nvPr/>
        </p:nvSpPr>
        <p:spPr>
          <a:xfrm>
            <a:off x="552450" y="400050"/>
            <a:ext cx="266700" cy="57150"/>
          </a:xfrm>
          <a:prstGeom prst="rect">
            <a:avLst/>
          </a:prstGeom>
          <a:solidFill>
            <a:srgbClr val="F3B23C"/>
          </a:solidFill>
          <a:ln w="0">
            <a:solidFill>
              <a:srgbClr val="000000">
                <a:alpha val="0"/>
              </a:srgbClr>
            </a:solidFill>
            <a:prstDash val="solid"/>
          </a:ln>
        </p:spPr>
      </p:sp>
      <p:sp>
        <p:nvSpPr>
          <p:cNvPr id="3" name="kicker-11-label">
            <a:extLst>
              <a:ext uri="{FF2B5EF4-FFF2-40B4-BE49-F238E27FC236}">
                <a16:creationId xmlns:a16="http://schemas.microsoft.com/office/drawing/2014/main" id="{EDE90873-D6C3-4572-9FF0-E1FBA0382EE2}"/>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DEMO SCENARIO</a:t>
            </a:r>
          </a:p>
        </p:txBody>
      </p:sp>
      <p:sp>
        <p:nvSpPr>
          <p:cNvPr id="4" name="Rectangle 3">
            <a:extLst>
              <a:ext uri="{FF2B5EF4-FFF2-40B4-BE49-F238E27FC236}">
                <a16:creationId xmlns:a16="http://schemas.microsoft.com/office/drawing/2014/main" id="{3A6F6010-098A-44D7-90F5-C2F174EB9104}"/>
              </a:ext>
            </a:extLst>
          </p:cNvPr>
          <p:cNvSpPr>
            <a:spLocks noGrp="1"/>
          </p:cNvSpPr>
          <p:nvPr/>
        </p:nvSpPr>
        <p:spPr>
          <a:xfrm>
            <a:off x="666750" y="914400"/>
            <a:ext cx="80962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Maintenance worker on a hostel rooftop at midday</a:t>
            </a:r>
          </a:p>
        </p:txBody>
      </p:sp>
      <p:sp>
        <p:nvSpPr>
          <p:cNvPr id="5" name="Rectangle 4">
            <a:extLst>
              <a:ext uri="{FF2B5EF4-FFF2-40B4-BE49-F238E27FC236}">
                <a16:creationId xmlns:a16="http://schemas.microsoft.com/office/drawing/2014/main" id="{F470BC41-0185-45B5-8949-E5C066943399}"/>
              </a:ext>
            </a:extLst>
          </p:cNvPr>
          <p:cNvSpPr>
            <a:spLocks noGrp="1"/>
          </p:cNvSpPr>
          <p:nvPr/>
        </p:nvSpPr>
        <p:spPr>
          <a:xfrm>
            <a:off x="742950" y="2190750"/>
            <a:ext cx="2952750" cy="112395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B8F17EAE-9618-40A2-A4AB-63B5830B1FFF}"/>
              </a:ext>
            </a:extLst>
          </p:cNvPr>
          <p:cNvSpPr>
            <a:spLocks noGrp="1"/>
          </p:cNvSpPr>
          <p:nvPr/>
        </p:nvSpPr>
        <p:spPr>
          <a:xfrm>
            <a:off x="742950" y="2190750"/>
            <a:ext cx="85725" cy="1123950"/>
          </a:xfrm>
          <a:prstGeom prst="rect">
            <a:avLst/>
          </a:prstGeom>
          <a:solidFill>
            <a:srgbClr val="F3B23C"/>
          </a:solidFill>
          <a:ln w="0">
            <a:solidFill>
              <a:srgbClr val="000000">
                <a:alpha val="0"/>
              </a:srgbClr>
            </a:solidFill>
            <a:prstDash val="solid"/>
          </a:ln>
        </p:spPr>
      </p:sp>
      <p:sp>
        <p:nvSpPr>
          <p:cNvPr id="7" name="Rectangle 6">
            <a:extLst>
              <a:ext uri="{FF2B5EF4-FFF2-40B4-BE49-F238E27FC236}">
                <a16:creationId xmlns:a16="http://schemas.microsoft.com/office/drawing/2014/main" id="{B57A30DB-56EF-495B-919B-CAC400BF13E6}"/>
              </a:ext>
            </a:extLst>
          </p:cNvPr>
          <p:cNvSpPr>
            <a:spLocks noGrp="1"/>
          </p:cNvSpPr>
          <p:nvPr/>
        </p:nvSpPr>
        <p:spPr>
          <a:xfrm>
            <a:off x="990600" y="2381250"/>
            <a:ext cx="2552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3B23C"/>
                </a:solidFill>
                <a:latin typeface="Aptos"/>
                <a:ea typeface="Aptos"/>
                <a:cs typeface="Aptos"/>
              </a:defRPr>
            </a:pPr>
            <a:r>
              <a:rPr sz="2250" b="1">
                <a:solidFill>
                  <a:srgbClr val="F3B23C"/>
                </a:solidFill>
                <a:latin typeface="Aptos"/>
                <a:ea typeface="Aptos"/>
                <a:cs typeface="Aptos"/>
              </a:rPr>
              <a:t>Weather</a:t>
            </a:r>
          </a:p>
        </p:txBody>
      </p:sp>
      <p:sp>
        <p:nvSpPr>
          <p:cNvPr id="8" name="Rectangle 7">
            <a:extLst>
              <a:ext uri="{FF2B5EF4-FFF2-40B4-BE49-F238E27FC236}">
                <a16:creationId xmlns:a16="http://schemas.microsoft.com/office/drawing/2014/main" id="{62CB208D-4D37-40CB-B4A1-74CD9DE0CACD}"/>
              </a:ext>
            </a:extLst>
          </p:cNvPr>
          <p:cNvSpPr>
            <a:spLocks noGrp="1"/>
          </p:cNvSpPr>
          <p:nvPr/>
        </p:nvSpPr>
        <p:spPr>
          <a:xfrm>
            <a:off x="990600" y="2819400"/>
            <a:ext cx="2552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38 C, 61% humidity</a:t>
            </a:r>
          </a:p>
        </p:txBody>
      </p:sp>
      <p:sp>
        <p:nvSpPr>
          <p:cNvPr id="9" name="Rectangle 8">
            <a:extLst>
              <a:ext uri="{FF2B5EF4-FFF2-40B4-BE49-F238E27FC236}">
                <a16:creationId xmlns:a16="http://schemas.microsoft.com/office/drawing/2014/main" id="{6702CD17-4508-4F2A-9C6D-57EB37ACDD7F}"/>
              </a:ext>
            </a:extLst>
          </p:cNvPr>
          <p:cNvSpPr>
            <a:spLocks noGrp="1"/>
          </p:cNvSpPr>
          <p:nvPr/>
        </p:nvSpPr>
        <p:spPr>
          <a:xfrm>
            <a:off x="4314825" y="2190750"/>
            <a:ext cx="2952750" cy="1123950"/>
          </a:xfrm>
          <a:prstGeom prst="rect">
            <a:avLst/>
          </a:prstGeom>
          <a:solidFill>
            <a:srgbClr val="FFFFFF"/>
          </a:solidFill>
          <a:ln w="9525">
            <a:solidFill>
              <a:srgbClr val="D9D1C2"/>
            </a:solidFill>
            <a:prstDash val="solid"/>
          </a:ln>
        </p:spPr>
      </p:sp>
      <p:sp>
        <p:nvSpPr>
          <p:cNvPr id="10" name="Rectangle 9">
            <a:extLst>
              <a:ext uri="{FF2B5EF4-FFF2-40B4-BE49-F238E27FC236}">
                <a16:creationId xmlns:a16="http://schemas.microsoft.com/office/drawing/2014/main" id="{ECC48A33-3343-475A-86B6-9FB3C6FC7C0A}"/>
              </a:ext>
            </a:extLst>
          </p:cNvPr>
          <p:cNvSpPr>
            <a:spLocks noGrp="1"/>
          </p:cNvSpPr>
          <p:nvPr/>
        </p:nvSpPr>
        <p:spPr>
          <a:xfrm>
            <a:off x="4314825" y="2190750"/>
            <a:ext cx="85725" cy="1123950"/>
          </a:xfrm>
          <a:prstGeom prst="rect">
            <a:avLst/>
          </a:prstGeom>
          <a:solidFill>
            <a:srgbClr val="F3B23C"/>
          </a:solidFill>
          <a:ln w="0">
            <a:solidFill>
              <a:srgbClr val="000000">
                <a:alpha val="0"/>
              </a:srgbClr>
            </a:solidFill>
            <a:prstDash val="solid"/>
          </a:ln>
        </p:spPr>
      </p:sp>
      <p:sp>
        <p:nvSpPr>
          <p:cNvPr id="11" name="Rectangle 10">
            <a:extLst>
              <a:ext uri="{FF2B5EF4-FFF2-40B4-BE49-F238E27FC236}">
                <a16:creationId xmlns:a16="http://schemas.microsoft.com/office/drawing/2014/main" id="{C47A8F93-6B5B-4118-BB32-91448C69B83C}"/>
              </a:ext>
            </a:extLst>
          </p:cNvPr>
          <p:cNvSpPr>
            <a:spLocks noGrp="1"/>
          </p:cNvSpPr>
          <p:nvPr/>
        </p:nvSpPr>
        <p:spPr>
          <a:xfrm>
            <a:off x="4562475" y="2381250"/>
            <a:ext cx="2552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3B23C"/>
                </a:solidFill>
                <a:latin typeface="Aptos"/>
                <a:ea typeface="Aptos"/>
                <a:cs typeface="Aptos"/>
              </a:defRPr>
            </a:pPr>
            <a:r>
              <a:rPr sz="2250" b="1">
                <a:solidFill>
                  <a:srgbClr val="F3B23C"/>
                </a:solidFill>
                <a:latin typeface="Aptos"/>
                <a:ea typeface="Aptos"/>
                <a:cs typeface="Aptos"/>
              </a:rPr>
              <a:t>Task</a:t>
            </a:r>
          </a:p>
        </p:txBody>
      </p:sp>
      <p:sp>
        <p:nvSpPr>
          <p:cNvPr id="12" name="Rectangle 11">
            <a:extLst>
              <a:ext uri="{FF2B5EF4-FFF2-40B4-BE49-F238E27FC236}">
                <a16:creationId xmlns:a16="http://schemas.microsoft.com/office/drawing/2014/main" id="{6144EE74-C326-4F04-A96E-C57DEFCD1765}"/>
              </a:ext>
            </a:extLst>
          </p:cNvPr>
          <p:cNvSpPr>
            <a:spLocks noGrp="1"/>
          </p:cNvSpPr>
          <p:nvPr/>
        </p:nvSpPr>
        <p:spPr>
          <a:xfrm>
            <a:off x="4562475" y="2819400"/>
            <a:ext cx="2552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heavy work, 45 minutes</a:t>
            </a:r>
          </a:p>
        </p:txBody>
      </p:sp>
      <p:sp>
        <p:nvSpPr>
          <p:cNvPr id="13" name="Rectangle 12">
            <a:extLst>
              <a:ext uri="{FF2B5EF4-FFF2-40B4-BE49-F238E27FC236}">
                <a16:creationId xmlns:a16="http://schemas.microsoft.com/office/drawing/2014/main" id="{FE64E64A-9A51-4696-8623-6EB4458C797B}"/>
              </a:ext>
            </a:extLst>
          </p:cNvPr>
          <p:cNvSpPr>
            <a:spLocks noGrp="1"/>
          </p:cNvSpPr>
          <p:nvPr/>
        </p:nvSpPr>
        <p:spPr>
          <a:xfrm>
            <a:off x="7886700" y="2190750"/>
            <a:ext cx="2952750" cy="1123950"/>
          </a:xfrm>
          <a:prstGeom prst="rect">
            <a:avLst/>
          </a:prstGeom>
          <a:solidFill>
            <a:srgbClr val="FFFFFF"/>
          </a:solidFill>
          <a:ln w="9525">
            <a:solidFill>
              <a:srgbClr val="D9D1C2"/>
            </a:solidFill>
            <a:prstDash val="solid"/>
          </a:ln>
        </p:spPr>
      </p:sp>
      <p:sp>
        <p:nvSpPr>
          <p:cNvPr id="14" name="Rectangle 13">
            <a:extLst>
              <a:ext uri="{FF2B5EF4-FFF2-40B4-BE49-F238E27FC236}">
                <a16:creationId xmlns:a16="http://schemas.microsoft.com/office/drawing/2014/main" id="{FCBC91AE-0149-4EFF-A5A1-051518B5EB25}"/>
              </a:ext>
            </a:extLst>
          </p:cNvPr>
          <p:cNvSpPr>
            <a:spLocks noGrp="1"/>
          </p:cNvSpPr>
          <p:nvPr/>
        </p:nvSpPr>
        <p:spPr>
          <a:xfrm>
            <a:off x="7886700" y="2190750"/>
            <a:ext cx="85725" cy="1123950"/>
          </a:xfrm>
          <a:prstGeom prst="rect">
            <a:avLst/>
          </a:prstGeom>
          <a:solidFill>
            <a:srgbClr val="F3B23C"/>
          </a:solidFill>
          <a:ln w="0">
            <a:solidFill>
              <a:srgbClr val="000000">
                <a:alpha val="0"/>
              </a:srgbClr>
            </a:solidFill>
            <a:prstDash val="solid"/>
          </a:ln>
        </p:spPr>
      </p:sp>
      <p:sp>
        <p:nvSpPr>
          <p:cNvPr id="15" name="Rectangle 14">
            <a:extLst>
              <a:ext uri="{FF2B5EF4-FFF2-40B4-BE49-F238E27FC236}">
                <a16:creationId xmlns:a16="http://schemas.microsoft.com/office/drawing/2014/main" id="{1E3DEF20-F8C3-41EB-A75D-F61F8BE423BD}"/>
              </a:ext>
            </a:extLst>
          </p:cNvPr>
          <p:cNvSpPr>
            <a:spLocks noGrp="1"/>
          </p:cNvSpPr>
          <p:nvPr/>
        </p:nvSpPr>
        <p:spPr>
          <a:xfrm>
            <a:off x="8134350" y="2381250"/>
            <a:ext cx="2552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3B23C"/>
                </a:solidFill>
                <a:latin typeface="Aptos"/>
                <a:ea typeface="Aptos"/>
                <a:cs typeface="Aptos"/>
              </a:defRPr>
            </a:pPr>
            <a:r>
              <a:rPr sz="2250" b="1">
                <a:solidFill>
                  <a:srgbClr val="F3B23C"/>
                </a:solidFill>
                <a:latin typeface="Aptos"/>
                <a:ea typeface="Aptos"/>
                <a:cs typeface="Aptos"/>
              </a:rPr>
              <a:t>Place</a:t>
            </a:r>
          </a:p>
        </p:txBody>
      </p:sp>
      <p:sp>
        <p:nvSpPr>
          <p:cNvPr id="16" name="Rectangle 15">
            <a:extLst>
              <a:ext uri="{FF2B5EF4-FFF2-40B4-BE49-F238E27FC236}">
                <a16:creationId xmlns:a16="http://schemas.microsoft.com/office/drawing/2014/main" id="{D6B2EF81-6C32-4D68-AD68-353069CF892E}"/>
              </a:ext>
            </a:extLst>
          </p:cNvPr>
          <p:cNvSpPr>
            <a:spLocks noGrp="1"/>
          </p:cNvSpPr>
          <p:nvPr/>
        </p:nvSpPr>
        <p:spPr>
          <a:xfrm>
            <a:off x="8134350" y="2819400"/>
            <a:ext cx="2552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metal roof, shade 10/100</a:t>
            </a:r>
          </a:p>
        </p:txBody>
      </p:sp>
      <p:sp>
        <p:nvSpPr>
          <p:cNvPr id="17" name="Rectangle 16">
            <a:extLst>
              <a:ext uri="{FF2B5EF4-FFF2-40B4-BE49-F238E27FC236}">
                <a16:creationId xmlns:a16="http://schemas.microsoft.com/office/drawing/2014/main" id="{703FCAF4-F2FD-41E3-9599-1645ABC6F67E}"/>
              </a:ext>
            </a:extLst>
          </p:cNvPr>
          <p:cNvSpPr>
            <a:spLocks noGrp="1"/>
          </p:cNvSpPr>
          <p:nvPr/>
        </p:nvSpPr>
        <p:spPr>
          <a:xfrm>
            <a:off x="742950" y="3543300"/>
            <a:ext cx="2952750" cy="1123950"/>
          </a:xfrm>
          <a:prstGeom prst="rect">
            <a:avLst/>
          </a:prstGeom>
          <a:solidFill>
            <a:srgbClr val="FFFFFF"/>
          </a:solidFill>
          <a:ln w="9525">
            <a:solidFill>
              <a:srgbClr val="D9D1C2"/>
            </a:solidFill>
            <a:prstDash val="solid"/>
          </a:ln>
        </p:spPr>
      </p:sp>
      <p:sp>
        <p:nvSpPr>
          <p:cNvPr id="18" name="Rectangle 17">
            <a:extLst>
              <a:ext uri="{FF2B5EF4-FFF2-40B4-BE49-F238E27FC236}">
                <a16:creationId xmlns:a16="http://schemas.microsoft.com/office/drawing/2014/main" id="{D12DD26B-DC80-4F95-AD20-B0B77CBD3445}"/>
              </a:ext>
            </a:extLst>
          </p:cNvPr>
          <p:cNvSpPr>
            <a:spLocks noGrp="1"/>
          </p:cNvSpPr>
          <p:nvPr/>
        </p:nvSpPr>
        <p:spPr>
          <a:xfrm>
            <a:off x="742950" y="3543300"/>
            <a:ext cx="85725" cy="1123950"/>
          </a:xfrm>
          <a:prstGeom prst="rect">
            <a:avLst/>
          </a:prstGeom>
          <a:solidFill>
            <a:srgbClr val="F3B23C"/>
          </a:solidFill>
          <a:ln w="0">
            <a:solidFill>
              <a:srgbClr val="000000">
                <a:alpha val="0"/>
              </a:srgbClr>
            </a:solidFill>
            <a:prstDash val="solid"/>
          </a:ln>
        </p:spPr>
      </p:sp>
      <p:sp>
        <p:nvSpPr>
          <p:cNvPr id="19" name="Rectangle 18">
            <a:extLst>
              <a:ext uri="{FF2B5EF4-FFF2-40B4-BE49-F238E27FC236}">
                <a16:creationId xmlns:a16="http://schemas.microsoft.com/office/drawing/2014/main" id="{6100C46C-CD26-4822-831D-70D1E6593A8D}"/>
              </a:ext>
            </a:extLst>
          </p:cNvPr>
          <p:cNvSpPr>
            <a:spLocks noGrp="1"/>
          </p:cNvSpPr>
          <p:nvPr/>
        </p:nvSpPr>
        <p:spPr>
          <a:xfrm>
            <a:off x="990600" y="3733800"/>
            <a:ext cx="2552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F3B23C"/>
                </a:solidFill>
                <a:latin typeface="Aptos"/>
                <a:ea typeface="Aptos"/>
                <a:cs typeface="Aptos"/>
              </a:defRPr>
            </a:pPr>
            <a:r>
              <a:rPr sz="2250" b="1">
                <a:solidFill>
                  <a:srgbClr val="F3B23C"/>
                </a:solidFill>
                <a:latin typeface="Aptos"/>
                <a:ea typeface="Aptos"/>
                <a:cs typeface="Aptos"/>
              </a:rPr>
              <a:t>Access</a:t>
            </a:r>
          </a:p>
        </p:txBody>
      </p:sp>
      <p:sp>
        <p:nvSpPr>
          <p:cNvPr id="20" name="Rectangle 19">
            <a:extLst>
              <a:ext uri="{FF2B5EF4-FFF2-40B4-BE49-F238E27FC236}">
                <a16:creationId xmlns:a16="http://schemas.microsoft.com/office/drawing/2014/main" id="{DCF99A8F-6D1A-41F3-8037-5FD1626E3C67}"/>
              </a:ext>
            </a:extLst>
          </p:cNvPr>
          <p:cNvSpPr>
            <a:spLocks noGrp="1"/>
          </p:cNvSpPr>
          <p:nvPr/>
        </p:nvSpPr>
        <p:spPr>
          <a:xfrm>
            <a:off x="990600" y="4171950"/>
            <a:ext cx="2552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no water point</a:t>
            </a:r>
          </a:p>
        </p:txBody>
      </p:sp>
      <p:sp>
        <p:nvSpPr>
          <p:cNvPr id="21" name="Rectangle 20">
            <a:extLst>
              <a:ext uri="{FF2B5EF4-FFF2-40B4-BE49-F238E27FC236}">
                <a16:creationId xmlns:a16="http://schemas.microsoft.com/office/drawing/2014/main" id="{E854E966-2E7C-4B3D-9BA6-4D91DE8C87A3}"/>
              </a:ext>
            </a:extLst>
          </p:cNvPr>
          <p:cNvSpPr>
            <a:spLocks noGrp="1"/>
          </p:cNvSpPr>
          <p:nvPr/>
        </p:nvSpPr>
        <p:spPr>
          <a:xfrm>
            <a:off x="4314825" y="3543300"/>
            <a:ext cx="2952750" cy="1123950"/>
          </a:xfrm>
          <a:prstGeom prst="rect">
            <a:avLst/>
          </a:prstGeom>
          <a:solidFill>
            <a:srgbClr val="FFFFFF"/>
          </a:solidFill>
          <a:ln w="9525">
            <a:solidFill>
              <a:srgbClr val="D9D1C2"/>
            </a:solidFill>
            <a:prstDash val="solid"/>
          </a:ln>
        </p:spPr>
      </p:sp>
      <p:sp>
        <p:nvSpPr>
          <p:cNvPr id="22" name="Rectangle 21">
            <a:extLst>
              <a:ext uri="{FF2B5EF4-FFF2-40B4-BE49-F238E27FC236}">
                <a16:creationId xmlns:a16="http://schemas.microsoft.com/office/drawing/2014/main" id="{A9CD0AD5-A1BE-4601-91C9-A810FB8126B1}"/>
              </a:ext>
            </a:extLst>
          </p:cNvPr>
          <p:cNvSpPr>
            <a:spLocks noGrp="1"/>
          </p:cNvSpPr>
          <p:nvPr/>
        </p:nvSpPr>
        <p:spPr>
          <a:xfrm>
            <a:off x="4314825" y="3543300"/>
            <a:ext cx="85725" cy="1123950"/>
          </a:xfrm>
          <a:prstGeom prst="rect">
            <a:avLst/>
          </a:prstGeom>
          <a:solidFill>
            <a:srgbClr val="C45C3C"/>
          </a:solidFill>
          <a:ln w="0">
            <a:solidFill>
              <a:srgbClr val="000000">
                <a:alpha val="0"/>
              </a:srgbClr>
            </a:solidFill>
            <a:prstDash val="solid"/>
          </a:ln>
        </p:spPr>
      </p:sp>
      <p:sp>
        <p:nvSpPr>
          <p:cNvPr id="23" name="Rectangle 22">
            <a:extLst>
              <a:ext uri="{FF2B5EF4-FFF2-40B4-BE49-F238E27FC236}">
                <a16:creationId xmlns:a16="http://schemas.microsoft.com/office/drawing/2014/main" id="{D2374C95-84DF-42A5-83B7-BE103C18FF0B}"/>
              </a:ext>
            </a:extLst>
          </p:cNvPr>
          <p:cNvSpPr>
            <a:spLocks noGrp="1"/>
          </p:cNvSpPr>
          <p:nvPr/>
        </p:nvSpPr>
        <p:spPr>
          <a:xfrm>
            <a:off x="4562475" y="3733800"/>
            <a:ext cx="25527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C45C3C"/>
                </a:solidFill>
                <a:latin typeface="Aptos"/>
                <a:ea typeface="Aptos"/>
                <a:cs typeface="Aptos"/>
              </a:defRPr>
            </a:pPr>
            <a:r>
              <a:rPr sz="2250" b="1">
                <a:solidFill>
                  <a:srgbClr val="C45C3C"/>
                </a:solidFill>
                <a:latin typeface="Aptos"/>
                <a:ea typeface="Aptos"/>
                <a:cs typeface="Aptos"/>
              </a:rPr>
              <a:t>Signal</a:t>
            </a:r>
          </a:p>
        </p:txBody>
      </p:sp>
      <p:sp>
        <p:nvSpPr>
          <p:cNvPr id="24" name="Rectangle 23">
            <a:extLst>
              <a:ext uri="{FF2B5EF4-FFF2-40B4-BE49-F238E27FC236}">
                <a16:creationId xmlns:a16="http://schemas.microsoft.com/office/drawing/2014/main" id="{14B97760-5A12-443C-9A34-33770C6A39E3}"/>
              </a:ext>
            </a:extLst>
          </p:cNvPr>
          <p:cNvSpPr>
            <a:spLocks noGrp="1"/>
          </p:cNvSpPr>
          <p:nvPr/>
        </p:nvSpPr>
        <p:spPr>
          <a:xfrm>
            <a:off x="4562475" y="4171950"/>
            <a:ext cx="25527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dizziness reported</a:t>
            </a:r>
          </a:p>
        </p:txBody>
      </p:sp>
      <p:sp>
        <p:nvSpPr>
          <p:cNvPr id="25" name="Rectangle 24">
            <a:extLst>
              <a:ext uri="{FF2B5EF4-FFF2-40B4-BE49-F238E27FC236}">
                <a16:creationId xmlns:a16="http://schemas.microsoft.com/office/drawing/2014/main" id="{D89B4E47-3703-4B10-8486-A42E46D35511}"/>
              </a:ext>
            </a:extLst>
          </p:cNvPr>
          <p:cNvSpPr>
            <a:spLocks noGrp="1"/>
          </p:cNvSpPr>
          <p:nvPr/>
        </p:nvSpPr>
        <p:spPr>
          <a:xfrm>
            <a:off x="1000125" y="5143500"/>
            <a:ext cx="9525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FFFFFF"/>
                </a:solidFill>
                <a:latin typeface="Aptos"/>
                <a:ea typeface="Aptos"/>
                <a:cs typeface="Aptos"/>
              </a:defRPr>
            </a:pPr>
            <a:r>
              <a:rPr sz="1950" b="1">
                <a:solidFill>
                  <a:srgbClr val="FFFFFF"/>
                </a:solidFill>
                <a:latin typeface="Aptos"/>
                <a:ea typeface="Aptos"/>
                <a:cs typeface="Aptos"/>
              </a:rPr>
              <a:t>Expected result: Extreme risk. Postpone non-essential work, add shade and water, and escalate symptoms to human support.</a:t>
            </a:r>
          </a:p>
        </p:txBody>
      </p:sp>
      <p:sp>
        <p:nvSpPr>
          <p:cNvPr id="26" name="Rectangle 25">
            <a:extLst>
              <a:ext uri="{FF2B5EF4-FFF2-40B4-BE49-F238E27FC236}">
                <a16:creationId xmlns:a16="http://schemas.microsoft.com/office/drawing/2014/main" id="{902997F5-C920-438B-BC4A-2FD3F213CB1F}"/>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7" name="Rectangle 26">
            <a:extLst>
              <a:ext uri="{FF2B5EF4-FFF2-40B4-BE49-F238E27FC236}">
                <a16:creationId xmlns:a16="http://schemas.microsoft.com/office/drawing/2014/main" id="{E001EA87-0768-41F9-9ECD-188D0BA27D41}"/>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28" name="Rectangle 27">
            <a:extLst>
              <a:ext uri="{FF2B5EF4-FFF2-40B4-BE49-F238E27FC236}">
                <a16:creationId xmlns:a16="http://schemas.microsoft.com/office/drawing/2014/main" id="{5D0C2CA7-6A56-45E7-84D3-AB1A99405820}"/>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11</a:t>
            </a:r>
          </a:p>
        </p:txBody>
      </p:sp>
    </p:spTree>
    <p:extLst>
      <p:ext uri="{BB962C8B-B14F-4D97-AF65-F5344CB8AC3E}">
        <p14:creationId xmlns:p14="http://schemas.microsoft.com/office/powerpoint/2010/main" val="1911970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056E6D9-7C44-4E63-AC41-860541CFCE44}"/>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12-marker">
            <a:extLst>
              <a:ext uri="{FF2B5EF4-FFF2-40B4-BE49-F238E27FC236}">
                <a16:creationId xmlns:a16="http://schemas.microsoft.com/office/drawing/2014/main" id="{1A4D5A4B-B136-4A38-BE93-30A045BC9281}"/>
              </a:ext>
            </a:extLst>
          </p:cNvPr>
          <p:cNvSpPr>
            <a:spLocks noGrp="1"/>
          </p:cNvSpPr>
          <p:nvPr/>
        </p:nvSpPr>
        <p:spPr>
          <a:xfrm>
            <a:off x="552450" y="400050"/>
            <a:ext cx="266700" cy="57150"/>
          </a:xfrm>
          <a:prstGeom prst="rect">
            <a:avLst/>
          </a:prstGeom>
          <a:solidFill>
            <a:srgbClr val="3F7F95"/>
          </a:solidFill>
          <a:ln w="0">
            <a:solidFill>
              <a:srgbClr val="000000">
                <a:alpha val="0"/>
              </a:srgbClr>
            </a:solidFill>
            <a:prstDash val="solid"/>
          </a:ln>
        </p:spPr>
      </p:sp>
      <p:sp>
        <p:nvSpPr>
          <p:cNvPr id="3" name="kicker-12-label">
            <a:extLst>
              <a:ext uri="{FF2B5EF4-FFF2-40B4-BE49-F238E27FC236}">
                <a16:creationId xmlns:a16="http://schemas.microsoft.com/office/drawing/2014/main" id="{77243DA0-1461-4E08-A8C4-39A1A1B035DA}"/>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PRODUCT WALKTHROUGH</a:t>
            </a:r>
          </a:p>
        </p:txBody>
      </p:sp>
      <p:sp>
        <p:nvSpPr>
          <p:cNvPr id="4" name="Rectangle 3">
            <a:extLst>
              <a:ext uri="{FF2B5EF4-FFF2-40B4-BE49-F238E27FC236}">
                <a16:creationId xmlns:a16="http://schemas.microsoft.com/office/drawing/2014/main" id="{968B3C01-4BCB-42FE-A01F-A6CCCCA63712}"/>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Four dashboard tabs make the demo easy to judge.</a:t>
            </a:r>
          </a:p>
        </p:txBody>
      </p:sp>
      <p:sp>
        <p:nvSpPr>
          <p:cNvPr id="5" name="Rectangle 4">
            <a:extLst>
              <a:ext uri="{FF2B5EF4-FFF2-40B4-BE49-F238E27FC236}">
                <a16:creationId xmlns:a16="http://schemas.microsoft.com/office/drawing/2014/main" id="{71CB189E-F843-43D9-B3E7-259C06A006A9}"/>
              </a:ext>
            </a:extLst>
          </p:cNvPr>
          <p:cNvSpPr>
            <a:spLocks noGrp="1"/>
          </p:cNvSpPr>
          <p:nvPr/>
        </p:nvSpPr>
        <p:spPr>
          <a:xfrm>
            <a:off x="781050" y="2143125"/>
            <a:ext cx="2381250" cy="2143125"/>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68366CC1-BF9D-4E5D-93DC-878D85135A21}"/>
              </a:ext>
            </a:extLst>
          </p:cNvPr>
          <p:cNvSpPr>
            <a:spLocks noGrp="1"/>
          </p:cNvSpPr>
          <p:nvPr/>
        </p:nvSpPr>
        <p:spPr>
          <a:xfrm>
            <a:off x="971550" y="2314575"/>
            <a:ext cx="2000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Assess</a:t>
            </a:r>
          </a:p>
        </p:txBody>
      </p:sp>
      <p:sp>
        <p:nvSpPr>
          <p:cNvPr id="7" name="Rectangle 6">
            <a:extLst>
              <a:ext uri="{FF2B5EF4-FFF2-40B4-BE49-F238E27FC236}">
                <a16:creationId xmlns:a16="http://schemas.microsoft.com/office/drawing/2014/main" id="{652E73DF-25C1-4D17-A61E-35691DC38459}"/>
              </a:ext>
            </a:extLst>
          </p:cNvPr>
          <p:cNvSpPr>
            <a:spLocks noGrp="1"/>
          </p:cNvSpPr>
          <p:nvPr/>
        </p:nvSpPr>
        <p:spPr>
          <a:xfrm>
            <a:off x="971550" y="2695575"/>
            <a:ext cx="2000250" cy="1457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Run a task scenario and generate score, tier, rest plan, hydration plan, recommendations, and evidence.</a:t>
            </a:r>
          </a:p>
        </p:txBody>
      </p:sp>
      <p:sp>
        <p:nvSpPr>
          <p:cNvPr id="8" name="Rectangle 7">
            <a:extLst>
              <a:ext uri="{FF2B5EF4-FFF2-40B4-BE49-F238E27FC236}">
                <a16:creationId xmlns:a16="http://schemas.microsoft.com/office/drawing/2014/main" id="{79967569-2D90-4FD2-AC02-833AD03D26C9}"/>
              </a:ext>
            </a:extLst>
          </p:cNvPr>
          <p:cNvSpPr>
            <a:spLocks noGrp="1"/>
          </p:cNvSpPr>
          <p:nvPr/>
        </p:nvSpPr>
        <p:spPr>
          <a:xfrm>
            <a:off x="3543300" y="2143125"/>
            <a:ext cx="2381250" cy="2143125"/>
          </a:xfrm>
          <a:prstGeom prst="rect">
            <a:avLst/>
          </a:prstGeom>
          <a:solidFill>
            <a:srgbClr val="FFF7E7"/>
          </a:solidFill>
          <a:ln w="9525">
            <a:solidFill>
              <a:srgbClr val="D9D1C2"/>
            </a:solidFill>
            <a:prstDash val="solid"/>
          </a:ln>
        </p:spPr>
      </p:sp>
      <p:sp>
        <p:nvSpPr>
          <p:cNvPr id="9" name="Rectangle 8">
            <a:extLst>
              <a:ext uri="{FF2B5EF4-FFF2-40B4-BE49-F238E27FC236}">
                <a16:creationId xmlns:a16="http://schemas.microsoft.com/office/drawing/2014/main" id="{DD10AA71-8712-49ED-8D61-8C8666F4F52C}"/>
              </a:ext>
            </a:extLst>
          </p:cNvPr>
          <p:cNvSpPr>
            <a:spLocks noGrp="1"/>
          </p:cNvSpPr>
          <p:nvPr/>
        </p:nvSpPr>
        <p:spPr>
          <a:xfrm>
            <a:off x="3733800" y="2314575"/>
            <a:ext cx="2000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Zones</a:t>
            </a:r>
          </a:p>
        </p:txBody>
      </p:sp>
      <p:sp>
        <p:nvSpPr>
          <p:cNvPr id="10" name="Rectangle 9">
            <a:extLst>
              <a:ext uri="{FF2B5EF4-FFF2-40B4-BE49-F238E27FC236}">
                <a16:creationId xmlns:a16="http://schemas.microsoft.com/office/drawing/2014/main" id="{CFF829BC-A19A-45EA-BEF4-94C601FA9256}"/>
              </a:ext>
            </a:extLst>
          </p:cNvPr>
          <p:cNvSpPr>
            <a:spLocks noGrp="1"/>
          </p:cNvSpPr>
          <p:nvPr/>
        </p:nvSpPr>
        <p:spPr>
          <a:xfrm>
            <a:off x="3733800" y="2695575"/>
            <a:ext cx="2000250" cy="1457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View campus hotspots and safer route options based on shade and water access.</a:t>
            </a:r>
          </a:p>
        </p:txBody>
      </p:sp>
      <p:sp>
        <p:nvSpPr>
          <p:cNvPr id="11" name="Rectangle 10">
            <a:extLst>
              <a:ext uri="{FF2B5EF4-FFF2-40B4-BE49-F238E27FC236}">
                <a16:creationId xmlns:a16="http://schemas.microsoft.com/office/drawing/2014/main" id="{E66359E0-7352-4FF4-B0D5-5899DC4DFFF6}"/>
              </a:ext>
            </a:extLst>
          </p:cNvPr>
          <p:cNvSpPr>
            <a:spLocks noGrp="1"/>
          </p:cNvSpPr>
          <p:nvPr/>
        </p:nvSpPr>
        <p:spPr>
          <a:xfrm>
            <a:off x="6305550" y="2143125"/>
            <a:ext cx="2381250" cy="2143125"/>
          </a:xfrm>
          <a:prstGeom prst="rect">
            <a:avLst/>
          </a:prstGeom>
          <a:solidFill>
            <a:srgbClr val="FFFFFF"/>
          </a:solidFill>
          <a:ln w="9525">
            <a:solidFill>
              <a:srgbClr val="D9D1C2"/>
            </a:solidFill>
            <a:prstDash val="solid"/>
          </a:ln>
        </p:spPr>
      </p:sp>
      <p:sp>
        <p:nvSpPr>
          <p:cNvPr id="12" name="Rectangle 11">
            <a:extLst>
              <a:ext uri="{FF2B5EF4-FFF2-40B4-BE49-F238E27FC236}">
                <a16:creationId xmlns:a16="http://schemas.microsoft.com/office/drawing/2014/main" id="{51A3C05B-3C24-4C6B-B7E4-7303B5BB43BB}"/>
              </a:ext>
            </a:extLst>
          </p:cNvPr>
          <p:cNvSpPr>
            <a:spLocks noGrp="1"/>
          </p:cNvSpPr>
          <p:nvPr/>
        </p:nvSpPr>
        <p:spPr>
          <a:xfrm>
            <a:off x="6496050" y="2314575"/>
            <a:ext cx="2000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Reports</a:t>
            </a:r>
          </a:p>
        </p:txBody>
      </p:sp>
      <p:sp>
        <p:nvSpPr>
          <p:cNvPr id="13" name="Rectangle 12">
            <a:extLst>
              <a:ext uri="{FF2B5EF4-FFF2-40B4-BE49-F238E27FC236}">
                <a16:creationId xmlns:a16="http://schemas.microsoft.com/office/drawing/2014/main" id="{D9E95D6F-98D0-4F73-8DE2-7941B5EBCDB5}"/>
              </a:ext>
            </a:extLst>
          </p:cNvPr>
          <p:cNvSpPr>
            <a:spLocks noGrp="1"/>
          </p:cNvSpPr>
          <p:nvPr/>
        </p:nvSpPr>
        <p:spPr>
          <a:xfrm>
            <a:off x="6496050" y="2695575"/>
            <a:ext cx="2000250" cy="1457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Submit anonymous heat observations to build a community sensing loop.</a:t>
            </a:r>
          </a:p>
        </p:txBody>
      </p:sp>
      <p:sp>
        <p:nvSpPr>
          <p:cNvPr id="14" name="Rectangle 13">
            <a:extLst>
              <a:ext uri="{FF2B5EF4-FFF2-40B4-BE49-F238E27FC236}">
                <a16:creationId xmlns:a16="http://schemas.microsoft.com/office/drawing/2014/main" id="{1DB8F189-C0D6-4E4E-B73E-B96053A1F6BF}"/>
              </a:ext>
            </a:extLst>
          </p:cNvPr>
          <p:cNvSpPr>
            <a:spLocks noGrp="1"/>
          </p:cNvSpPr>
          <p:nvPr/>
        </p:nvSpPr>
        <p:spPr>
          <a:xfrm>
            <a:off x="9067800" y="2143125"/>
            <a:ext cx="2381250" cy="2143125"/>
          </a:xfrm>
          <a:prstGeom prst="rect">
            <a:avLst/>
          </a:prstGeom>
          <a:solidFill>
            <a:srgbClr val="FFF7E7"/>
          </a:solidFill>
          <a:ln w="9525">
            <a:solidFill>
              <a:srgbClr val="D9D1C2"/>
            </a:solidFill>
            <a:prstDash val="solid"/>
          </a:ln>
        </p:spPr>
      </p:sp>
      <p:sp>
        <p:nvSpPr>
          <p:cNvPr id="15" name="Rectangle 14">
            <a:extLst>
              <a:ext uri="{FF2B5EF4-FFF2-40B4-BE49-F238E27FC236}">
                <a16:creationId xmlns:a16="http://schemas.microsoft.com/office/drawing/2014/main" id="{F7ABBC60-ADFD-4DC7-97CE-23DD5BA609FD}"/>
              </a:ext>
            </a:extLst>
          </p:cNvPr>
          <p:cNvSpPr>
            <a:spLocks noGrp="1"/>
          </p:cNvSpPr>
          <p:nvPr/>
        </p:nvSpPr>
        <p:spPr>
          <a:xfrm>
            <a:off x="9258300" y="2314575"/>
            <a:ext cx="2000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Sources</a:t>
            </a:r>
          </a:p>
        </p:txBody>
      </p:sp>
      <p:sp>
        <p:nvSpPr>
          <p:cNvPr id="16" name="Rectangle 15">
            <a:extLst>
              <a:ext uri="{FF2B5EF4-FFF2-40B4-BE49-F238E27FC236}">
                <a16:creationId xmlns:a16="http://schemas.microsoft.com/office/drawing/2014/main" id="{A563AF09-337F-4907-8A26-B73C9ABCC1FE}"/>
              </a:ext>
            </a:extLst>
          </p:cNvPr>
          <p:cNvSpPr>
            <a:spLocks noGrp="1"/>
          </p:cNvSpPr>
          <p:nvPr/>
        </p:nvSpPr>
        <p:spPr>
          <a:xfrm>
            <a:off x="9258300" y="2695575"/>
            <a:ext cx="2000250" cy="14573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Show the RAG knowledge base and trusted evidence used by the AI assistant.</a:t>
            </a:r>
          </a:p>
        </p:txBody>
      </p:sp>
      <p:sp>
        <p:nvSpPr>
          <p:cNvPr id="17" name="Rectangle 16">
            <a:extLst>
              <a:ext uri="{FF2B5EF4-FFF2-40B4-BE49-F238E27FC236}">
                <a16:creationId xmlns:a16="http://schemas.microsoft.com/office/drawing/2014/main" id="{63D80DF9-F61F-4AE3-B114-80F6C827C38C}"/>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8" name="Rectangle 17">
            <a:extLst>
              <a:ext uri="{FF2B5EF4-FFF2-40B4-BE49-F238E27FC236}">
                <a16:creationId xmlns:a16="http://schemas.microsoft.com/office/drawing/2014/main" id="{2FB4DD16-4437-4F71-96D7-C103A7D3915D}"/>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9" name="Rectangle 18">
            <a:extLst>
              <a:ext uri="{FF2B5EF4-FFF2-40B4-BE49-F238E27FC236}">
                <a16:creationId xmlns:a16="http://schemas.microsoft.com/office/drawing/2014/main" id="{7EAF7592-207B-4B19-95B1-B64D75137361}"/>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12</a:t>
            </a:r>
          </a:p>
        </p:txBody>
      </p:sp>
    </p:spTree>
    <p:extLst>
      <p:ext uri="{BB962C8B-B14F-4D97-AF65-F5344CB8AC3E}">
        <p14:creationId xmlns:p14="http://schemas.microsoft.com/office/powerpoint/2010/main" val="1437881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45BEBF3-E236-488D-A386-DAFD09D1EB85}"/>
              </a:ext>
            </a:extLst>
          </p:cNvPr>
          <p:cNvSpPr>
            <a:spLocks noGrp="1"/>
          </p:cNvSpPr>
          <p:nvPr/>
        </p:nvSpPr>
        <p:spPr>
          <a:xfrm>
            <a:off x="0" y="0"/>
            <a:ext cx="12192000" cy="6858000"/>
          </a:xfrm>
          <a:prstGeom prst="rect">
            <a:avLst/>
          </a:prstGeom>
          <a:solidFill>
            <a:srgbClr val="FCFAF4"/>
          </a:solidFill>
          <a:ln w="0">
            <a:solidFill>
              <a:srgbClr val="000000">
                <a:alpha val="0"/>
              </a:srgbClr>
            </a:solidFill>
            <a:prstDash val="solid"/>
          </a:ln>
        </p:spPr>
      </p:sp>
      <p:sp>
        <p:nvSpPr>
          <p:cNvPr id="2" name="kicker-13-marker">
            <a:extLst>
              <a:ext uri="{FF2B5EF4-FFF2-40B4-BE49-F238E27FC236}">
                <a16:creationId xmlns:a16="http://schemas.microsoft.com/office/drawing/2014/main" id="{D1E99D67-F450-470A-97A7-DD68DD5B6F10}"/>
              </a:ext>
            </a:extLst>
          </p:cNvPr>
          <p:cNvSpPr>
            <a:spLocks noGrp="1"/>
          </p:cNvSpPr>
          <p:nvPr/>
        </p:nvSpPr>
        <p:spPr>
          <a:xfrm>
            <a:off x="552450" y="400050"/>
            <a:ext cx="266700" cy="57150"/>
          </a:xfrm>
          <a:prstGeom prst="rect">
            <a:avLst/>
          </a:prstGeom>
          <a:solidFill>
            <a:srgbClr val="466A45"/>
          </a:solidFill>
          <a:ln w="0">
            <a:solidFill>
              <a:srgbClr val="000000">
                <a:alpha val="0"/>
              </a:srgbClr>
            </a:solidFill>
            <a:prstDash val="solid"/>
          </a:ln>
        </p:spPr>
      </p:sp>
      <p:sp>
        <p:nvSpPr>
          <p:cNvPr id="3" name="kicker-13-label">
            <a:extLst>
              <a:ext uri="{FF2B5EF4-FFF2-40B4-BE49-F238E27FC236}">
                <a16:creationId xmlns:a16="http://schemas.microsoft.com/office/drawing/2014/main" id="{4E91004F-5B50-46E0-B9FA-CA4A72F0717F}"/>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RESPONSIBLE AI</a:t>
            </a:r>
          </a:p>
        </p:txBody>
      </p:sp>
      <p:sp>
        <p:nvSpPr>
          <p:cNvPr id="4" name="Rectangle 3">
            <a:extLst>
              <a:ext uri="{FF2B5EF4-FFF2-40B4-BE49-F238E27FC236}">
                <a16:creationId xmlns:a16="http://schemas.microsoft.com/office/drawing/2014/main" id="{E872184F-7765-4E04-93BA-72759B17C3A2}"/>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The system is designed to assist, explain, and escalate.</a:t>
            </a:r>
          </a:p>
        </p:txBody>
      </p:sp>
      <p:sp>
        <p:nvSpPr>
          <p:cNvPr id="5" name="Rectangle 4">
            <a:extLst>
              <a:ext uri="{FF2B5EF4-FFF2-40B4-BE49-F238E27FC236}">
                <a16:creationId xmlns:a16="http://schemas.microsoft.com/office/drawing/2014/main" id="{F5B9E69E-C3C0-4BDF-908A-3655EF96911C}"/>
              </a:ext>
            </a:extLst>
          </p:cNvPr>
          <p:cNvSpPr>
            <a:spLocks noGrp="1"/>
          </p:cNvSpPr>
          <p:nvPr/>
        </p:nvSpPr>
        <p:spPr>
          <a:xfrm>
            <a:off x="1028700" y="1952625"/>
            <a:ext cx="9334500" cy="495300"/>
          </a:xfrm>
          <a:prstGeom prst="rect">
            <a:avLst/>
          </a:prstGeom>
          <a:solidFill>
            <a:srgbClr val="F2EAD9"/>
          </a:solidFill>
          <a:ln w="0">
            <a:solidFill>
              <a:srgbClr val="000000">
                <a:alpha val="0"/>
              </a:srgbClr>
            </a:solidFill>
            <a:prstDash val="solid"/>
          </a:ln>
        </p:spPr>
      </p:sp>
      <p:sp>
        <p:nvSpPr>
          <p:cNvPr id="6" name="Rectangle 5">
            <a:extLst>
              <a:ext uri="{FF2B5EF4-FFF2-40B4-BE49-F238E27FC236}">
                <a16:creationId xmlns:a16="http://schemas.microsoft.com/office/drawing/2014/main" id="{6C96231C-2FA4-4F6A-B3CF-70C95944976B}"/>
              </a:ext>
            </a:extLst>
          </p:cNvPr>
          <p:cNvSpPr>
            <a:spLocks noGrp="1"/>
          </p:cNvSpPr>
          <p:nvPr/>
        </p:nvSpPr>
        <p:spPr>
          <a:xfrm>
            <a:off x="1257300" y="20764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Fairness</a:t>
            </a:r>
          </a:p>
        </p:txBody>
      </p:sp>
      <p:sp>
        <p:nvSpPr>
          <p:cNvPr id="7" name="Rectangle 6">
            <a:extLst>
              <a:ext uri="{FF2B5EF4-FFF2-40B4-BE49-F238E27FC236}">
                <a16:creationId xmlns:a16="http://schemas.microsoft.com/office/drawing/2014/main" id="{44D04863-3025-405F-BA3C-B0D12075E8E3}"/>
              </a:ext>
            </a:extLst>
          </p:cNvPr>
          <p:cNvSpPr>
            <a:spLocks noGrp="1"/>
          </p:cNvSpPr>
          <p:nvPr/>
        </p:nvSpPr>
        <p:spPr>
          <a:xfrm>
            <a:off x="3733800" y="2076450"/>
            <a:ext cx="619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D574F"/>
                </a:solidFill>
                <a:latin typeface="Aptos"/>
                <a:ea typeface="Aptos"/>
                <a:cs typeface="Aptos"/>
              </a:defRPr>
            </a:pPr>
            <a:r>
              <a:rPr sz="1275" b="0">
                <a:solidFill>
                  <a:srgbClr val="5D574F"/>
                </a:solidFill>
                <a:latin typeface="Aptos"/>
                <a:ea typeface="Aptos"/>
                <a:cs typeface="Aptos"/>
              </a:rPr>
              <a:t>includes workers, students, staff, and elderly visitors</a:t>
            </a:r>
          </a:p>
        </p:txBody>
      </p:sp>
      <p:sp>
        <p:nvSpPr>
          <p:cNvPr id="8" name="Rectangle 7">
            <a:extLst>
              <a:ext uri="{FF2B5EF4-FFF2-40B4-BE49-F238E27FC236}">
                <a16:creationId xmlns:a16="http://schemas.microsoft.com/office/drawing/2014/main" id="{FDAFB661-DEAA-42B2-B9FF-46B0A360BE9A}"/>
              </a:ext>
            </a:extLst>
          </p:cNvPr>
          <p:cNvSpPr>
            <a:spLocks noGrp="1"/>
          </p:cNvSpPr>
          <p:nvPr/>
        </p:nvSpPr>
        <p:spPr>
          <a:xfrm>
            <a:off x="1028700" y="2638425"/>
            <a:ext cx="9334500" cy="495300"/>
          </a:xfrm>
          <a:prstGeom prst="rect">
            <a:avLst/>
          </a:prstGeom>
          <a:solidFill>
            <a:srgbClr val="FFFFFF"/>
          </a:solidFill>
          <a:ln w="0">
            <a:solidFill>
              <a:srgbClr val="000000">
                <a:alpha val="0"/>
              </a:srgbClr>
            </a:solidFill>
            <a:prstDash val="solid"/>
          </a:ln>
        </p:spPr>
      </p:sp>
      <p:sp>
        <p:nvSpPr>
          <p:cNvPr id="9" name="Rectangle 8">
            <a:extLst>
              <a:ext uri="{FF2B5EF4-FFF2-40B4-BE49-F238E27FC236}">
                <a16:creationId xmlns:a16="http://schemas.microsoft.com/office/drawing/2014/main" id="{4AF569A5-382F-4410-AACD-0887532004C5}"/>
              </a:ext>
            </a:extLst>
          </p:cNvPr>
          <p:cNvSpPr>
            <a:spLocks noGrp="1"/>
          </p:cNvSpPr>
          <p:nvPr/>
        </p:nvSpPr>
        <p:spPr>
          <a:xfrm>
            <a:off x="1257300" y="27622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Transparency</a:t>
            </a:r>
          </a:p>
        </p:txBody>
      </p:sp>
      <p:sp>
        <p:nvSpPr>
          <p:cNvPr id="10" name="Rectangle 9">
            <a:extLst>
              <a:ext uri="{FF2B5EF4-FFF2-40B4-BE49-F238E27FC236}">
                <a16:creationId xmlns:a16="http://schemas.microsoft.com/office/drawing/2014/main" id="{03CC194D-130C-4A2B-8CBC-78267C9F332E}"/>
              </a:ext>
            </a:extLst>
          </p:cNvPr>
          <p:cNvSpPr>
            <a:spLocks noGrp="1"/>
          </p:cNvSpPr>
          <p:nvPr/>
        </p:nvSpPr>
        <p:spPr>
          <a:xfrm>
            <a:off x="3733800" y="2762250"/>
            <a:ext cx="619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D574F"/>
                </a:solidFill>
                <a:latin typeface="Aptos"/>
                <a:ea typeface="Aptos"/>
                <a:cs typeface="Aptos"/>
              </a:defRPr>
            </a:pPr>
            <a:r>
              <a:rPr sz="1275" b="0">
                <a:solidFill>
                  <a:srgbClr val="5D574F"/>
                </a:solidFill>
                <a:latin typeface="Aptos"/>
                <a:ea typeface="Aptos"/>
                <a:cs typeface="Aptos"/>
              </a:rPr>
              <a:t>shows score, tier, reasons, and sources</a:t>
            </a:r>
          </a:p>
        </p:txBody>
      </p:sp>
      <p:sp>
        <p:nvSpPr>
          <p:cNvPr id="11" name="Rectangle 10">
            <a:extLst>
              <a:ext uri="{FF2B5EF4-FFF2-40B4-BE49-F238E27FC236}">
                <a16:creationId xmlns:a16="http://schemas.microsoft.com/office/drawing/2014/main" id="{43560B82-9B56-4E84-8553-201B275E2376}"/>
              </a:ext>
            </a:extLst>
          </p:cNvPr>
          <p:cNvSpPr>
            <a:spLocks noGrp="1"/>
          </p:cNvSpPr>
          <p:nvPr/>
        </p:nvSpPr>
        <p:spPr>
          <a:xfrm>
            <a:off x="1028700" y="3324225"/>
            <a:ext cx="9334500" cy="495300"/>
          </a:xfrm>
          <a:prstGeom prst="rect">
            <a:avLst/>
          </a:prstGeom>
          <a:solidFill>
            <a:srgbClr val="F2EAD9"/>
          </a:solidFill>
          <a:ln w="0">
            <a:solidFill>
              <a:srgbClr val="000000">
                <a:alpha val="0"/>
              </a:srgbClr>
            </a:solidFill>
            <a:prstDash val="solid"/>
          </a:ln>
        </p:spPr>
      </p:sp>
      <p:sp>
        <p:nvSpPr>
          <p:cNvPr id="12" name="Rectangle 11">
            <a:extLst>
              <a:ext uri="{FF2B5EF4-FFF2-40B4-BE49-F238E27FC236}">
                <a16:creationId xmlns:a16="http://schemas.microsoft.com/office/drawing/2014/main" id="{2087A1B7-5189-45D8-8B89-AA85714D35BA}"/>
              </a:ext>
            </a:extLst>
          </p:cNvPr>
          <p:cNvSpPr>
            <a:spLocks noGrp="1"/>
          </p:cNvSpPr>
          <p:nvPr/>
        </p:nvSpPr>
        <p:spPr>
          <a:xfrm>
            <a:off x="1257300" y="34480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Privacy</a:t>
            </a:r>
          </a:p>
        </p:txBody>
      </p:sp>
      <p:sp>
        <p:nvSpPr>
          <p:cNvPr id="13" name="Rectangle 12">
            <a:extLst>
              <a:ext uri="{FF2B5EF4-FFF2-40B4-BE49-F238E27FC236}">
                <a16:creationId xmlns:a16="http://schemas.microsoft.com/office/drawing/2014/main" id="{1A1D6EEA-2B69-4E0C-9EAA-4E1E5B392678}"/>
              </a:ext>
            </a:extLst>
          </p:cNvPr>
          <p:cNvSpPr>
            <a:spLocks noGrp="1"/>
          </p:cNvSpPr>
          <p:nvPr/>
        </p:nvSpPr>
        <p:spPr>
          <a:xfrm>
            <a:off x="3733800" y="3448050"/>
            <a:ext cx="619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D574F"/>
                </a:solidFill>
                <a:latin typeface="Aptos"/>
                <a:ea typeface="Aptos"/>
                <a:cs typeface="Aptos"/>
              </a:defRPr>
            </a:pPr>
            <a:r>
              <a:rPr sz="1275" b="0">
                <a:solidFill>
                  <a:srgbClr val="5D574F"/>
                </a:solidFill>
                <a:latin typeface="Aptos"/>
                <a:ea typeface="Aptos"/>
                <a:cs typeface="Aptos"/>
              </a:rPr>
              <a:t>anonymous reports only</a:t>
            </a:r>
          </a:p>
        </p:txBody>
      </p:sp>
      <p:sp>
        <p:nvSpPr>
          <p:cNvPr id="14" name="Rectangle 13">
            <a:extLst>
              <a:ext uri="{FF2B5EF4-FFF2-40B4-BE49-F238E27FC236}">
                <a16:creationId xmlns:a16="http://schemas.microsoft.com/office/drawing/2014/main" id="{162DC3E9-BD54-49D0-877E-EFB0536303A9}"/>
              </a:ext>
            </a:extLst>
          </p:cNvPr>
          <p:cNvSpPr>
            <a:spLocks noGrp="1"/>
          </p:cNvSpPr>
          <p:nvPr/>
        </p:nvSpPr>
        <p:spPr>
          <a:xfrm>
            <a:off x="1028700" y="4010025"/>
            <a:ext cx="9334500" cy="495300"/>
          </a:xfrm>
          <a:prstGeom prst="rect">
            <a:avLst/>
          </a:prstGeom>
          <a:solidFill>
            <a:srgbClr val="FFFFFF"/>
          </a:solidFill>
          <a:ln w="0">
            <a:solidFill>
              <a:srgbClr val="000000">
                <a:alpha val="0"/>
              </a:srgbClr>
            </a:solidFill>
            <a:prstDash val="solid"/>
          </a:ln>
        </p:spPr>
      </p:sp>
      <p:sp>
        <p:nvSpPr>
          <p:cNvPr id="15" name="Rectangle 14">
            <a:extLst>
              <a:ext uri="{FF2B5EF4-FFF2-40B4-BE49-F238E27FC236}">
                <a16:creationId xmlns:a16="http://schemas.microsoft.com/office/drawing/2014/main" id="{8311250E-5625-4756-BBA2-350F0D35013C}"/>
              </a:ext>
            </a:extLst>
          </p:cNvPr>
          <p:cNvSpPr>
            <a:spLocks noGrp="1"/>
          </p:cNvSpPr>
          <p:nvPr/>
        </p:nvSpPr>
        <p:spPr>
          <a:xfrm>
            <a:off x="1257300" y="41338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Safety</a:t>
            </a:r>
          </a:p>
        </p:txBody>
      </p:sp>
      <p:sp>
        <p:nvSpPr>
          <p:cNvPr id="16" name="Rectangle 15">
            <a:extLst>
              <a:ext uri="{FF2B5EF4-FFF2-40B4-BE49-F238E27FC236}">
                <a16:creationId xmlns:a16="http://schemas.microsoft.com/office/drawing/2014/main" id="{F6878116-50FF-4470-86B4-EBD10CD42C2F}"/>
              </a:ext>
            </a:extLst>
          </p:cNvPr>
          <p:cNvSpPr>
            <a:spLocks noGrp="1"/>
          </p:cNvSpPr>
          <p:nvPr/>
        </p:nvSpPr>
        <p:spPr>
          <a:xfrm>
            <a:off x="3733800" y="4133850"/>
            <a:ext cx="619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D574F"/>
                </a:solidFill>
                <a:latin typeface="Aptos"/>
                <a:ea typeface="Aptos"/>
                <a:cs typeface="Aptos"/>
              </a:defRPr>
            </a:pPr>
            <a:r>
              <a:rPr sz="1275" b="0">
                <a:solidFill>
                  <a:srgbClr val="5D574F"/>
                </a:solidFill>
                <a:latin typeface="Aptos"/>
                <a:ea typeface="Aptos"/>
                <a:cs typeface="Aptos"/>
              </a:rPr>
              <a:t>does not diagnose; symptoms route to humans</a:t>
            </a:r>
          </a:p>
        </p:txBody>
      </p:sp>
      <p:sp>
        <p:nvSpPr>
          <p:cNvPr id="17" name="Rectangle 16">
            <a:extLst>
              <a:ext uri="{FF2B5EF4-FFF2-40B4-BE49-F238E27FC236}">
                <a16:creationId xmlns:a16="http://schemas.microsoft.com/office/drawing/2014/main" id="{B78A926C-6542-497B-ABF5-C9332B97D08E}"/>
              </a:ext>
            </a:extLst>
          </p:cNvPr>
          <p:cNvSpPr>
            <a:spLocks noGrp="1"/>
          </p:cNvSpPr>
          <p:nvPr/>
        </p:nvSpPr>
        <p:spPr>
          <a:xfrm>
            <a:off x="1028700" y="4695825"/>
            <a:ext cx="9334500" cy="495300"/>
          </a:xfrm>
          <a:prstGeom prst="rect">
            <a:avLst/>
          </a:prstGeom>
          <a:solidFill>
            <a:srgbClr val="F2EAD9"/>
          </a:solidFill>
          <a:ln w="0">
            <a:solidFill>
              <a:srgbClr val="000000">
                <a:alpha val="0"/>
              </a:srgbClr>
            </a:solidFill>
            <a:prstDash val="solid"/>
          </a:ln>
        </p:spPr>
      </p:sp>
      <p:sp>
        <p:nvSpPr>
          <p:cNvPr id="18" name="Rectangle 17">
            <a:extLst>
              <a:ext uri="{FF2B5EF4-FFF2-40B4-BE49-F238E27FC236}">
                <a16:creationId xmlns:a16="http://schemas.microsoft.com/office/drawing/2014/main" id="{37ADB831-225F-4BF4-A1A3-FBD74D0F1661}"/>
              </a:ext>
            </a:extLst>
          </p:cNvPr>
          <p:cNvSpPr>
            <a:spLocks noGrp="1"/>
          </p:cNvSpPr>
          <p:nvPr/>
        </p:nvSpPr>
        <p:spPr>
          <a:xfrm>
            <a:off x="1257300" y="4819650"/>
            <a:ext cx="238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Hallucination control</a:t>
            </a:r>
          </a:p>
        </p:txBody>
      </p:sp>
      <p:sp>
        <p:nvSpPr>
          <p:cNvPr id="19" name="Rectangle 18">
            <a:extLst>
              <a:ext uri="{FF2B5EF4-FFF2-40B4-BE49-F238E27FC236}">
                <a16:creationId xmlns:a16="http://schemas.microsoft.com/office/drawing/2014/main" id="{EADCE487-181F-4345-8B33-A46425275971}"/>
              </a:ext>
            </a:extLst>
          </p:cNvPr>
          <p:cNvSpPr>
            <a:spLocks noGrp="1"/>
          </p:cNvSpPr>
          <p:nvPr/>
        </p:nvSpPr>
        <p:spPr>
          <a:xfrm>
            <a:off x="3733800" y="4819650"/>
            <a:ext cx="619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5D574F"/>
                </a:solidFill>
                <a:latin typeface="Aptos"/>
                <a:ea typeface="Aptos"/>
                <a:cs typeface="Aptos"/>
              </a:defRPr>
            </a:pPr>
            <a:r>
              <a:rPr sz="1275" b="0">
                <a:solidFill>
                  <a:srgbClr val="5D574F"/>
                </a:solidFill>
                <a:latin typeface="Aptos"/>
                <a:ea typeface="Aptos"/>
                <a:cs typeface="Aptos"/>
              </a:rPr>
              <a:t>RAG plus deterministic fallback</a:t>
            </a:r>
          </a:p>
        </p:txBody>
      </p:sp>
      <p:sp>
        <p:nvSpPr>
          <p:cNvPr id="20" name="Rectangle 19">
            <a:extLst>
              <a:ext uri="{FF2B5EF4-FFF2-40B4-BE49-F238E27FC236}">
                <a16:creationId xmlns:a16="http://schemas.microsoft.com/office/drawing/2014/main" id="{2778771A-9D1B-463C-B046-F83D478485A0}"/>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1" name="Rectangle 20">
            <a:extLst>
              <a:ext uri="{FF2B5EF4-FFF2-40B4-BE49-F238E27FC236}">
                <a16:creationId xmlns:a16="http://schemas.microsoft.com/office/drawing/2014/main" id="{3538F909-D3B4-4AA7-9FA5-AAFF8F4CBDCB}"/>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22" name="Rectangle 21">
            <a:extLst>
              <a:ext uri="{FF2B5EF4-FFF2-40B4-BE49-F238E27FC236}">
                <a16:creationId xmlns:a16="http://schemas.microsoft.com/office/drawing/2014/main" id="{5FD252FB-E359-411C-9E58-741DF2CAB0FB}"/>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13</a:t>
            </a:r>
          </a:p>
        </p:txBody>
      </p:sp>
    </p:spTree>
    <p:extLst>
      <p:ext uri="{BB962C8B-B14F-4D97-AF65-F5344CB8AC3E}">
        <p14:creationId xmlns:p14="http://schemas.microsoft.com/office/powerpoint/2010/main" val="309485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084D079-E44D-4BC2-9F38-FEF693B80FA1}"/>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14-marker">
            <a:extLst>
              <a:ext uri="{FF2B5EF4-FFF2-40B4-BE49-F238E27FC236}">
                <a16:creationId xmlns:a16="http://schemas.microsoft.com/office/drawing/2014/main" id="{A3FEE3F9-B259-4F54-9E0B-3873815FA66E}"/>
              </a:ext>
            </a:extLst>
          </p:cNvPr>
          <p:cNvSpPr>
            <a:spLocks noGrp="1"/>
          </p:cNvSpPr>
          <p:nvPr/>
        </p:nvSpPr>
        <p:spPr>
          <a:xfrm>
            <a:off x="552450" y="400050"/>
            <a:ext cx="266700" cy="57150"/>
          </a:xfrm>
          <a:prstGeom prst="rect">
            <a:avLst/>
          </a:prstGeom>
          <a:solidFill>
            <a:srgbClr val="466A45"/>
          </a:solidFill>
          <a:ln w="0">
            <a:solidFill>
              <a:srgbClr val="000000">
                <a:alpha val="0"/>
              </a:srgbClr>
            </a:solidFill>
            <a:prstDash val="solid"/>
          </a:ln>
        </p:spPr>
      </p:sp>
      <p:sp>
        <p:nvSpPr>
          <p:cNvPr id="3" name="kicker-14-label">
            <a:extLst>
              <a:ext uri="{FF2B5EF4-FFF2-40B4-BE49-F238E27FC236}">
                <a16:creationId xmlns:a16="http://schemas.microsoft.com/office/drawing/2014/main" id="{62A7D5BB-F6F7-4158-BCE4-64E9CA9A3321}"/>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IMPACT</a:t>
            </a:r>
          </a:p>
        </p:txBody>
      </p:sp>
      <p:sp>
        <p:nvSpPr>
          <p:cNvPr id="4" name="Rectangle 3">
            <a:extLst>
              <a:ext uri="{FF2B5EF4-FFF2-40B4-BE49-F238E27FC236}">
                <a16:creationId xmlns:a16="http://schemas.microsoft.com/office/drawing/2014/main" id="{63B6EB68-855F-4BED-AF03-AF8A64BB2412}"/>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Expected impact spans environment, people, and operations.</a:t>
            </a:r>
          </a:p>
        </p:txBody>
      </p:sp>
      <p:sp>
        <p:nvSpPr>
          <p:cNvPr id="5" name="Rectangle 4">
            <a:extLst>
              <a:ext uri="{FF2B5EF4-FFF2-40B4-BE49-F238E27FC236}">
                <a16:creationId xmlns:a16="http://schemas.microsoft.com/office/drawing/2014/main" id="{2C80DDED-9F7D-43B3-BB77-5565D358F7E4}"/>
              </a:ext>
            </a:extLst>
          </p:cNvPr>
          <p:cNvSpPr>
            <a:spLocks noGrp="1"/>
          </p:cNvSpPr>
          <p:nvPr/>
        </p:nvSpPr>
        <p:spPr>
          <a:xfrm>
            <a:off x="933450" y="2190750"/>
            <a:ext cx="3000375" cy="209550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3F3D151B-253E-4E21-930F-DB7D0F45819D}"/>
              </a:ext>
            </a:extLst>
          </p:cNvPr>
          <p:cNvSpPr>
            <a:spLocks noGrp="1"/>
          </p:cNvSpPr>
          <p:nvPr/>
        </p:nvSpPr>
        <p:spPr>
          <a:xfrm>
            <a:off x="1123950" y="2362200"/>
            <a:ext cx="2619375"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Environmental</a:t>
            </a:r>
          </a:p>
        </p:txBody>
      </p:sp>
      <p:sp>
        <p:nvSpPr>
          <p:cNvPr id="7" name="Rectangle 6">
            <a:extLst>
              <a:ext uri="{FF2B5EF4-FFF2-40B4-BE49-F238E27FC236}">
                <a16:creationId xmlns:a16="http://schemas.microsoft.com/office/drawing/2014/main" id="{C2700D9B-26B0-41D8-90E0-15DC7F096F50}"/>
              </a:ext>
            </a:extLst>
          </p:cNvPr>
          <p:cNvSpPr>
            <a:spLocks noGrp="1"/>
          </p:cNvSpPr>
          <p:nvPr/>
        </p:nvSpPr>
        <p:spPr>
          <a:xfrm>
            <a:off x="1123950" y="2743200"/>
            <a:ext cx="2619375" cy="1409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More shade, trees, cool surfaces, and climate-resilient campus planning.</a:t>
            </a:r>
          </a:p>
        </p:txBody>
      </p:sp>
      <p:sp>
        <p:nvSpPr>
          <p:cNvPr id="8" name="Rectangle 7">
            <a:extLst>
              <a:ext uri="{FF2B5EF4-FFF2-40B4-BE49-F238E27FC236}">
                <a16:creationId xmlns:a16="http://schemas.microsoft.com/office/drawing/2014/main" id="{86580DCD-B6CE-4297-BD5B-997EAD65D969}"/>
              </a:ext>
            </a:extLst>
          </p:cNvPr>
          <p:cNvSpPr>
            <a:spLocks noGrp="1"/>
          </p:cNvSpPr>
          <p:nvPr/>
        </p:nvSpPr>
        <p:spPr>
          <a:xfrm>
            <a:off x="4591050" y="2190750"/>
            <a:ext cx="3000375" cy="2095500"/>
          </a:xfrm>
          <a:prstGeom prst="rect">
            <a:avLst/>
          </a:prstGeom>
          <a:solidFill>
            <a:srgbClr val="FFF7E7"/>
          </a:solidFill>
          <a:ln w="9525">
            <a:solidFill>
              <a:srgbClr val="D9D1C2"/>
            </a:solidFill>
            <a:prstDash val="solid"/>
          </a:ln>
        </p:spPr>
      </p:sp>
      <p:sp>
        <p:nvSpPr>
          <p:cNvPr id="9" name="Rectangle 8">
            <a:extLst>
              <a:ext uri="{FF2B5EF4-FFF2-40B4-BE49-F238E27FC236}">
                <a16:creationId xmlns:a16="http://schemas.microsoft.com/office/drawing/2014/main" id="{4F484876-2BBB-4D39-AEE3-DB84BF455F80}"/>
              </a:ext>
            </a:extLst>
          </p:cNvPr>
          <p:cNvSpPr>
            <a:spLocks noGrp="1"/>
          </p:cNvSpPr>
          <p:nvPr/>
        </p:nvSpPr>
        <p:spPr>
          <a:xfrm>
            <a:off x="4781550" y="2362200"/>
            <a:ext cx="2619375"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Social</a:t>
            </a:r>
          </a:p>
        </p:txBody>
      </p:sp>
      <p:sp>
        <p:nvSpPr>
          <p:cNvPr id="10" name="Rectangle 9">
            <a:extLst>
              <a:ext uri="{FF2B5EF4-FFF2-40B4-BE49-F238E27FC236}">
                <a16:creationId xmlns:a16="http://schemas.microsoft.com/office/drawing/2014/main" id="{C0FB73C2-F886-48D8-8559-D79E1191D9BB}"/>
              </a:ext>
            </a:extLst>
          </p:cNvPr>
          <p:cNvSpPr>
            <a:spLocks noGrp="1"/>
          </p:cNvSpPr>
          <p:nvPr/>
        </p:nvSpPr>
        <p:spPr>
          <a:xfrm>
            <a:off x="4781550" y="2743200"/>
            <a:ext cx="2619375" cy="1409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Safer schedules and routes for people with unequal heat exposure.</a:t>
            </a:r>
          </a:p>
        </p:txBody>
      </p:sp>
      <p:sp>
        <p:nvSpPr>
          <p:cNvPr id="11" name="Rectangle 10">
            <a:extLst>
              <a:ext uri="{FF2B5EF4-FFF2-40B4-BE49-F238E27FC236}">
                <a16:creationId xmlns:a16="http://schemas.microsoft.com/office/drawing/2014/main" id="{DF9EBABF-714D-4FCF-8D0D-3A5D9AD6D9A2}"/>
              </a:ext>
            </a:extLst>
          </p:cNvPr>
          <p:cNvSpPr>
            <a:spLocks noGrp="1"/>
          </p:cNvSpPr>
          <p:nvPr/>
        </p:nvSpPr>
        <p:spPr>
          <a:xfrm>
            <a:off x="8248650" y="2190750"/>
            <a:ext cx="3000375" cy="2095500"/>
          </a:xfrm>
          <a:prstGeom prst="rect">
            <a:avLst/>
          </a:prstGeom>
          <a:solidFill>
            <a:srgbClr val="FFFFFF"/>
          </a:solidFill>
          <a:ln w="9525">
            <a:solidFill>
              <a:srgbClr val="D9D1C2"/>
            </a:solidFill>
            <a:prstDash val="solid"/>
          </a:ln>
        </p:spPr>
      </p:sp>
      <p:sp>
        <p:nvSpPr>
          <p:cNvPr id="12" name="Rectangle 11">
            <a:extLst>
              <a:ext uri="{FF2B5EF4-FFF2-40B4-BE49-F238E27FC236}">
                <a16:creationId xmlns:a16="http://schemas.microsoft.com/office/drawing/2014/main" id="{52D3CE15-0310-4254-8C62-85FFF6341362}"/>
              </a:ext>
            </a:extLst>
          </p:cNvPr>
          <p:cNvSpPr>
            <a:spLocks noGrp="1"/>
          </p:cNvSpPr>
          <p:nvPr/>
        </p:nvSpPr>
        <p:spPr>
          <a:xfrm>
            <a:off x="8439150" y="2362200"/>
            <a:ext cx="2619375"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Economic</a:t>
            </a:r>
          </a:p>
        </p:txBody>
      </p:sp>
      <p:sp>
        <p:nvSpPr>
          <p:cNvPr id="13" name="Rectangle 12">
            <a:extLst>
              <a:ext uri="{FF2B5EF4-FFF2-40B4-BE49-F238E27FC236}">
                <a16:creationId xmlns:a16="http://schemas.microsoft.com/office/drawing/2014/main" id="{11B00F96-33C8-43D9-8BE4-DDFF12914541}"/>
              </a:ext>
            </a:extLst>
          </p:cNvPr>
          <p:cNvSpPr>
            <a:spLocks noGrp="1"/>
          </p:cNvSpPr>
          <p:nvPr/>
        </p:nvSpPr>
        <p:spPr>
          <a:xfrm>
            <a:off x="8439150" y="2743200"/>
            <a:ext cx="2619375" cy="1409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Less disruption, smarter maintenance timing, and better targeting of low-cost interventions.</a:t>
            </a:r>
          </a:p>
        </p:txBody>
      </p:sp>
      <p:sp>
        <p:nvSpPr>
          <p:cNvPr id="14" name="Rectangle 13">
            <a:extLst>
              <a:ext uri="{FF2B5EF4-FFF2-40B4-BE49-F238E27FC236}">
                <a16:creationId xmlns:a16="http://schemas.microsoft.com/office/drawing/2014/main" id="{E303E96A-02E6-4D52-84AB-A5996D149850}"/>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5" name="Rectangle 14">
            <a:extLst>
              <a:ext uri="{FF2B5EF4-FFF2-40B4-BE49-F238E27FC236}">
                <a16:creationId xmlns:a16="http://schemas.microsoft.com/office/drawing/2014/main" id="{60B36C32-F85A-4F24-8640-C364A21A39B4}"/>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6" name="Rectangle 15">
            <a:extLst>
              <a:ext uri="{FF2B5EF4-FFF2-40B4-BE49-F238E27FC236}">
                <a16:creationId xmlns:a16="http://schemas.microsoft.com/office/drawing/2014/main" id="{2A8DD365-4E07-4C60-9DC5-C838523535D8}"/>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14</a:t>
            </a:r>
          </a:p>
        </p:txBody>
      </p:sp>
    </p:spTree>
    <p:extLst>
      <p:ext uri="{BB962C8B-B14F-4D97-AF65-F5344CB8AC3E}">
        <p14:creationId xmlns:p14="http://schemas.microsoft.com/office/powerpoint/2010/main" val="184515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48707FF-A552-4C10-8528-DDE9019340FB}"/>
              </a:ext>
            </a:extLst>
          </p:cNvPr>
          <p:cNvSpPr>
            <a:spLocks noGrp="1"/>
          </p:cNvSpPr>
          <p:nvPr/>
        </p:nvSpPr>
        <p:spPr>
          <a:xfrm>
            <a:off x="0" y="0"/>
            <a:ext cx="12192000" cy="6858000"/>
          </a:xfrm>
          <a:prstGeom prst="rect">
            <a:avLst/>
          </a:prstGeom>
          <a:solidFill>
            <a:srgbClr val="F7F1E5"/>
          </a:solidFill>
          <a:ln w="0">
            <a:solidFill>
              <a:srgbClr val="000000">
                <a:alpha val="0"/>
              </a:srgbClr>
            </a:solidFill>
            <a:prstDash val="solid"/>
          </a:ln>
        </p:spPr>
      </p:sp>
      <p:sp>
        <p:nvSpPr>
          <p:cNvPr id="2" name="kicker-15-marker">
            <a:extLst>
              <a:ext uri="{FF2B5EF4-FFF2-40B4-BE49-F238E27FC236}">
                <a16:creationId xmlns:a16="http://schemas.microsoft.com/office/drawing/2014/main" id="{BA7E8EA5-49DA-423D-A537-9EDDFE27CFBC}"/>
              </a:ext>
            </a:extLst>
          </p:cNvPr>
          <p:cNvSpPr>
            <a:spLocks noGrp="1"/>
          </p:cNvSpPr>
          <p:nvPr/>
        </p:nvSpPr>
        <p:spPr>
          <a:xfrm>
            <a:off x="552450" y="400050"/>
            <a:ext cx="266700" cy="57150"/>
          </a:xfrm>
          <a:prstGeom prst="rect">
            <a:avLst/>
          </a:prstGeom>
          <a:solidFill>
            <a:srgbClr val="3F7F95"/>
          </a:solidFill>
          <a:ln w="0">
            <a:solidFill>
              <a:srgbClr val="000000">
                <a:alpha val="0"/>
              </a:srgbClr>
            </a:solidFill>
            <a:prstDash val="solid"/>
          </a:ln>
        </p:spPr>
      </p:sp>
      <p:sp>
        <p:nvSpPr>
          <p:cNvPr id="3" name="kicker-15-label">
            <a:extLst>
              <a:ext uri="{FF2B5EF4-FFF2-40B4-BE49-F238E27FC236}">
                <a16:creationId xmlns:a16="http://schemas.microsoft.com/office/drawing/2014/main" id="{5C6F4F8D-D89F-4286-9EA2-7015B4AB5DB6}"/>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KPIS</a:t>
            </a:r>
          </a:p>
        </p:txBody>
      </p:sp>
      <p:sp>
        <p:nvSpPr>
          <p:cNvPr id="4" name="Rectangle 3">
            <a:extLst>
              <a:ext uri="{FF2B5EF4-FFF2-40B4-BE49-F238E27FC236}">
                <a16:creationId xmlns:a16="http://schemas.microsoft.com/office/drawing/2014/main" id="{65B25653-256B-4343-826D-6A8DB6CB3F13}"/>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The project can be evaluated with measurable sustainability KPIs.</a:t>
            </a:r>
          </a:p>
        </p:txBody>
      </p:sp>
      <p:sp>
        <p:nvSpPr>
          <p:cNvPr id="5" name="Rectangle 4">
            <a:extLst>
              <a:ext uri="{FF2B5EF4-FFF2-40B4-BE49-F238E27FC236}">
                <a16:creationId xmlns:a16="http://schemas.microsoft.com/office/drawing/2014/main" id="{06CCD89E-FCE1-45AF-956F-2697EEB8B486}"/>
              </a:ext>
            </a:extLst>
          </p:cNvPr>
          <p:cNvSpPr>
            <a:spLocks noGrp="1"/>
          </p:cNvSpPr>
          <p:nvPr/>
        </p:nvSpPr>
        <p:spPr>
          <a:xfrm>
            <a:off x="904875" y="2095500"/>
            <a:ext cx="85725" cy="85725"/>
          </a:xfrm>
          <a:prstGeom prst="rect">
            <a:avLst/>
          </a:prstGeom>
          <a:solidFill>
            <a:srgbClr val="3F7F95"/>
          </a:solidFill>
          <a:ln w="0">
            <a:solidFill>
              <a:srgbClr val="000000">
                <a:alpha val="0"/>
              </a:srgbClr>
            </a:solidFill>
            <a:prstDash val="solid"/>
          </a:ln>
        </p:spPr>
      </p:sp>
      <p:sp>
        <p:nvSpPr>
          <p:cNvPr id="6" name="Rectangle 5">
            <a:extLst>
              <a:ext uri="{FF2B5EF4-FFF2-40B4-BE49-F238E27FC236}">
                <a16:creationId xmlns:a16="http://schemas.microsoft.com/office/drawing/2014/main" id="{B82DE8BA-D643-4DD1-9F9E-49F83FD59DA9}"/>
              </a:ext>
            </a:extLst>
          </p:cNvPr>
          <p:cNvSpPr>
            <a:spLocks noGrp="1"/>
          </p:cNvSpPr>
          <p:nvPr/>
        </p:nvSpPr>
        <p:spPr>
          <a:xfrm>
            <a:off x="1133475" y="2000250"/>
            <a:ext cx="79629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17201B"/>
                </a:solidFill>
                <a:latin typeface="Aptos"/>
                <a:ea typeface="Aptos"/>
                <a:cs typeface="Aptos"/>
              </a:defRPr>
            </a:pPr>
            <a:r>
              <a:rPr sz="1650" b="0">
                <a:solidFill>
                  <a:srgbClr val="17201B"/>
                </a:solidFill>
                <a:latin typeface="Aptos"/>
                <a:ea typeface="Aptos"/>
                <a:cs typeface="Aptos"/>
              </a:rPr>
              <a:t>Zones assessed and high-risk zones improved.</a:t>
            </a:r>
          </a:p>
        </p:txBody>
      </p:sp>
      <p:sp>
        <p:nvSpPr>
          <p:cNvPr id="7" name="Rectangle 6">
            <a:extLst>
              <a:ext uri="{FF2B5EF4-FFF2-40B4-BE49-F238E27FC236}">
                <a16:creationId xmlns:a16="http://schemas.microsoft.com/office/drawing/2014/main" id="{1988B59E-180B-4C48-BEDF-6A0C7AEEC377}"/>
              </a:ext>
            </a:extLst>
          </p:cNvPr>
          <p:cNvSpPr>
            <a:spLocks noGrp="1"/>
          </p:cNvSpPr>
          <p:nvPr/>
        </p:nvSpPr>
        <p:spPr>
          <a:xfrm>
            <a:off x="904875" y="2686050"/>
            <a:ext cx="85725" cy="85725"/>
          </a:xfrm>
          <a:prstGeom prst="rect">
            <a:avLst/>
          </a:prstGeom>
          <a:solidFill>
            <a:srgbClr val="3F7F95"/>
          </a:solidFill>
          <a:ln w="0">
            <a:solidFill>
              <a:srgbClr val="000000">
                <a:alpha val="0"/>
              </a:srgbClr>
            </a:solidFill>
            <a:prstDash val="solid"/>
          </a:ln>
        </p:spPr>
      </p:sp>
      <p:sp>
        <p:nvSpPr>
          <p:cNvPr id="8" name="Rectangle 7">
            <a:extLst>
              <a:ext uri="{FF2B5EF4-FFF2-40B4-BE49-F238E27FC236}">
                <a16:creationId xmlns:a16="http://schemas.microsoft.com/office/drawing/2014/main" id="{BDF3A804-FF94-4E41-89DC-6CB24666059F}"/>
              </a:ext>
            </a:extLst>
          </p:cNvPr>
          <p:cNvSpPr>
            <a:spLocks noGrp="1"/>
          </p:cNvSpPr>
          <p:nvPr/>
        </p:nvSpPr>
        <p:spPr>
          <a:xfrm>
            <a:off x="1133475" y="2590800"/>
            <a:ext cx="79629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17201B"/>
                </a:solidFill>
                <a:latin typeface="Aptos"/>
                <a:ea typeface="Aptos"/>
                <a:cs typeface="Aptos"/>
              </a:defRPr>
            </a:pPr>
            <a:r>
              <a:rPr sz="1650" b="0">
                <a:solidFill>
                  <a:srgbClr val="17201B"/>
                </a:solidFill>
                <a:latin typeface="Aptos"/>
                <a:ea typeface="Aptos"/>
                <a:cs typeface="Aptos"/>
              </a:rPr>
              <a:t>Peak-hour outdoor tasks reduced or rescheduled.</a:t>
            </a:r>
          </a:p>
        </p:txBody>
      </p:sp>
      <p:sp>
        <p:nvSpPr>
          <p:cNvPr id="9" name="Rectangle 8">
            <a:extLst>
              <a:ext uri="{FF2B5EF4-FFF2-40B4-BE49-F238E27FC236}">
                <a16:creationId xmlns:a16="http://schemas.microsoft.com/office/drawing/2014/main" id="{9B539670-66D5-4B64-A4B9-FFAC5E2E578B}"/>
              </a:ext>
            </a:extLst>
          </p:cNvPr>
          <p:cNvSpPr>
            <a:spLocks noGrp="1"/>
          </p:cNvSpPr>
          <p:nvPr/>
        </p:nvSpPr>
        <p:spPr>
          <a:xfrm>
            <a:off x="904875" y="3276600"/>
            <a:ext cx="85725" cy="85725"/>
          </a:xfrm>
          <a:prstGeom prst="rect">
            <a:avLst/>
          </a:prstGeom>
          <a:solidFill>
            <a:srgbClr val="3F7F95"/>
          </a:solidFill>
          <a:ln w="0">
            <a:solidFill>
              <a:srgbClr val="000000">
                <a:alpha val="0"/>
              </a:srgbClr>
            </a:solidFill>
            <a:prstDash val="solid"/>
          </a:ln>
        </p:spPr>
      </p:sp>
      <p:sp>
        <p:nvSpPr>
          <p:cNvPr id="10" name="Rectangle 9">
            <a:extLst>
              <a:ext uri="{FF2B5EF4-FFF2-40B4-BE49-F238E27FC236}">
                <a16:creationId xmlns:a16="http://schemas.microsoft.com/office/drawing/2014/main" id="{300FDA9D-D4B2-4124-9913-9AC4A36E2763}"/>
              </a:ext>
            </a:extLst>
          </p:cNvPr>
          <p:cNvSpPr>
            <a:spLocks noGrp="1"/>
          </p:cNvSpPr>
          <p:nvPr/>
        </p:nvSpPr>
        <p:spPr>
          <a:xfrm>
            <a:off x="1133475" y="3181350"/>
            <a:ext cx="79629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17201B"/>
                </a:solidFill>
                <a:latin typeface="Aptos"/>
                <a:ea typeface="Aptos"/>
                <a:cs typeface="Aptos"/>
              </a:defRPr>
            </a:pPr>
            <a:r>
              <a:rPr sz="1650" b="0">
                <a:solidFill>
                  <a:srgbClr val="17201B"/>
                </a:solidFill>
                <a:latin typeface="Aptos"/>
                <a:ea typeface="Aptos"/>
                <a:cs typeface="Aptos"/>
              </a:rPr>
              <a:t>Water and shade access coverage increased.</a:t>
            </a:r>
          </a:p>
        </p:txBody>
      </p:sp>
      <p:sp>
        <p:nvSpPr>
          <p:cNvPr id="11" name="Rectangle 10">
            <a:extLst>
              <a:ext uri="{FF2B5EF4-FFF2-40B4-BE49-F238E27FC236}">
                <a16:creationId xmlns:a16="http://schemas.microsoft.com/office/drawing/2014/main" id="{EFFCED1C-7B15-4AEE-85FF-18F70E8EF23D}"/>
              </a:ext>
            </a:extLst>
          </p:cNvPr>
          <p:cNvSpPr>
            <a:spLocks noGrp="1"/>
          </p:cNvSpPr>
          <p:nvPr/>
        </p:nvSpPr>
        <p:spPr>
          <a:xfrm>
            <a:off x="904875" y="3867150"/>
            <a:ext cx="85725" cy="85725"/>
          </a:xfrm>
          <a:prstGeom prst="rect">
            <a:avLst/>
          </a:prstGeom>
          <a:solidFill>
            <a:srgbClr val="3F7F95"/>
          </a:solidFill>
          <a:ln w="0">
            <a:solidFill>
              <a:srgbClr val="000000">
                <a:alpha val="0"/>
              </a:srgbClr>
            </a:solidFill>
            <a:prstDash val="solid"/>
          </a:ln>
        </p:spPr>
      </p:sp>
      <p:sp>
        <p:nvSpPr>
          <p:cNvPr id="12" name="Rectangle 11">
            <a:extLst>
              <a:ext uri="{FF2B5EF4-FFF2-40B4-BE49-F238E27FC236}">
                <a16:creationId xmlns:a16="http://schemas.microsoft.com/office/drawing/2014/main" id="{F23FD4FE-7D63-4EA0-B51D-2D56F6A61FB7}"/>
              </a:ext>
            </a:extLst>
          </p:cNvPr>
          <p:cNvSpPr>
            <a:spLocks noGrp="1"/>
          </p:cNvSpPr>
          <p:nvPr/>
        </p:nvSpPr>
        <p:spPr>
          <a:xfrm>
            <a:off x="1133475" y="3771900"/>
            <a:ext cx="79629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17201B"/>
                </a:solidFill>
                <a:latin typeface="Aptos"/>
                <a:ea typeface="Aptos"/>
                <a:cs typeface="Aptos"/>
              </a:defRPr>
            </a:pPr>
            <a:r>
              <a:rPr sz="1650" b="0">
                <a:solidFill>
                  <a:srgbClr val="17201B"/>
                </a:solidFill>
                <a:latin typeface="Aptos"/>
                <a:ea typeface="Aptos"/>
                <a:cs typeface="Aptos"/>
              </a:rPr>
              <a:t>Anonymous heat reports resolved by administrators.</a:t>
            </a:r>
          </a:p>
        </p:txBody>
      </p:sp>
      <p:sp>
        <p:nvSpPr>
          <p:cNvPr id="13" name="Rectangle 12">
            <a:extLst>
              <a:ext uri="{FF2B5EF4-FFF2-40B4-BE49-F238E27FC236}">
                <a16:creationId xmlns:a16="http://schemas.microsoft.com/office/drawing/2014/main" id="{D0765C82-6A9A-4893-A2B5-BE995FCFA4B3}"/>
              </a:ext>
            </a:extLst>
          </p:cNvPr>
          <p:cNvSpPr>
            <a:spLocks noGrp="1"/>
          </p:cNvSpPr>
          <p:nvPr/>
        </p:nvSpPr>
        <p:spPr>
          <a:xfrm>
            <a:off x="904875" y="4457700"/>
            <a:ext cx="85725" cy="85725"/>
          </a:xfrm>
          <a:prstGeom prst="rect">
            <a:avLst/>
          </a:prstGeom>
          <a:solidFill>
            <a:srgbClr val="3F7F95"/>
          </a:solidFill>
          <a:ln w="0">
            <a:solidFill>
              <a:srgbClr val="000000">
                <a:alpha val="0"/>
              </a:srgbClr>
            </a:solidFill>
            <a:prstDash val="solid"/>
          </a:ln>
        </p:spPr>
      </p:sp>
      <p:sp>
        <p:nvSpPr>
          <p:cNvPr id="14" name="Rectangle 13">
            <a:extLst>
              <a:ext uri="{FF2B5EF4-FFF2-40B4-BE49-F238E27FC236}">
                <a16:creationId xmlns:a16="http://schemas.microsoft.com/office/drawing/2014/main" id="{82768096-08AB-4FFF-9294-CD40D1AC1DB4}"/>
              </a:ext>
            </a:extLst>
          </p:cNvPr>
          <p:cNvSpPr>
            <a:spLocks noGrp="1"/>
          </p:cNvSpPr>
          <p:nvPr/>
        </p:nvSpPr>
        <p:spPr>
          <a:xfrm>
            <a:off x="1133475" y="4362450"/>
            <a:ext cx="79629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17201B"/>
                </a:solidFill>
                <a:latin typeface="Aptos"/>
                <a:ea typeface="Aptos"/>
                <a:cs typeface="Aptos"/>
              </a:defRPr>
            </a:pPr>
            <a:r>
              <a:rPr sz="1650" b="0">
                <a:solidFill>
                  <a:srgbClr val="17201B"/>
                </a:solidFill>
                <a:latin typeface="Aptos"/>
                <a:ea typeface="Aptos"/>
                <a:cs typeface="Aptos"/>
              </a:rPr>
              <a:t>Safer route recommendations used during heat events.</a:t>
            </a:r>
          </a:p>
        </p:txBody>
      </p:sp>
      <p:pic>
        <p:nvPicPr>
          <p:cNvPr id="15" name="Graphic 14"/>
          <p:cNvPicPr>
            <a:picLocks noChangeAspect="1"/>
          </p:cNvPicPr>
          <p:nvPr/>
        </p:nvPicPr>
        <p:blipFill>
          <a:blip>
            <a:extLst>
              <a:ext uri="{96DAC541-7B7A-43D3-8B79-37D633B846F1}">
                <asvg:svgBlip xmlns:asvg="http://schemas.microsoft.com/office/drawing/2016/SVG/main" r:embed="rId3"/>
              </a:ext>
            </a:extLst>
          </a:blip>
          <a:stretch/>
        </p:blipFill>
        <p:spPr>
          <a:xfrm>
            <a:off x="9572625" y="2381250"/>
            <a:ext cx="876300" cy="876300"/>
          </a:xfrm>
          <a:prstGeom prst="rect">
            <a:avLst/>
          </a:prstGeom>
        </p:spPr>
      </p:pic>
      <p:pic>
        <p:nvPicPr>
          <p:cNvPr id="16" name="Graphic 15"/>
          <p:cNvPicPr>
            <a:picLocks noChangeAspect="1"/>
          </p:cNvPicPr>
          <p:nvPr/>
        </p:nvPicPr>
        <p:blipFill>
          <a:blip>
            <a:extLst>
              <a:ext uri="{96DAC541-7B7A-43D3-8B79-37D633B846F1}">
                <asvg:svgBlip xmlns:asvg="http://schemas.microsoft.com/office/drawing/2016/SVG/main" r:embed="rId4"/>
              </a:ext>
            </a:extLst>
          </a:blip>
          <a:stretch/>
        </p:blipFill>
        <p:spPr>
          <a:xfrm>
            <a:off x="10287000" y="3429000"/>
            <a:ext cx="685800" cy="685800"/>
          </a:xfrm>
          <a:prstGeom prst="rect">
            <a:avLst/>
          </a:prstGeom>
        </p:spPr>
      </p:pic>
      <p:sp>
        <p:nvSpPr>
          <p:cNvPr id="17" name="Rectangle 16">
            <a:extLst>
              <a:ext uri="{FF2B5EF4-FFF2-40B4-BE49-F238E27FC236}">
                <a16:creationId xmlns:a16="http://schemas.microsoft.com/office/drawing/2014/main" id="{0C7D2C74-850A-48D6-AD65-251A9D8CB96E}"/>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8" name="Rectangle 17">
            <a:extLst>
              <a:ext uri="{FF2B5EF4-FFF2-40B4-BE49-F238E27FC236}">
                <a16:creationId xmlns:a16="http://schemas.microsoft.com/office/drawing/2014/main" id="{151713EB-C750-4473-8F84-F04AD97B7BD9}"/>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9" name="Rectangle 18">
            <a:extLst>
              <a:ext uri="{FF2B5EF4-FFF2-40B4-BE49-F238E27FC236}">
                <a16:creationId xmlns:a16="http://schemas.microsoft.com/office/drawing/2014/main" id="{027F8A40-A252-4748-96A7-012DE63D2DCF}"/>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15</a:t>
            </a:r>
          </a:p>
        </p:txBody>
      </p:sp>
    </p:spTree>
    <p:extLst>
      <p:ext uri="{BB962C8B-B14F-4D97-AF65-F5344CB8AC3E}">
        <p14:creationId xmlns:p14="http://schemas.microsoft.com/office/powerpoint/2010/main" val="601340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F553FD2-D9FB-4854-A5BF-21EFB48F2008}"/>
              </a:ext>
            </a:extLst>
          </p:cNvPr>
          <p:cNvSpPr>
            <a:spLocks noGrp="1"/>
          </p:cNvSpPr>
          <p:nvPr/>
        </p:nvSpPr>
        <p:spPr>
          <a:xfrm>
            <a:off x="0" y="0"/>
            <a:ext cx="12192000" cy="6858000"/>
          </a:xfrm>
          <a:prstGeom prst="rect">
            <a:avLst/>
          </a:prstGeom>
          <a:solidFill>
            <a:srgbClr val="F8F6EF"/>
          </a:solidFill>
          <a:ln w="0">
            <a:solidFill>
              <a:srgbClr val="000000">
                <a:alpha val="0"/>
              </a:srgbClr>
            </a:solidFill>
            <a:prstDash val="solid"/>
          </a:ln>
        </p:spPr>
      </p:sp>
      <p:sp>
        <p:nvSpPr>
          <p:cNvPr id="2" name="kicker-16-marker">
            <a:extLst>
              <a:ext uri="{FF2B5EF4-FFF2-40B4-BE49-F238E27FC236}">
                <a16:creationId xmlns:a16="http://schemas.microsoft.com/office/drawing/2014/main" id="{88B10848-E8F8-4D0D-ACA9-24F4A529C447}"/>
              </a:ext>
            </a:extLst>
          </p:cNvPr>
          <p:cNvSpPr>
            <a:spLocks noGrp="1"/>
          </p:cNvSpPr>
          <p:nvPr/>
        </p:nvSpPr>
        <p:spPr>
          <a:xfrm>
            <a:off x="552450" y="400050"/>
            <a:ext cx="266700" cy="57150"/>
          </a:xfrm>
          <a:prstGeom prst="rect">
            <a:avLst/>
          </a:prstGeom>
          <a:solidFill>
            <a:srgbClr val="F3B23C"/>
          </a:solidFill>
          <a:ln w="0">
            <a:solidFill>
              <a:srgbClr val="000000">
                <a:alpha val="0"/>
              </a:srgbClr>
            </a:solidFill>
            <a:prstDash val="solid"/>
          </a:ln>
        </p:spPr>
      </p:sp>
      <p:sp>
        <p:nvSpPr>
          <p:cNvPr id="3" name="kicker-16-label">
            <a:extLst>
              <a:ext uri="{FF2B5EF4-FFF2-40B4-BE49-F238E27FC236}">
                <a16:creationId xmlns:a16="http://schemas.microsoft.com/office/drawing/2014/main" id="{9E71F52A-62B1-4679-9D4D-3F1E12F987A5}"/>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TECHNICAL STACK</a:t>
            </a:r>
          </a:p>
        </p:txBody>
      </p:sp>
      <p:sp>
        <p:nvSpPr>
          <p:cNvPr id="4" name="Rectangle 3">
            <a:extLst>
              <a:ext uri="{FF2B5EF4-FFF2-40B4-BE49-F238E27FC236}">
                <a16:creationId xmlns:a16="http://schemas.microsoft.com/office/drawing/2014/main" id="{C9065901-F5B6-4940-97A5-6C4CD3FA412E}"/>
              </a:ext>
            </a:extLst>
          </p:cNvPr>
          <p:cNvSpPr>
            <a:spLocks noGrp="1"/>
          </p:cNvSpPr>
          <p:nvPr/>
        </p:nvSpPr>
        <p:spPr>
          <a:xfrm>
            <a:off x="552450" y="78105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The demo is complete, local, and upgrade-ready.</a:t>
            </a:r>
          </a:p>
        </p:txBody>
      </p:sp>
      <p:sp>
        <p:nvSpPr>
          <p:cNvPr id="5" name="Rectangle 4">
            <a:extLst>
              <a:ext uri="{FF2B5EF4-FFF2-40B4-BE49-F238E27FC236}">
                <a16:creationId xmlns:a16="http://schemas.microsoft.com/office/drawing/2014/main" id="{1097A3AD-CDD3-4850-A9FE-A76FE12CFF2B}"/>
              </a:ext>
            </a:extLst>
          </p:cNvPr>
          <p:cNvSpPr>
            <a:spLocks noGrp="1"/>
          </p:cNvSpPr>
          <p:nvPr/>
        </p:nvSpPr>
        <p:spPr>
          <a:xfrm>
            <a:off x="781050" y="2143125"/>
            <a:ext cx="3143250" cy="1714500"/>
          </a:xfrm>
          <a:prstGeom prst="rect">
            <a:avLst/>
          </a:prstGeom>
          <a:solidFill>
            <a:srgbClr val="FFFFFF"/>
          </a:solidFill>
          <a:ln w="9525">
            <a:solidFill>
              <a:srgbClr val="D9D1C2"/>
            </a:solidFill>
            <a:prstDash val="solid"/>
          </a:ln>
        </p:spPr>
      </p:sp>
      <p:sp>
        <p:nvSpPr>
          <p:cNvPr id="6" name="Rectangle 5">
            <a:extLst>
              <a:ext uri="{FF2B5EF4-FFF2-40B4-BE49-F238E27FC236}">
                <a16:creationId xmlns:a16="http://schemas.microsoft.com/office/drawing/2014/main" id="{69D257E2-5AE3-4392-9242-AC814F4CD001}"/>
              </a:ext>
            </a:extLst>
          </p:cNvPr>
          <p:cNvSpPr>
            <a:spLocks noGrp="1"/>
          </p:cNvSpPr>
          <p:nvPr/>
        </p:nvSpPr>
        <p:spPr>
          <a:xfrm>
            <a:off x="971550" y="2314575"/>
            <a:ext cx="2762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Frontend</a:t>
            </a:r>
          </a:p>
        </p:txBody>
      </p:sp>
      <p:sp>
        <p:nvSpPr>
          <p:cNvPr id="7" name="Rectangle 6">
            <a:extLst>
              <a:ext uri="{FF2B5EF4-FFF2-40B4-BE49-F238E27FC236}">
                <a16:creationId xmlns:a16="http://schemas.microsoft.com/office/drawing/2014/main" id="{0D40BEDF-DF68-4C0E-A329-F3FF48638032}"/>
              </a:ext>
            </a:extLst>
          </p:cNvPr>
          <p:cNvSpPr>
            <a:spLocks noGrp="1"/>
          </p:cNvSpPr>
          <p:nvPr/>
        </p:nvSpPr>
        <p:spPr>
          <a:xfrm>
            <a:off x="971550" y="2695575"/>
            <a:ext cx="2762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React, Vite, Tailwind CSS, responsive dashboard, lucide icons.</a:t>
            </a:r>
          </a:p>
        </p:txBody>
      </p:sp>
      <p:sp>
        <p:nvSpPr>
          <p:cNvPr id="8" name="Rectangle 7">
            <a:extLst>
              <a:ext uri="{FF2B5EF4-FFF2-40B4-BE49-F238E27FC236}">
                <a16:creationId xmlns:a16="http://schemas.microsoft.com/office/drawing/2014/main" id="{5B051C21-AF26-49A3-8816-3C71C917BF90}"/>
              </a:ext>
            </a:extLst>
          </p:cNvPr>
          <p:cNvSpPr>
            <a:spLocks noGrp="1"/>
          </p:cNvSpPr>
          <p:nvPr/>
        </p:nvSpPr>
        <p:spPr>
          <a:xfrm>
            <a:off x="4514850" y="2143125"/>
            <a:ext cx="3143250" cy="1714500"/>
          </a:xfrm>
          <a:prstGeom prst="rect">
            <a:avLst/>
          </a:prstGeom>
          <a:solidFill>
            <a:srgbClr val="FFF7E7"/>
          </a:solidFill>
          <a:ln w="9525">
            <a:solidFill>
              <a:srgbClr val="D9D1C2"/>
            </a:solidFill>
            <a:prstDash val="solid"/>
          </a:ln>
        </p:spPr>
      </p:sp>
      <p:sp>
        <p:nvSpPr>
          <p:cNvPr id="9" name="Rectangle 8">
            <a:extLst>
              <a:ext uri="{FF2B5EF4-FFF2-40B4-BE49-F238E27FC236}">
                <a16:creationId xmlns:a16="http://schemas.microsoft.com/office/drawing/2014/main" id="{67DDEB76-65C8-4774-876D-68767AD8DDC9}"/>
              </a:ext>
            </a:extLst>
          </p:cNvPr>
          <p:cNvSpPr>
            <a:spLocks noGrp="1"/>
          </p:cNvSpPr>
          <p:nvPr/>
        </p:nvSpPr>
        <p:spPr>
          <a:xfrm>
            <a:off x="4705350" y="2314575"/>
            <a:ext cx="2762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Backend</a:t>
            </a:r>
          </a:p>
        </p:txBody>
      </p:sp>
      <p:sp>
        <p:nvSpPr>
          <p:cNvPr id="10" name="Rectangle 9">
            <a:extLst>
              <a:ext uri="{FF2B5EF4-FFF2-40B4-BE49-F238E27FC236}">
                <a16:creationId xmlns:a16="http://schemas.microsoft.com/office/drawing/2014/main" id="{B0B4508E-3F22-4A0A-ADA8-89612525EF8B}"/>
              </a:ext>
            </a:extLst>
          </p:cNvPr>
          <p:cNvSpPr>
            <a:spLocks noGrp="1"/>
          </p:cNvSpPr>
          <p:nvPr/>
        </p:nvSpPr>
        <p:spPr>
          <a:xfrm>
            <a:off x="4705350" y="2695575"/>
            <a:ext cx="2762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FastAPI, Pydantic, SQLite, heat-risk service, RAG service, AI adapter.</a:t>
            </a:r>
          </a:p>
        </p:txBody>
      </p:sp>
      <p:sp>
        <p:nvSpPr>
          <p:cNvPr id="11" name="Rectangle 10">
            <a:extLst>
              <a:ext uri="{FF2B5EF4-FFF2-40B4-BE49-F238E27FC236}">
                <a16:creationId xmlns:a16="http://schemas.microsoft.com/office/drawing/2014/main" id="{D9737E2C-DDE2-4BDB-ADA7-EEA0EA4714E3}"/>
              </a:ext>
            </a:extLst>
          </p:cNvPr>
          <p:cNvSpPr>
            <a:spLocks noGrp="1"/>
          </p:cNvSpPr>
          <p:nvPr/>
        </p:nvSpPr>
        <p:spPr>
          <a:xfrm>
            <a:off x="8248650" y="2143125"/>
            <a:ext cx="3143250" cy="1714500"/>
          </a:xfrm>
          <a:prstGeom prst="rect">
            <a:avLst/>
          </a:prstGeom>
          <a:solidFill>
            <a:srgbClr val="FFFFFF"/>
          </a:solidFill>
          <a:ln w="9525">
            <a:solidFill>
              <a:srgbClr val="D9D1C2"/>
            </a:solidFill>
            <a:prstDash val="solid"/>
          </a:ln>
        </p:spPr>
      </p:sp>
      <p:sp>
        <p:nvSpPr>
          <p:cNvPr id="12" name="Rectangle 11">
            <a:extLst>
              <a:ext uri="{FF2B5EF4-FFF2-40B4-BE49-F238E27FC236}">
                <a16:creationId xmlns:a16="http://schemas.microsoft.com/office/drawing/2014/main" id="{D7A1D54F-4739-4274-861E-49B57D561B35}"/>
              </a:ext>
            </a:extLst>
          </p:cNvPr>
          <p:cNvSpPr>
            <a:spLocks noGrp="1"/>
          </p:cNvSpPr>
          <p:nvPr/>
        </p:nvSpPr>
        <p:spPr>
          <a:xfrm>
            <a:off x="8439150" y="2314575"/>
            <a:ext cx="2762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7201B"/>
                </a:solidFill>
                <a:latin typeface="Aptos"/>
                <a:ea typeface="Aptos"/>
                <a:cs typeface="Aptos"/>
              </a:defRPr>
            </a:pPr>
            <a:r>
              <a:rPr sz="1350" b="1">
                <a:solidFill>
                  <a:srgbClr val="17201B"/>
                </a:solidFill>
                <a:latin typeface="Aptos"/>
                <a:ea typeface="Aptos"/>
                <a:cs typeface="Aptos"/>
              </a:rPr>
              <a:t>AI integration</a:t>
            </a:r>
          </a:p>
        </p:txBody>
      </p:sp>
      <p:sp>
        <p:nvSpPr>
          <p:cNvPr id="13" name="Rectangle 12">
            <a:extLst>
              <a:ext uri="{FF2B5EF4-FFF2-40B4-BE49-F238E27FC236}">
                <a16:creationId xmlns:a16="http://schemas.microsoft.com/office/drawing/2014/main" id="{0FD25BE4-0CCF-4F28-9BD3-1377D2D1792D}"/>
              </a:ext>
            </a:extLst>
          </p:cNvPr>
          <p:cNvSpPr>
            <a:spLocks noGrp="1"/>
          </p:cNvSpPr>
          <p:nvPr/>
        </p:nvSpPr>
        <p:spPr>
          <a:xfrm>
            <a:off x="8439150" y="2695575"/>
            <a:ext cx="2762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5D574F"/>
                </a:solidFill>
                <a:latin typeface="Aptos"/>
                <a:ea typeface="Aptos"/>
                <a:cs typeface="Aptos"/>
              </a:defRPr>
            </a:pPr>
            <a:r>
              <a:rPr sz="1125" b="0">
                <a:solidFill>
                  <a:srgbClr val="5D574F"/>
                </a:solidFill>
                <a:latin typeface="Aptos"/>
                <a:ea typeface="Aptos"/>
                <a:cs typeface="Aptos"/>
              </a:rPr>
              <a:t>Works offline with deterministic mock AI; can connect to IBM Granite through an OpenAI-compatible endpoint.</a:t>
            </a:r>
          </a:p>
        </p:txBody>
      </p:sp>
      <p:sp>
        <p:nvSpPr>
          <p:cNvPr id="14" name="Rectangle 13">
            <a:extLst>
              <a:ext uri="{FF2B5EF4-FFF2-40B4-BE49-F238E27FC236}">
                <a16:creationId xmlns:a16="http://schemas.microsoft.com/office/drawing/2014/main" id="{05ACC142-925F-42F8-8DF3-A93B08E1D3D6}"/>
              </a:ext>
            </a:extLst>
          </p:cNvPr>
          <p:cNvSpPr>
            <a:spLocks noGrp="1"/>
          </p:cNvSpPr>
          <p:nvPr/>
        </p:nvSpPr>
        <p:spPr>
          <a:xfrm>
            <a:off x="1524000" y="4667250"/>
            <a:ext cx="8763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17201B"/>
                </a:solidFill>
                <a:latin typeface="Aptos"/>
                <a:ea typeface="Aptos"/>
                <a:cs typeface="Aptos"/>
              </a:defRPr>
            </a:pPr>
            <a:r>
              <a:rPr sz="2100" b="1">
                <a:solidFill>
                  <a:srgbClr val="17201B"/>
                </a:solidFill>
                <a:latin typeface="Aptos"/>
                <a:ea typeface="Aptos"/>
                <a:cs typeface="Aptos"/>
              </a:rPr>
              <a:t>Designed for student feasibility today and real campus pilots tomorrow.</a:t>
            </a:r>
          </a:p>
        </p:txBody>
      </p:sp>
      <p:sp>
        <p:nvSpPr>
          <p:cNvPr id="15" name="Rectangle 14">
            <a:extLst>
              <a:ext uri="{FF2B5EF4-FFF2-40B4-BE49-F238E27FC236}">
                <a16:creationId xmlns:a16="http://schemas.microsoft.com/office/drawing/2014/main" id="{B59F9058-877E-4199-BEB2-1D08356E351C}"/>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6" name="Rectangle 15">
            <a:extLst>
              <a:ext uri="{FF2B5EF4-FFF2-40B4-BE49-F238E27FC236}">
                <a16:creationId xmlns:a16="http://schemas.microsoft.com/office/drawing/2014/main" id="{76893E8B-348D-4A37-B160-DBCF0582D926}"/>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7" name="Rectangle 16">
            <a:extLst>
              <a:ext uri="{FF2B5EF4-FFF2-40B4-BE49-F238E27FC236}">
                <a16:creationId xmlns:a16="http://schemas.microsoft.com/office/drawing/2014/main" id="{85A6AD02-90A4-46B6-8770-FE59466E9B62}"/>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16</a:t>
            </a:r>
          </a:p>
        </p:txBody>
      </p:sp>
    </p:spTree>
    <p:extLst>
      <p:ext uri="{BB962C8B-B14F-4D97-AF65-F5344CB8AC3E}">
        <p14:creationId xmlns:p14="http://schemas.microsoft.com/office/powerpoint/2010/main" val="241651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B2D4631-E040-481F-B7C4-CC51E164CBFA}"/>
              </a:ext>
            </a:extLst>
          </p:cNvPr>
          <p:cNvSpPr>
            <a:spLocks noGrp="1"/>
          </p:cNvSpPr>
          <p:nvPr/>
        </p:nvSpPr>
        <p:spPr>
          <a:xfrm>
            <a:off x="0" y="0"/>
            <a:ext cx="12192000" cy="6858000"/>
          </a:xfrm>
          <a:prstGeom prst="rect">
            <a:avLst/>
          </a:prstGeom>
          <a:solidFill>
            <a:srgbClr val="17201B"/>
          </a:solidFill>
          <a:ln w="0">
            <a:solidFill>
              <a:srgbClr val="000000">
                <a:alpha val="0"/>
              </a:srgbClr>
            </a:solidFill>
            <a:prstDash val="solid"/>
          </a:ln>
        </p:spPr>
      </p:sp>
      <p:sp>
        <p:nvSpPr>
          <p:cNvPr id="2" name="kicker-17-marker">
            <a:extLst>
              <a:ext uri="{FF2B5EF4-FFF2-40B4-BE49-F238E27FC236}">
                <a16:creationId xmlns:a16="http://schemas.microsoft.com/office/drawing/2014/main" id="{4CE55A1F-4EBB-4F63-BA4B-9B20D32B7F05}"/>
              </a:ext>
            </a:extLst>
          </p:cNvPr>
          <p:cNvSpPr>
            <a:spLocks noGrp="1"/>
          </p:cNvSpPr>
          <p:nvPr/>
        </p:nvSpPr>
        <p:spPr>
          <a:xfrm>
            <a:off x="552450" y="400050"/>
            <a:ext cx="266700" cy="57150"/>
          </a:xfrm>
          <a:prstGeom prst="rect">
            <a:avLst/>
          </a:prstGeom>
          <a:solidFill>
            <a:srgbClr val="F3B23C"/>
          </a:solidFill>
          <a:ln w="0">
            <a:solidFill>
              <a:srgbClr val="000000">
                <a:alpha val="0"/>
              </a:srgbClr>
            </a:solidFill>
            <a:prstDash val="solid"/>
          </a:ln>
        </p:spPr>
      </p:sp>
      <p:sp>
        <p:nvSpPr>
          <p:cNvPr id="3" name="kicker-17-label">
            <a:extLst>
              <a:ext uri="{FF2B5EF4-FFF2-40B4-BE49-F238E27FC236}">
                <a16:creationId xmlns:a16="http://schemas.microsoft.com/office/drawing/2014/main" id="{081F5185-4A95-4CA4-B7A5-3FBA31D0B004}"/>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ROADMAP</a:t>
            </a:r>
          </a:p>
        </p:txBody>
      </p:sp>
      <p:sp>
        <p:nvSpPr>
          <p:cNvPr id="4" name="Rectangle 3">
            <a:extLst>
              <a:ext uri="{FF2B5EF4-FFF2-40B4-BE49-F238E27FC236}">
                <a16:creationId xmlns:a16="http://schemas.microsoft.com/office/drawing/2014/main" id="{C535F14C-241A-46C8-A54F-C85B4FAD5EB1}"/>
              </a:ext>
            </a:extLst>
          </p:cNvPr>
          <p:cNvSpPr>
            <a:spLocks noGrp="1"/>
          </p:cNvSpPr>
          <p:nvPr/>
        </p:nvSpPr>
        <p:spPr>
          <a:xfrm>
            <a:off x="666750" y="876300"/>
            <a:ext cx="8191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From campus prototype to city heat-action platform</a:t>
            </a:r>
          </a:p>
        </p:txBody>
      </p:sp>
      <p:sp>
        <p:nvSpPr>
          <p:cNvPr id="5" name="Rectangle 4">
            <a:extLst>
              <a:ext uri="{FF2B5EF4-FFF2-40B4-BE49-F238E27FC236}">
                <a16:creationId xmlns:a16="http://schemas.microsoft.com/office/drawing/2014/main" id="{B09C1E59-1B3D-4736-9E60-D2FFA073C443}"/>
              </a:ext>
            </a:extLst>
          </p:cNvPr>
          <p:cNvSpPr>
            <a:spLocks noGrp="1"/>
          </p:cNvSpPr>
          <p:nvPr/>
        </p:nvSpPr>
        <p:spPr>
          <a:xfrm>
            <a:off x="819150" y="2857500"/>
            <a:ext cx="1143000" cy="1143000"/>
          </a:xfrm>
          <a:prstGeom prst="rect">
            <a:avLst/>
          </a:prstGeom>
          <a:solidFill>
            <a:srgbClr val="53362D"/>
          </a:solidFill>
          <a:ln w="9525">
            <a:solidFill>
              <a:srgbClr val="FFFFFF">
                <a:alpha val="20000"/>
              </a:srgbClr>
            </a:solidFill>
            <a:prstDash val="solid"/>
          </a:ln>
        </p:spPr>
      </p:sp>
      <p:sp>
        <p:nvSpPr>
          <p:cNvPr id="6" name="Rectangle 5">
            <a:extLst>
              <a:ext uri="{FF2B5EF4-FFF2-40B4-BE49-F238E27FC236}">
                <a16:creationId xmlns:a16="http://schemas.microsoft.com/office/drawing/2014/main" id="{696C862A-620F-4D92-90C2-4C80139807AB}"/>
              </a:ext>
            </a:extLst>
          </p:cNvPr>
          <p:cNvSpPr>
            <a:spLocks noGrp="1"/>
          </p:cNvSpPr>
          <p:nvPr/>
        </p:nvSpPr>
        <p:spPr>
          <a:xfrm>
            <a:off x="914400" y="3238500"/>
            <a:ext cx="95250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Live weather</a:t>
            </a:r>
          </a:p>
        </p:txBody>
      </p:sp>
      <p:sp>
        <p:nvSpPr>
          <p:cNvPr id="7" name="Rectangle 6">
            <a:extLst>
              <a:ext uri="{FF2B5EF4-FFF2-40B4-BE49-F238E27FC236}">
                <a16:creationId xmlns:a16="http://schemas.microsoft.com/office/drawing/2014/main" id="{9347ABD5-52A9-42F6-8933-886CE8BDB79F}"/>
              </a:ext>
            </a:extLst>
          </p:cNvPr>
          <p:cNvSpPr>
            <a:spLocks noGrp="1"/>
          </p:cNvSpPr>
          <p:nvPr/>
        </p:nvSpPr>
        <p:spPr>
          <a:xfrm>
            <a:off x="2038350" y="3276600"/>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3B23C"/>
                </a:solidFill>
                <a:latin typeface="Aptos"/>
                <a:ea typeface="Aptos"/>
                <a:cs typeface="Aptos"/>
              </a:defRPr>
            </a:pPr>
            <a:r>
              <a:rPr sz="1800" b="1">
                <a:solidFill>
                  <a:srgbClr val="F3B23C"/>
                </a:solidFill>
                <a:latin typeface="Aptos"/>
                <a:ea typeface="Aptos"/>
                <a:cs typeface="Aptos"/>
              </a:rPr>
              <a:t>&gt;</a:t>
            </a:r>
          </a:p>
        </p:txBody>
      </p:sp>
      <p:sp>
        <p:nvSpPr>
          <p:cNvPr id="8" name="Rectangle 7">
            <a:extLst>
              <a:ext uri="{FF2B5EF4-FFF2-40B4-BE49-F238E27FC236}">
                <a16:creationId xmlns:a16="http://schemas.microsoft.com/office/drawing/2014/main" id="{F8B54E40-BFDC-487D-A013-062753427E28}"/>
              </a:ext>
            </a:extLst>
          </p:cNvPr>
          <p:cNvSpPr>
            <a:spLocks noGrp="1"/>
          </p:cNvSpPr>
          <p:nvPr/>
        </p:nvSpPr>
        <p:spPr>
          <a:xfrm>
            <a:off x="2533650" y="2857500"/>
            <a:ext cx="1143000" cy="1143000"/>
          </a:xfrm>
          <a:prstGeom prst="rect">
            <a:avLst/>
          </a:prstGeom>
          <a:solidFill>
            <a:srgbClr val="31482E"/>
          </a:solidFill>
          <a:ln w="9525">
            <a:solidFill>
              <a:srgbClr val="FFFFFF">
                <a:alpha val="20000"/>
              </a:srgbClr>
            </a:solidFill>
            <a:prstDash val="solid"/>
          </a:ln>
        </p:spPr>
      </p:sp>
      <p:sp>
        <p:nvSpPr>
          <p:cNvPr id="9" name="Rectangle 8">
            <a:extLst>
              <a:ext uri="{FF2B5EF4-FFF2-40B4-BE49-F238E27FC236}">
                <a16:creationId xmlns:a16="http://schemas.microsoft.com/office/drawing/2014/main" id="{E9F7639E-BEB2-45A2-AAB1-626FF2BA057A}"/>
              </a:ext>
            </a:extLst>
          </p:cNvPr>
          <p:cNvSpPr>
            <a:spLocks noGrp="1"/>
          </p:cNvSpPr>
          <p:nvPr/>
        </p:nvSpPr>
        <p:spPr>
          <a:xfrm>
            <a:off x="2628900" y="3238500"/>
            <a:ext cx="95250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GPS routes</a:t>
            </a:r>
          </a:p>
        </p:txBody>
      </p:sp>
      <p:sp>
        <p:nvSpPr>
          <p:cNvPr id="10" name="Rectangle 9">
            <a:extLst>
              <a:ext uri="{FF2B5EF4-FFF2-40B4-BE49-F238E27FC236}">
                <a16:creationId xmlns:a16="http://schemas.microsoft.com/office/drawing/2014/main" id="{555F6B79-E033-45C3-BF7A-0B6CCF376EF5}"/>
              </a:ext>
            </a:extLst>
          </p:cNvPr>
          <p:cNvSpPr>
            <a:spLocks noGrp="1"/>
          </p:cNvSpPr>
          <p:nvPr/>
        </p:nvSpPr>
        <p:spPr>
          <a:xfrm>
            <a:off x="3752850" y="3276600"/>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3B23C"/>
                </a:solidFill>
                <a:latin typeface="Aptos"/>
                <a:ea typeface="Aptos"/>
                <a:cs typeface="Aptos"/>
              </a:defRPr>
            </a:pPr>
            <a:r>
              <a:rPr sz="1800" b="1">
                <a:solidFill>
                  <a:srgbClr val="F3B23C"/>
                </a:solidFill>
                <a:latin typeface="Aptos"/>
                <a:ea typeface="Aptos"/>
                <a:cs typeface="Aptos"/>
              </a:rPr>
              <a:t>&gt;</a:t>
            </a:r>
          </a:p>
        </p:txBody>
      </p:sp>
      <p:sp>
        <p:nvSpPr>
          <p:cNvPr id="11" name="Rectangle 10">
            <a:extLst>
              <a:ext uri="{FF2B5EF4-FFF2-40B4-BE49-F238E27FC236}">
                <a16:creationId xmlns:a16="http://schemas.microsoft.com/office/drawing/2014/main" id="{6D2A6BC5-3E52-402A-BE8B-C911454BBF64}"/>
              </a:ext>
            </a:extLst>
          </p:cNvPr>
          <p:cNvSpPr>
            <a:spLocks noGrp="1"/>
          </p:cNvSpPr>
          <p:nvPr/>
        </p:nvSpPr>
        <p:spPr>
          <a:xfrm>
            <a:off x="4248150" y="2857500"/>
            <a:ext cx="1143000" cy="1143000"/>
          </a:xfrm>
          <a:prstGeom prst="rect">
            <a:avLst/>
          </a:prstGeom>
          <a:solidFill>
            <a:srgbClr val="53362D"/>
          </a:solidFill>
          <a:ln w="9525">
            <a:solidFill>
              <a:srgbClr val="FFFFFF">
                <a:alpha val="20000"/>
              </a:srgbClr>
            </a:solidFill>
            <a:prstDash val="solid"/>
          </a:ln>
        </p:spPr>
      </p:sp>
      <p:sp>
        <p:nvSpPr>
          <p:cNvPr id="12" name="Rectangle 11">
            <a:extLst>
              <a:ext uri="{FF2B5EF4-FFF2-40B4-BE49-F238E27FC236}">
                <a16:creationId xmlns:a16="http://schemas.microsoft.com/office/drawing/2014/main" id="{0F546CA7-94FA-47AF-9C6E-6BC87103DACD}"/>
              </a:ext>
            </a:extLst>
          </p:cNvPr>
          <p:cNvSpPr>
            <a:spLocks noGrp="1"/>
          </p:cNvSpPr>
          <p:nvPr/>
        </p:nvSpPr>
        <p:spPr>
          <a:xfrm>
            <a:off x="4343400" y="3238500"/>
            <a:ext cx="95250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IoT sensors</a:t>
            </a:r>
          </a:p>
        </p:txBody>
      </p:sp>
      <p:sp>
        <p:nvSpPr>
          <p:cNvPr id="13" name="Rectangle 12">
            <a:extLst>
              <a:ext uri="{FF2B5EF4-FFF2-40B4-BE49-F238E27FC236}">
                <a16:creationId xmlns:a16="http://schemas.microsoft.com/office/drawing/2014/main" id="{C0A21B79-3A79-4AF5-9C63-698C6B1ACEAE}"/>
              </a:ext>
            </a:extLst>
          </p:cNvPr>
          <p:cNvSpPr>
            <a:spLocks noGrp="1"/>
          </p:cNvSpPr>
          <p:nvPr/>
        </p:nvSpPr>
        <p:spPr>
          <a:xfrm>
            <a:off x="5467350" y="3276600"/>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3B23C"/>
                </a:solidFill>
                <a:latin typeface="Aptos"/>
                <a:ea typeface="Aptos"/>
                <a:cs typeface="Aptos"/>
              </a:defRPr>
            </a:pPr>
            <a:r>
              <a:rPr sz="1800" b="1">
                <a:solidFill>
                  <a:srgbClr val="F3B23C"/>
                </a:solidFill>
                <a:latin typeface="Aptos"/>
                <a:ea typeface="Aptos"/>
                <a:cs typeface="Aptos"/>
              </a:rPr>
              <a:t>&gt;</a:t>
            </a:r>
          </a:p>
        </p:txBody>
      </p:sp>
      <p:sp>
        <p:nvSpPr>
          <p:cNvPr id="14" name="Rectangle 13">
            <a:extLst>
              <a:ext uri="{FF2B5EF4-FFF2-40B4-BE49-F238E27FC236}">
                <a16:creationId xmlns:a16="http://schemas.microsoft.com/office/drawing/2014/main" id="{399E6EE8-B1E5-40E5-BDD7-3B4B2847AC10}"/>
              </a:ext>
            </a:extLst>
          </p:cNvPr>
          <p:cNvSpPr>
            <a:spLocks noGrp="1"/>
          </p:cNvSpPr>
          <p:nvPr/>
        </p:nvSpPr>
        <p:spPr>
          <a:xfrm>
            <a:off x="5962650" y="2857500"/>
            <a:ext cx="1143000" cy="1143000"/>
          </a:xfrm>
          <a:prstGeom prst="rect">
            <a:avLst/>
          </a:prstGeom>
          <a:solidFill>
            <a:srgbClr val="31482E"/>
          </a:solidFill>
          <a:ln w="9525">
            <a:solidFill>
              <a:srgbClr val="FFFFFF">
                <a:alpha val="20000"/>
              </a:srgbClr>
            </a:solidFill>
            <a:prstDash val="solid"/>
          </a:ln>
        </p:spPr>
      </p:sp>
      <p:sp>
        <p:nvSpPr>
          <p:cNvPr id="15" name="Rectangle 14">
            <a:extLst>
              <a:ext uri="{FF2B5EF4-FFF2-40B4-BE49-F238E27FC236}">
                <a16:creationId xmlns:a16="http://schemas.microsoft.com/office/drawing/2014/main" id="{F7D514FF-FAE3-4028-9E4A-3F8F849FB76F}"/>
              </a:ext>
            </a:extLst>
          </p:cNvPr>
          <p:cNvSpPr>
            <a:spLocks noGrp="1"/>
          </p:cNvSpPr>
          <p:nvPr/>
        </p:nvSpPr>
        <p:spPr>
          <a:xfrm>
            <a:off x="6057900" y="3238500"/>
            <a:ext cx="95250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Image shade detection</a:t>
            </a:r>
          </a:p>
        </p:txBody>
      </p:sp>
      <p:sp>
        <p:nvSpPr>
          <p:cNvPr id="16" name="Rectangle 15">
            <a:extLst>
              <a:ext uri="{FF2B5EF4-FFF2-40B4-BE49-F238E27FC236}">
                <a16:creationId xmlns:a16="http://schemas.microsoft.com/office/drawing/2014/main" id="{A6898C8C-814F-4B08-921A-A4159289BCA2}"/>
              </a:ext>
            </a:extLst>
          </p:cNvPr>
          <p:cNvSpPr>
            <a:spLocks noGrp="1"/>
          </p:cNvSpPr>
          <p:nvPr/>
        </p:nvSpPr>
        <p:spPr>
          <a:xfrm>
            <a:off x="7181850" y="3276600"/>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3B23C"/>
                </a:solidFill>
                <a:latin typeface="Aptos"/>
                <a:ea typeface="Aptos"/>
                <a:cs typeface="Aptos"/>
              </a:defRPr>
            </a:pPr>
            <a:r>
              <a:rPr sz="1800" b="1">
                <a:solidFill>
                  <a:srgbClr val="F3B23C"/>
                </a:solidFill>
                <a:latin typeface="Aptos"/>
                <a:ea typeface="Aptos"/>
                <a:cs typeface="Aptos"/>
              </a:rPr>
              <a:t>&gt;</a:t>
            </a:r>
          </a:p>
        </p:txBody>
      </p:sp>
      <p:sp>
        <p:nvSpPr>
          <p:cNvPr id="17" name="Rectangle 16">
            <a:extLst>
              <a:ext uri="{FF2B5EF4-FFF2-40B4-BE49-F238E27FC236}">
                <a16:creationId xmlns:a16="http://schemas.microsoft.com/office/drawing/2014/main" id="{14757FE8-DDC1-43E7-8FC2-C92E500803FC}"/>
              </a:ext>
            </a:extLst>
          </p:cNvPr>
          <p:cNvSpPr>
            <a:spLocks noGrp="1"/>
          </p:cNvSpPr>
          <p:nvPr/>
        </p:nvSpPr>
        <p:spPr>
          <a:xfrm>
            <a:off x="7677150" y="2857500"/>
            <a:ext cx="1143000" cy="1143000"/>
          </a:xfrm>
          <a:prstGeom prst="rect">
            <a:avLst/>
          </a:prstGeom>
          <a:solidFill>
            <a:srgbClr val="53362D"/>
          </a:solidFill>
          <a:ln w="9525">
            <a:solidFill>
              <a:srgbClr val="FFFFFF">
                <a:alpha val="20000"/>
              </a:srgbClr>
            </a:solidFill>
            <a:prstDash val="solid"/>
          </a:ln>
        </p:spPr>
      </p:sp>
      <p:sp>
        <p:nvSpPr>
          <p:cNvPr id="18" name="Rectangle 17">
            <a:extLst>
              <a:ext uri="{FF2B5EF4-FFF2-40B4-BE49-F238E27FC236}">
                <a16:creationId xmlns:a16="http://schemas.microsoft.com/office/drawing/2014/main" id="{C25FE7A2-AD34-4BB5-89AC-F794A97E7820}"/>
              </a:ext>
            </a:extLst>
          </p:cNvPr>
          <p:cNvSpPr>
            <a:spLocks noGrp="1"/>
          </p:cNvSpPr>
          <p:nvPr/>
        </p:nvSpPr>
        <p:spPr>
          <a:xfrm>
            <a:off x="7772400" y="3238500"/>
            <a:ext cx="95250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Multilingual alerts</a:t>
            </a:r>
          </a:p>
        </p:txBody>
      </p:sp>
      <p:sp>
        <p:nvSpPr>
          <p:cNvPr id="19" name="Rectangle 18">
            <a:extLst>
              <a:ext uri="{FF2B5EF4-FFF2-40B4-BE49-F238E27FC236}">
                <a16:creationId xmlns:a16="http://schemas.microsoft.com/office/drawing/2014/main" id="{857B857B-7667-49FC-BBAC-85A93B57E13E}"/>
              </a:ext>
            </a:extLst>
          </p:cNvPr>
          <p:cNvSpPr>
            <a:spLocks noGrp="1"/>
          </p:cNvSpPr>
          <p:nvPr/>
        </p:nvSpPr>
        <p:spPr>
          <a:xfrm>
            <a:off x="8896350" y="3276600"/>
            <a:ext cx="323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3B23C"/>
                </a:solidFill>
                <a:latin typeface="Aptos"/>
                <a:ea typeface="Aptos"/>
                <a:cs typeface="Aptos"/>
              </a:defRPr>
            </a:pPr>
            <a:r>
              <a:rPr sz="1800" b="1">
                <a:solidFill>
                  <a:srgbClr val="F3B23C"/>
                </a:solidFill>
                <a:latin typeface="Aptos"/>
                <a:ea typeface="Aptos"/>
                <a:cs typeface="Aptos"/>
              </a:rPr>
              <a:t>&gt;</a:t>
            </a:r>
          </a:p>
        </p:txBody>
      </p:sp>
      <p:sp>
        <p:nvSpPr>
          <p:cNvPr id="20" name="Rectangle 19">
            <a:extLst>
              <a:ext uri="{FF2B5EF4-FFF2-40B4-BE49-F238E27FC236}">
                <a16:creationId xmlns:a16="http://schemas.microsoft.com/office/drawing/2014/main" id="{BF0830FE-3A4C-4078-A6DF-8C1FC9298D59}"/>
              </a:ext>
            </a:extLst>
          </p:cNvPr>
          <p:cNvSpPr>
            <a:spLocks noGrp="1"/>
          </p:cNvSpPr>
          <p:nvPr/>
        </p:nvSpPr>
        <p:spPr>
          <a:xfrm>
            <a:off x="9391650" y="2857500"/>
            <a:ext cx="1143000" cy="1143000"/>
          </a:xfrm>
          <a:prstGeom prst="rect">
            <a:avLst/>
          </a:prstGeom>
          <a:solidFill>
            <a:srgbClr val="31482E"/>
          </a:solidFill>
          <a:ln w="9525">
            <a:solidFill>
              <a:srgbClr val="FFFFFF">
                <a:alpha val="20000"/>
              </a:srgbClr>
            </a:solidFill>
            <a:prstDash val="solid"/>
          </a:ln>
        </p:spPr>
      </p:sp>
      <p:sp>
        <p:nvSpPr>
          <p:cNvPr id="21" name="Rectangle 20">
            <a:extLst>
              <a:ext uri="{FF2B5EF4-FFF2-40B4-BE49-F238E27FC236}">
                <a16:creationId xmlns:a16="http://schemas.microsoft.com/office/drawing/2014/main" id="{8C17FC2C-C7A5-40D7-8A26-22147F03ED57}"/>
              </a:ext>
            </a:extLst>
          </p:cNvPr>
          <p:cNvSpPr>
            <a:spLocks noGrp="1"/>
          </p:cNvSpPr>
          <p:nvPr/>
        </p:nvSpPr>
        <p:spPr>
          <a:xfrm>
            <a:off x="9486900" y="3238500"/>
            <a:ext cx="952500" cy="476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City integration</a:t>
            </a:r>
          </a:p>
        </p:txBody>
      </p:sp>
      <p:sp>
        <p:nvSpPr>
          <p:cNvPr id="22" name="Rectangle 21">
            <a:extLst>
              <a:ext uri="{FF2B5EF4-FFF2-40B4-BE49-F238E27FC236}">
                <a16:creationId xmlns:a16="http://schemas.microsoft.com/office/drawing/2014/main" id="{14716209-DFA9-405B-8FFC-BABE038278FC}"/>
              </a:ext>
            </a:extLst>
          </p:cNvPr>
          <p:cNvSpPr>
            <a:spLocks noGrp="1"/>
          </p:cNvSpPr>
          <p:nvPr/>
        </p:nvSpPr>
        <p:spPr>
          <a:xfrm>
            <a:off x="1047750" y="4953000"/>
            <a:ext cx="9334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Aptos"/>
                <a:ea typeface="Aptos"/>
                <a:cs typeface="Aptos"/>
              </a:defRPr>
            </a:pPr>
            <a:r>
              <a:rPr sz="2100" b="1">
                <a:solidFill>
                  <a:srgbClr val="FFFFFF"/>
                </a:solidFill>
                <a:latin typeface="Aptos"/>
                <a:ea typeface="Aptos"/>
                <a:cs typeface="Aptos"/>
              </a:rPr>
              <a:t>ThermaRoute AI turns invisible heat exposure into visible, responsible, and actionable climate adaptation.</a:t>
            </a:r>
          </a:p>
        </p:txBody>
      </p:sp>
      <p:sp>
        <p:nvSpPr>
          <p:cNvPr id="23" name="Rectangle 22">
            <a:extLst>
              <a:ext uri="{FF2B5EF4-FFF2-40B4-BE49-F238E27FC236}">
                <a16:creationId xmlns:a16="http://schemas.microsoft.com/office/drawing/2014/main" id="{E07DB6CA-44D1-45C6-B50E-FF1FFDAD148F}"/>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24" name="Rectangle 23">
            <a:extLst>
              <a:ext uri="{FF2B5EF4-FFF2-40B4-BE49-F238E27FC236}">
                <a16:creationId xmlns:a16="http://schemas.microsoft.com/office/drawing/2014/main" id="{74225F53-7C5A-49A6-8816-5059CA9C3321}"/>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25" name="Rectangle 24">
            <a:extLst>
              <a:ext uri="{FF2B5EF4-FFF2-40B4-BE49-F238E27FC236}">
                <a16:creationId xmlns:a16="http://schemas.microsoft.com/office/drawing/2014/main" id="{9157C531-8CA7-4868-B038-49BBEA2D3688}"/>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17</a:t>
            </a:r>
          </a:p>
        </p:txBody>
      </p:sp>
    </p:spTree>
    <p:extLst>
      <p:ext uri="{BB962C8B-B14F-4D97-AF65-F5344CB8AC3E}">
        <p14:creationId xmlns:p14="http://schemas.microsoft.com/office/powerpoint/2010/main" val="1632893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17D157B-115A-442C-AE9E-BBAF28CFEFF5}"/>
              </a:ext>
            </a:extLst>
          </p:cNvPr>
          <p:cNvSpPr>
            <a:spLocks noGrp="1"/>
          </p:cNvSpPr>
          <p:nvPr/>
        </p:nvSpPr>
        <p:spPr>
          <a:xfrm>
            <a:off x="0" y="0"/>
            <a:ext cx="12192000" cy="6858000"/>
          </a:xfrm>
          <a:prstGeom prst="rect">
            <a:avLst/>
          </a:prstGeom>
          <a:solidFill>
            <a:srgbClr val="FCFAF4"/>
          </a:solidFill>
          <a:ln w="0">
            <a:solidFill>
              <a:srgbClr val="000000">
                <a:alpha val="0"/>
              </a:srgbClr>
            </a:solidFill>
            <a:prstDash val="solid"/>
          </a:ln>
        </p:spPr>
      </p:sp>
      <p:sp>
        <p:nvSpPr>
          <p:cNvPr id="2" name="kicker-18-marker">
            <a:extLst>
              <a:ext uri="{FF2B5EF4-FFF2-40B4-BE49-F238E27FC236}">
                <a16:creationId xmlns:a16="http://schemas.microsoft.com/office/drawing/2014/main" id="{5F9D363D-0E2F-4520-ABF0-4B486AF2270E}"/>
              </a:ext>
            </a:extLst>
          </p:cNvPr>
          <p:cNvSpPr>
            <a:spLocks noGrp="1"/>
          </p:cNvSpPr>
          <p:nvPr/>
        </p:nvSpPr>
        <p:spPr>
          <a:xfrm>
            <a:off x="552450" y="400050"/>
            <a:ext cx="266700" cy="57150"/>
          </a:xfrm>
          <a:prstGeom prst="rect">
            <a:avLst/>
          </a:prstGeom>
          <a:solidFill>
            <a:srgbClr val="466A45"/>
          </a:solidFill>
          <a:ln w="0">
            <a:solidFill>
              <a:srgbClr val="000000">
                <a:alpha val="0"/>
              </a:srgbClr>
            </a:solidFill>
            <a:prstDash val="solid"/>
          </a:ln>
        </p:spPr>
      </p:sp>
      <p:sp>
        <p:nvSpPr>
          <p:cNvPr id="3" name="kicker-18-label">
            <a:extLst>
              <a:ext uri="{FF2B5EF4-FFF2-40B4-BE49-F238E27FC236}">
                <a16:creationId xmlns:a16="http://schemas.microsoft.com/office/drawing/2014/main" id="{B0E00907-60F0-4F73-BF9F-0CB853F84EF2}"/>
              </a:ext>
            </a:extLst>
          </p:cNvPr>
          <p:cNvSpPr>
            <a:spLocks noGrp="1"/>
          </p:cNvSpPr>
          <p:nvPr/>
        </p:nvSpPr>
        <p:spPr>
          <a:xfrm>
            <a:off x="933450" y="304800"/>
            <a:ext cx="409575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975" b="1">
                <a:solidFill>
                  <a:srgbClr val="17201B"/>
                </a:solidFill>
                <a:latin typeface="Aptos"/>
                <a:ea typeface="Aptos"/>
                <a:cs typeface="Aptos"/>
              </a:defRPr>
            </a:pPr>
            <a:r>
              <a:rPr sz="975" b="1">
                <a:solidFill>
                  <a:srgbClr val="17201B"/>
                </a:solidFill>
                <a:latin typeface="Aptos"/>
                <a:ea typeface="Aptos"/>
                <a:cs typeface="Aptos"/>
              </a:rPr>
              <a:t>REFERENCES</a:t>
            </a:r>
          </a:p>
        </p:txBody>
      </p:sp>
      <p:sp>
        <p:nvSpPr>
          <p:cNvPr id="4" name="Rectangle 3">
            <a:extLst>
              <a:ext uri="{FF2B5EF4-FFF2-40B4-BE49-F238E27FC236}">
                <a16:creationId xmlns:a16="http://schemas.microsoft.com/office/drawing/2014/main" id="{EED4B5CE-A88C-48B2-B094-4BDA3C5A24FC}"/>
              </a:ext>
            </a:extLst>
          </p:cNvPr>
          <p:cNvSpPr>
            <a:spLocks noGrp="1"/>
          </p:cNvSpPr>
          <p:nvPr/>
        </p:nvSpPr>
        <p:spPr>
          <a:xfrm>
            <a:off x="552450" y="762000"/>
            <a:ext cx="723900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150" b="1">
                <a:solidFill>
                  <a:srgbClr val="17201B"/>
                </a:solidFill>
                <a:latin typeface="Aptos Display"/>
                <a:ea typeface="Aptos Display"/>
                <a:cs typeface="Aptos Display"/>
              </a:defRPr>
            </a:pPr>
            <a:r>
              <a:rPr sz="3150" b="1">
                <a:solidFill>
                  <a:srgbClr val="17201B"/>
                </a:solidFill>
                <a:latin typeface="Aptos Display"/>
                <a:ea typeface="Aptos Display"/>
                <a:cs typeface="Aptos Display"/>
              </a:rPr>
              <a:t>References and evidence base</a:t>
            </a:r>
          </a:p>
        </p:txBody>
      </p:sp>
      <p:sp>
        <p:nvSpPr>
          <p:cNvPr id="5" name="Rectangle 4">
            <a:extLst>
              <a:ext uri="{FF2B5EF4-FFF2-40B4-BE49-F238E27FC236}">
                <a16:creationId xmlns:a16="http://schemas.microsoft.com/office/drawing/2014/main" id="{AECB99E1-B58B-4FB5-9D7B-541135801B2D}"/>
              </a:ext>
            </a:extLst>
          </p:cNvPr>
          <p:cNvSpPr>
            <a:spLocks noGrp="1"/>
          </p:cNvSpPr>
          <p:nvPr/>
        </p:nvSpPr>
        <p:spPr>
          <a:xfrm>
            <a:off x="952500" y="2095500"/>
            <a:ext cx="85725" cy="85725"/>
          </a:xfrm>
          <a:prstGeom prst="rect">
            <a:avLst/>
          </a:prstGeom>
          <a:solidFill>
            <a:srgbClr val="466A45"/>
          </a:solidFill>
          <a:ln w="0">
            <a:solidFill>
              <a:srgbClr val="000000">
                <a:alpha val="0"/>
              </a:srgbClr>
            </a:solidFill>
            <a:prstDash val="solid"/>
          </a:ln>
        </p:spPr>
      </p:sp>
      <p:sp>
        <p:nvSpPr>
          <p:cNvPr id="6" name="Rectangle 5">
            <a:extLst>
              <a:ext uri="{FF2B5EF4-FFF2-40B4-BE49-F238E27FC236}">
                <a16:creationId xmlns:a16="http://schemas.microsoft.com/office/drawing/2014/main" id="{F2813213-50AC-4C13-B630-85C14B2B56F3}"/>
              </a:ext>
            </a:extLst>
          </p:cNvPr>
          <p:cNvSpPr>
            <a:spLocks noGrp="1"/>
          </p:cNvSpPr>
          <p:nvPr/>
        </p:nvSpPr>
        <p:spPr>
          <a:xfrm>
            <a:off x="1181100" y="2000250"/>
            <a:ext cx="8343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7201B"/>
                </a:solidFill>
                <a:latin typeface="Aptos"/>
                <a:ea typeface="Aptos"/>
                <a:cs typeface="Aptos"/>
              </a:defRPr>
            </a:pPr>
            <a:r>
              <a:rPr sz="1500" b="0">
                <a:solidFill>
                  <a:srgbClr val="17201B"/>
                </a:solidFill>
                <a:latin typeface="Aptos"/>
                <a:ea typeface="Aptos"/>
                <a:cs typeface="Aptos"/>
              </a:rPr>
              <a:t>WHO: Heat and health fact sheet.</a:t>
            </a:r>
          </a:p>
        </p:txBody>
      </p:sp>
      <p:sp>
        <p:nvSpPr>
          <p:cNvPr id="7" name="Rectangle 6">
            <a:extLst>
              <a:ext uri="{FF2B5EF4-FFF2-40B4-BE49-F238E27FC236}">
                <a16:creationId xmlns:a16="http://schemas.microsoft.com/office/drawing/2014/main" id="{452DD9ED-E26C-492C-8A3B-2810391E1FF3}"/>
              </a:ext>
            </a:extLst>
          </p:cNvPr>
          <p:cNvSpPr>
            <a:spLocks noGrp="1"/>
          </p:cNvSpPr>
          <p:nvPr/>
        </p:nvSpPr>
        <p:spPr>
          <a:xfrm>
            <a:off x="952500" y="2628900"/>
            <a:ext cx="85725" cy="85725"/>
          </a:xfrm>
          <a:prstGeom prst="rect">
            <a:avLst/>
          </a:prstGeom>
          <a:solidFill>
            <a:srgbClr val="466A45"/>
          </a:solidFill>
          <a:ln w="0">
            <a:solidFill>
              <a:srgbClr val="000000">
                <a:alpha val="0"/>
              </a:srgbClr>
            </a:solidFill>
            <a:prstDash val="solid"/>
          </a:ln>
        </p:spPr>
      </p:sp>
      <p:sp>
        <p:nvSpPr>
          <p:cNvPr id="8" name="Rectangle 7">
            <a:extLst>
              <a:ext uri="{FF2B5EF4-FFF2-40B4-BE49-F238E27FC236}">
                <a16:creationId xmlns:a16="http://schemas.microsoft.com/office/drawing/2014/main" id="{18807197-7054-4498-944F-FF2CBAAAE5A4}"/>
              </a:ext>
            </a:extLst>
          </p:cNvPr>
          <p:cNvSpPr>
            <a:spLocks noGrp="1"/>
          </p:cNvSpPr>
          <p:nvPr/>
        </p:nvSpPr>
        <p:spPr>
          <a:xfrm>
            <a:off x="1181100" y="2533650"/>
            <a:ext cx="8343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7201B"/>
                </a:solidFill>
                <a:latin typeface="Aptos"/>
                <a:ea typeface="Aptos"/>
                <a:cs typeface="Aptos"/>
              </a:defRPr>
            </a:pPr>
            <a:r>
              <a:rPr sz="1500" b="0">
                <a:solidFill>
                  <a:srgbClr val="17201B"/>
                </a:solidFill>
                <a:latin typeface="Aptos"/>
                <a:ea typeface="Aptos"/>
                <a:cs typeface="Aptos"/>
              </a:rPr>
              <a:t>ILO: Heat at work - implications for safety and health.</a:t>
            </a:r>
          </a:p>
        </p:txBody>
      </p:sp>
      <p:sp>
        <p:nvSpPr>
          <p:cNvPr id="9" name="Rectangle 8">
            <a:extLst>
              <a:ext uri="{FF2B5EF4-FFF2-40B4-BE49-F238E27FC236}">
                <a16:creationId xmlns:a16="http://schemas.microsoft.com/office/drawing/2014/main" id="{0457FDF6-72D6-49E6-BDFA-E4359423A858}"/>
              </a:ext>
            </a:extLst>
          </p:cNvPr>
          <p:cNvSpPr>
            <a:spLocks noGrp="1"/>
          </p:cNvSpPr>
          <p:nvPr/>
        </p:nvSpPr>
        <p:spPr>
          <a:xfrm>
            <a:off x="952500" y="3162300"/>
            <a:ext cx="85725" cy="85725"/>
          </a:xfrm>
          <a:prstGeom prst="rect">
            <a:avLst/>
          </a:prstGeom>
          <a:solidFill>
            <a:srgbClr val="466A45"/>
          </a:solidFill>
          <a:ln w="0">
            <a:solidFill>
              <a:srgbClr val="000000">
                <a:alpha val="0"/>
              </a:srgbClr>
            </a:solidFill>
            <a:prstDash val="solid"/>
          </a:ln>
        </p:spPr>
      </p:sp>
      <p:sp>
        <p:nvSpPr>
          <p:cNvPr id="10" name="Rectangle 9">
            <a:extLst>
              <a:ext uri="{FF2B5EF4-FFF2-40B4-BE49-F238E27FC236}">
                <a16:creationId xmlns:a16="http://schemas.microsoft.com/office/drawing/2014/main" id="{0CA5247E-D7B4-40C0-92B5-1B2D64222A4B}"/>
              </a:ext>
            </a:extLst>
          </p:cNvPr>
          <p:cNvSpPr>
            <a:spLocks noGrp="1"/>
          </p:cNvSpPr>
          <p:nvPr/>
        </p:nvSpPr>
        <p:spPr>
          <a:xfrm>
            <a:off x="1181100" y="3067050"/>
            <a:ext cx="8343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7201B"/>
                </a:solidFill>
                <a:latin typeface="Aptos"/>
                <a:ea typeface="Aptos"/>
                <a:cs typeface="Aptos"/>
              </a:defRPr>
            </a:pPr>
            <a:r>
              <a:rPr sz="1500" b="0">
                <a:solidFill>
                  <a:srgbClr val="17201B"/>
                </a:solidFill>
                <a:latin typeface="Aptos"/>
                <a:ea typeface="Aptos"/>
                <a:cs typeface="Aptos"/>
              </a:rPr>
              <a:t>IPCC AR6: Urban Areas Fact Sheet and urban heat island evidence.</a:t>
            </a:r>
          </a:p>
        </p:txBody>
      </p:sp>
      <p:sp>
        <p:nvSpPr>
          <p:cNvPr id="11" name="Rectangle 10">
            <a:extLst>
              <a:ext uri="{FF2B5EF4-FFF2-40B4-BE49-F238E27FC236}">
                <a16:creationId xmlns:a16="http://schemas.microsoft.com/office/drawing/2014/main" id="{6934A8EA-8681-4422-8223-75DBF3D50B0B}"/>
              </a:ext>
            </a:extLst>
          </p:cNvPr>
          <p:cNvSpPr>
            <a:spLocks noGrp="1"/>
          </p:cNvSpPr>
          <p:nvPr/>
        </p:nvSpPr>
        <p:spPr>
          <a:xfrm>
            <a:off x="952500" y="3695700"/>
            <a:ext cx="85725" cy="85725"/>
          </a:xfrm>
          <a:prstGeom prst="rect">
            <a:avLst/>
          </a:prstGeom>
          <a:solidFill>
            <a:srgbClr val="466A45"/>
          </a:solidFill>
          <a:ln w="0">
            <a:solidFill>
              <a:srgbClr val="000000">
                <a:alpha val="0"/>
              </a:srgbClr>
            </a:solidFill>
            <a:prstDash val="solid"/>
          </a:ln>
        </p:spPr>
      </p:sp>
      <p:sp>
        <p:nvSpPr>
          <p:cNvPr id="12" name="Rectangle 11">
            <a:extLst>
              <a:ext uri="{FF2B5EF4-FFF2-40B4-BE49-F238E27FC236}">
                <a16:creationId xmlns:a16="http://schemas.microsoft.com/office/drawing/2014/main" id="{4FD6F211-0979-4B36-9124-881508C5EF6F}"/>
              </a:ext>
            </a:extLst>
          </p:cNvPr>
          <p:cNvSpPr>
            <a:spLocks noGrp="1"/>
          </p:cNvSpPr>
          <p:nvPr/>
        </p:nvSpPr>
        <p:spPr>
          <a:xfrm>
            <a:off x="1181100" y="3600450"/>
            <a:ext cx="8343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7201B"/>
                </a:solidFill>
                <a:latin typeface="Aptos"/>
                <a:ea typeface="Aptos"/>
                <a:cs typeface="Aptos"/>
              </a:defRPr>
            </a:pPr>
            <a:r>
              <a:rPr sz="1500" b="0">
                <a:solidFill>
                  <a:srgbClr val="17201B"/>
                </a:solidFill>
                <a:latin typeface="Aptos"/>
                <a:ea typeface="Aptos"/>
                <a:cs typeface="Aptos"/>
              </a:rPr>
              <a:t>NDMA India: Heat Wave guidance and thresholds.</a:t>
            </a:r>
          </a:p>
        </p:txBody>
      </p:sp>
      <p:sp>
        <p:nvSpPr>
          <p:cNvPr id="13" name="Rectangle 12">
            <a:extLst>
              <a:ext uri="{FF2B5EF4-FFF2-40B4-BE49-F238E27FC236}">
                <a16:creationId xmlns:a16="http://schemas.microsoft.com/office/drawing/2014/main" id="{0597B49D-57B1-4D17-B915-5AFA12313624}"/>
              </a:ext>
            </a:extLst>
          </p:cNvPr>
          <p:cNvSpPr>
            <a:spLocks noGrp="1"/>
          </p:cNvSpPr>
          <p:nvPr/>
        </p:nvSpPr>
        <p:spPr>
          <a:xfrm>
            <a:off x="952500" y="4229100"/>
            <a:ext cx="85725" cy="85725"/>
          </a:xfrm>
          <a:prstGeom prst="rect">
            <a:avLst/>
          </a:prstGeom>
          <a:solidFill>
            <a:srgbClr val="466A45"/>
          </a:solidFill>
          <a:ln w="0">
            <a:solidFill>
              <a:srgbClr val="000000">
                <a:alpha val="0"/>
              </a:srgbClr>
            </a:solidFill>
            <a:prstDash val="solid"/>
          </a:ln>
        </p:spPr>
      </p:sp>
      <p:sp>
        <p:nvSpPr>
          <p:cNvPr id="14" name="Rectangle 13">
            <a:extLst>
              <a:ext uri="{FF2B5EF4-FFF2-40B4-BE49-F238E27FC236}">
                <a16:creationId xmlns:a16="http://schemas.microsoft.com/office/drawing/2014/main" id="{B76F0CCD-53A4-44F0-B976-9D3021D37554}"/>
              </a:ext>
            </a:extLst>
          </p:cNvPr>
          <p:cNvSpPr>
            <a:spLocks noGrp="1"/>
          </p:cNvSpPr>
          <p:nvPr/>
        </p:nvSpPr>
        <p:spPr>
          <a:xfrm>
            <a:off x="1181100" y="4133850"/>
            <a:ext cx="83439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0">
                <a:solidFill>
                  <a:srgbClr val="17201B"/>
                </a:solidFill>
                <a:latin typeface="Aptos"/>
                <a:ea typeface="Aptos"/>
                <a:cs typeface="Aptos"/>
              </a:defRPr>
            </a:pPr>
            <a:r>
              <a:rPr sz="1500" b="0">
                <a:solidFill>
                  <a:srgbClr val="17201B"/>
                </a:solidFill>
                <a:latin typeface="Aptos"/>
                <a:ea typeface="Aptos"/>
                <a:cs typeface="Aptos"/>
              </a:rPr>
              <a:t>PIB / IMD-linked public heatwave safety guidance.</a:t>
            </a:r>
          </a:p>
        </p:txBody>
      </p:sp>
      <p:sp>
        <p:nvSpPr>
          <p:cNvPr id="15" name="Rectangle 14">
            <a:extLst>
              <a:ext uri="{FF2B5EF4-FFF2-40B4-BE49-F238E27FC236}">
                <a16:creationId xmlns:a16="http://schemas.microsoft.com/office/drawing/2014/main" id="{EDAF7FF8-00A9-4395-AA2F-B163BDADFC81}"/>
              </a:ext>
            </a:extLst>
          </p:cNvPr>
          <p:cNvSpPr>
            <a:spLocks noGrp="1"/>
          </p:cNvSpPr>
          <p:nvPr/>
        </p:nvSpPr>
        <p:spPr>
          <a:xfrm>
            <a:off x="1123950" y="5143500"/>
            <a:ext cx="89535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C45C3C"/>
                </a:solidFill>
                <a:latin typeface="Aptos"/>
                <a:ea typeface="Aptos"/>
                <a:cs typeface="Aptos"/>
              </a:defRPr>
            </a:pPr>
            <a:r>
              <a:rPr sz="1500" b="1">
                <a:solidFill>
                  <a:srgbClr val="C45C3C"/>
                </a:solidFill>
                <a:latin typeface="Aptos"/>
                <a:ea typeface="Aptos"/>
                <a:cs typeface="Aptos"/>
              </a:rPr>
              <a:t>All claims in the demo are planning guidance, not medical diagnosis. Human escalation is required when symptoms or emergency conditions appear.</a:t>
            </a:r>
          </a:p>
        </p:txBody>
      </p:sp>
      <p:sp>
        <p:nvSpPr>
          <p:cNvPr id="16" name="Rectangle 15">
            <a:extLst>
              <a:ext uri="{FF2B5EF4-FFF2-40B4-BE49-F238E27FC236}">
                <a16:creationId xmlns:a16="http://schemas.microsoft.com/office/drawing/2014/main" id="{724FEB12-237F-470E-9DCD-300BEF98F17D}"/>
              </a:ext>
            </a:extLst>
          </p:cNvPr>
          <p:cNvSpPr>
            <a:spLocks noGrp="1"/>
          </p:cNvSpPr>
          <p:nvPr/>
        </p:nvSpPr>
        <p:spPr>
          <a:xfrm>
            <a:off x="552450" y="6381750"/>
            <a:ext cx="9810750" cy="9525"/>
          </a:xfrm>
          <a:prstGeom prst="rect">
            <a:avLst/>
          </a:prstGeom>
          <a:solidFill>
            <a:srgbClr val="D9D1C2"/>
          </a:solidFill>
          <a:ln w="0">
            <a:solidFill>
              <a:srgbClr val="000000">
                <a:alpha val="0"/>
              </a:srgbClr>
            </a:solidFill>
            <a:prstDash val="solid"/>
          </a:ln>
        </p:spPr>
      </p:sp>
      <p:sp>
        <p:nvSpPr>
          <p:cNvPr id="17" name="Rectangle 16">
            <a:extLst>
              <a:ext uri="{FF2B5EF4-FFF2-40B4-BE49-F238E27FC236}">
                <a16:creationId xmlns:a16="http://schemas.microsoft.com/office/drawing/2014/main" id="{2E7B2AEC-64B5-4D58-B749-109C11D03EB6}"/>
              </a:ext>
            </a:extLst>
          </p:cNvPr>
          <p:cNvSpPr>
            <a:spLocks noGrp="1"/>
          </p:cNvSpPr>
          <p:nvPr/>
        </p:nvSpPr>
        <p:spPr>
          <a:xfrm>
            <a:off x="552450" y="6477000"/>
            <a:ext cx="619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6A6256"/>
                </a:solidFill>
                <a:latin typeface="Aptos"/>
                <a:ea typeface="Aptos"/>
                <a:cs typeface="Aptos"/>
              </a:defRPr>
            </a:pPr>
            <a:r>
              <a:rPr sz="825" b="0">
                <a:solidFill>
                  <a:srgbClr val="6A6256"/>
                </a:solidFill>
                <a:latin typeface="Aptos"/>
                <a:ea typeface="Aptos"/>
                <a:cs typeface="Aptos"/>
              </a:rPr>
              <a:t>ThermaRoute AI | 1M1B AI for Sustainability Virtual Internship</a:t>
            </a:r>
          </a:p>
        </p:txBody>
      </p:sp>
      <p:sp>
        <p:nvSpPr>
          <p:cNvPr id="18" name="Rectangle 17">
            <a:extLst>
              <a:ext uri="{FF2B5EF4-FFF2-40B4-BE49-F238E27FC236}">
                <a16:creationId xmlns:a16="http://schemas.microsoft.com/office/drawing/2014/main" id="{7E063988-0A05-43A7-A732-9D721F02F7B1}"/>
              </a:ext>
            </a:extLst>
          </p:cNvPr>
          <p:cNvSpPr>
            <a:spLocks noGrp="1"/>
          </p:cNvSpPr>
          <p:nvPr/>
        </p:nvSpPr>
        <p:spPr>
          <a:xfrm>
            <a:off x="11144250" y="6419850"/>
            <a:ext cx="514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975" b="1">
                <a:solidFill>
                  <a:srgbClr val="17201B"/>
                </a:solidFill>
                <a:latin typeface="Aptos"/>
                <a:ea typeface="Aptos"/>
                <a:cs typeface="Aptos"/>
              </a:defRPr>
            </a:pPr>
            <a:r>
              <a:rPr sz="975" b="1">
                <a:solidFill>
                  <a:srgbClr val="17201B"/>
                </a:solidFill>
                <a:latin typeface="Aptos"/>
                <a:ea typeface="Aptos"/>
                <a:cs typeface="Aptos"/>
              </a:rPr>
              <a:t>18</a:t>
            </a:r>
          </a:p>
        </p:txBody>
      </p:sp>
    </p:spTree>
    <p:extLst>
      <p:ext uri="{BB962C8B-B14F-4D97-AF65-F5344CB8AC3E}">
        <p14:creationId xmlns:p14="http://schemas.microsoft.com/office/powerpoint/2010/main" val="13509620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1271</Words>
  <Application>Microsoft Office PowerPoint</Application>
  <DocSecurity>0</DocSecurity>
  <PresentationFormat>Widescreen</PresentationFormat>
  <Paragraphs>225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shiva prasad cheriyala</cp:lastModifiedBy>
  <cp:revision>1</cp:revision>
  <dcterms:created xsi:type="dcterms:W3CDTF">2026-06-10T14:00:19Z</dcterms:created>
  <dcterms:modified xsi:type="dcterms:W3CDTF">2026-06-10T14:39:19Z</dcterms:modified>
</cp:coreProperties>
</file>